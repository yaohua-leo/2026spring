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683" autoAdjust="0"/>
  </p:normalViewPr>
  <p:slideViewPr>
    <p:cSldViewPr snapToGrid="0" snapToObjects="1">
      <p:cViewPr varScale="1">
        <p:scale>
          <a:sx n="104" d="100"/>
          <a:sy n="104" d="100"/>
        </p:scale>
        <p:origin x="2256" y="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9707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Good morning everyone. Today I will give a brief introduction to Jordan algebras, focusing on their origin in quantum mechanics, their historical development, their main mathematical ideas, and a modern research direction. I will also place special emphasis on Efim Zelmanov, because his work gave one of the most decisive structural results in the subject.</a:t>
            </a:r>
          </a:p>
          <a:p>
            <a:r>
              <a:rPr lang="zh-CN" dirty="0"/>
              <a:t>Key points: 1. Jordan Algebras: Origin, History, Development, and Modern Perspectives 2. LIU Yaohua 3. Department of Mathematics, Southern University of Science and Technology</a:t>
            </a:r>
          </a:p>
          <a:p>
            <a:r>
              <a:rPr lang="zh-CN" dirty="0"/>
              <a:t>Duration: 1.0 min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roadmap.</a:t>
            </a:r>
          </a:p>
          <a:p>
            <a:r>
              <a:rPr lang="zh-CN" dirty="0"/>
              <a:t>My talk has six parts. First, I will explain why Jordan algebras were introduced in the first place. Second, I will give the basic definition and the standard examples. Third, I will discuss the early classification and the exceptional Albert algebra. Then I will describe how the subject grew into a broader mathematical theory, before turning to Zelmanov's theorem. I will end with a modern geometric direction connected with recent SUSTech-affiliated work.</a:t>
            </a:r>
          </a:p>
          <a:p>
            <a:r>
              <a:rPr lang="zh-CN" dirty="0"/>
              <a:t>Key points: 1. Physical origin 2. Definition and basic examples 3. Classification and the Albert algebra</a:t>
            </a:r>
          </a:p>
          <a:p>
            <a:r>
              <a:rPr lang="zh-CN" dirty="0"/>
              <a:t>Duration: 1.0 min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why jordan algebras appeared.</a:t>
            </a:r>
          </a:p>
          <a:p>
            <a:r>
              <a:rPr lang="zh-CN" dirty="0"/>
              <a:t>Jordan algebras were born from quantum mechanics. In the usual Copenhagen model, physical observables are represented by self-adjoint, or Hermitian, matrices or operators. But the ordinary matrix structure is not itself fully observable: for example, the product of two Hermitian operators is not necessarily Hermitian. Pascual Jordan therefore proposed a new algebraic setting that would depend only on observable operations, and not on the whole invisible matrix structure behind them.</a:t>
            </a:r>
          </a:p>
          <a:p>
            <a:r>
              <a:rPr lang="zh-CN" dirty="0"/>
              <a:t>Key points: 1. Quantum mechanics in the Copenhagen model 2. Observables = Hermitian matrices or operators 3. Ordinary matrix operations are not all observable</a:t>
            </a:r>
          </a:p>
          <a:p>
            <a:r>
              <a:rPr lang="zh-CN" dirty="0"/>
              <a:t>Duration: 1.0 min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jordan's new product.</a:t>
            </a:r>
          </a:p>
          <a:p>
            <a:r>
              <a:rPr lang="zh-CN" dirty="0"/>
              <a:t>Jordan's key idea was to replace ordinary multiplication with the symmetrized product x o y = 1/2 (xy + yx), sometimes called quasi-multiplication. This operation is commutative, and more importantly, it sends Hermitian elements to Hermitian elements. So it captures an observable product on the space of observables. This simple formula became the starting point of the whole theory of Jordan algebras.</a:t>
            </a:r>
          </a:p>
          <a:p>
            <a:r>
              <a:rPr lang="zh-CN" dirty="0"/>
              <a:t>Key points: 1. Quasi-multiplication: 2. x o y = 1/2 (xy + yx) 3. Commutative</a:t>
            </a:r>
          </a:p>
          <a:p>
            <a:r>
              <a:rPr lang="zh-CN" dirty="0"/>
              <a:t>Duration: 1.0 min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basic definition.</a:t>
            </a:r>
          </a:p>
          <a:p>
            <a:r>
              <a:rPr lang="zh-CN" dirty="0"/>
              <a:t>Formally, a Jordan algebra is a commutative algebra satisfying the Jordan identity. In the original physical setting, Jordan and his collaborators were especially interested in formally real Jordan algebras, where a sum of squares can vanish only when each term is zero. The point was to isolate the algebraic behavior of observables in quantum mechanics and then ask what other systems satisfy the same laws.</a:t>
            </a:r>
          </a:p>
          <a:p>
            <a:r>
              <a:rPr lang="zh-CN" dirty="0"/>
              <a:t>Key points: 1. A Jordan algebra is a commutative algebra 2. It satisfies the Jordan identity 3. (x^2 o y) o x = x^2 o (y o x)</a:t>
            </a:r>
          </a:p>
          <a:p>
            <a:r>
              <a:rPr lang="zh-CN" dirty="0"/>
              <a:t>Duration: 1.0 min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the first basic examples.</a:t>
            </a:r>
          </a:p>
          <a:p>
            <a:r>
              <a:rPr lang="zh-CN" dirty="0"/>
              <a:t>The first examples are very natural. Any associative algebra gives a Jordan algebra if we symmetrize the product, and this is denoted by A+. If the associative algebra has an involution, then its Hermitian part H(A, *) is again a Jordan algebra. Another important family is given by spin factors, where vectors multiply through the inner product. These examples already show that Jordan theory is broader than just Hermitian matrices.</a:t>
            </a:r>
          </a:p>
          <a:p>
            <a:r>
              <a:rPr lang="zh-CN" dirty="0"/>
              <a:t>Key points: 1. A+ : any associative algebra with symmetrized product 2. H(A, *) : Hermitian elements under an involution 3. Spin factors:</a:t>
            </a:r>
          </a:p>
          <a:p>
            <a:r>
              <a:rPr lang="zh-CN" dirty="0"/>
              <a:t>Duration: 1.0 min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special and exceptional.</a:t>
            </a:r>
          </a:p>
          <a:p>
            <a:r>
              <a:rPr lang="zh-CN" dirty="0"/>
              <a:t>A central distinction in the subject is the difference between special and exceptional Jordan algebras. A special Jordan algebra can be realized inside some symmetrized associative algebra A+. An exceptional Jordan algebra cannot. Jordan originally hoped that exceptional algebras would come in infinite families, and that such families might provide a new home for quantum mechanics beyond the usual matrix model.</a:t>
            </a:r>
          </a:p>
          <a:p>
            <a:r>
              <a:rPr lang="zh-CN" dirty="0"/>
              <a:t>Key points: 1. Special: comes from an associative algebra 2. Exceptional: does not come from any A+ 3. Jordan hoped for infinite families of exceptional algebras</a:t>
            </a:r>
          </a:p>
          <a:p>
            <a:r>
              <a:rPr lang="zh-CN" dirty="0"/>
              <a:t>Duration: 1.0 min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the 1934 classification.</a:t>
            </a:r>
          </a:p>
          <a:p>
            <a:r>
              <a:rPr lang="zh-CN" dirty="0"/>
              <a:t>In their fundamental 1934 paper, Jordan, von Neumann, and Wigner classified finite-dimensional formally real Jordan algebras. They showed that the simple building blocks are Hermitian matrix algebras over the real numbers, complex numbers, and quaternions, together with spin factors and one octonionic case, namely H_3(O). This result was a major milestone, because it sharply limited what exceptional examples could look like.</a:t>
            </a:r>
          </a:p>
          <a:p>
            <a:r>
              <a:rPr lang="zh-CN" dirty="0"/>
              <a:t>Key points: 1. Jordan-von Neumann-Wigner classification 2. Finite-dimensional formally real simple algebras: 3. H_n(R)</a:t>
            </a:r>
          </a:p>
          <a:p>
            <a:r>
              <a:rPr lang="zh-CN" dirty="0"/>
              <a:t>Duration: 1.0 min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the albert algebra.</a:t>
            </a:r>
          </a:p>
          <a:p>
            <a:r>
              <a:rPr lang="zh-CN" dirty="0"/>
              <a:t>The most famous exceptional Jordan algebra is H_3(O), the Jordan algebra of 3x3 Hermitian octonionic matrices. It has dimension 27, and Albert proved that it is genuinely exceptional. Today it is called the Albert algebra. Historically, this was both exciting and disappointing: exciting because it revealed a truly new structure, but disappointing because it seemed to be only one isolated example rather than a large family.</a:t>
            </a:r>
          </a:p>
          <a:p>
            <a:r>
              <a:rPr lang="zh-CN" dirty="0"/>
              <a:t>Key points: 1. H_3(O) has dimension 27 2. A. A. Albert proved it is exceptional 3. Now called the Albert algebra</a:t>
            </a:r>
          </a:p>
          <a:p>
            <a:r>
              <a:rPr lang="zh-CN" dirty="0"/>
              <a:t>Duration: 1.0 min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from physics to pure algebra.</a:t>
            </a:r>
          </a:p>
          <a:p>
            <a:r>
              <a:rPr lang="zh-CN" dirty="0"/>
              <a:t>After the initial physical motivation faded, Jordan theory was taken up by algebraists. The subject developed its own structure theory and its own methods, especially through work associated with Albert and Jacobson, and later through Meyberg, Loos, McCrimmon, and many others. McCrimmon's survey presents this development as a long historical arc from the origins in quantum mechanics to Zelmanov's decisive classification results.</a:t>
            </a:r>
          </a:p>
          <a:p>
            <a:r>
              <a:rPr lang="zh-CN" dirty="0"/>
              <a:t>Key points: 1. The subject moved beyond physics 2. Structure theory became central 3. Major names: Albert, Jacobson, Meyberg, Loos, McCrimmon</a:t>
            </a:r>
          </a:p>
          <a:p>
            <a:r>
              <a:rPr lang="zh-CN" dirty="0"/>
              <a:t>Duration: 1.0 min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beyond the real case.</a:t>
            </a:r>
          </a:p>
          <a:p>
            <a:r>
              <a:rPr lang="zh-CN" dirty="0"/>
              <a:t>A major step was the move from the real, formally real setting to Jordan algebras over algebraically closed fields and then over arbitrary fields. In this broader setting, one distinguishes split, reduced, and division forms. Albert algebras also appear in these different forms, not only in the classical real octonionic picture. This made the theory much richer and more algebraic.</a:t>
            </a:r>
          </a:p>
          <a:p>
            <a:r>
              <a:rPr lang="zh-CN" dirty="0"/>
              <a:t>Key points: 1. Study over algebraically closed fields and general fields 2. Split, reduced, and division forms 3. Albert algebras over general fields</a:t>
            </a:r>
          </a:p>
          <a:p>
            <a:r>
              <a:rPr lang="zh-CN" dirty="0"/>
              <a:t>Duration: 1.0 min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the quadratic viewpoint.</a:t>
            </a:r>
          </a:p>
          <a:p>
            <a:r>
              <a:rPr lang="zh-CN" dirty="0"/>
              <a:t>One of the deepest conceptual changes in the subject was the shift from the bilinear product x o y to the quadratic operator U_x(y). In special Jordan algebras, this operator corresponds to the familiar associative expression xyx. This quadratic viewpoint made inverses, isotopes, and structure theory much clearer, and it also helped extend Jordan theory beyond the older framework that depended strongly on dividing by 2.</a:t>
            </a:r>
          </a:p>
          <a:p>
            <a:r>
              <a:rPr lang="zh-CN" dirty="0"/>
              <a:t>Key points: 1. The quadratic operator: 2. U_x(y) = 2x o (x o y) - x^2 o y 3. In special algebras: U_x(y) = xyx</a:t>
            </a:r>
          </a:p>
          <a:p>
            <a:r>
              <a:rPr lang="zh-CN" dirty="0"/>
              <a:t>Duration: 1.0 min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the wider jordan family.</a:t>
            </a:r>
          </a:p>
          <a:p>
            <a:r>
              <a:rPr lang="zh-CN" dirty="0"/>
              <a:t>As the theory matured, it became clear that Jordan algebras are only one member of a larger family of Jordan structures. Jordan triples, Jordan pairs, and Jordan superalgebras all emerged as natural generalizations. This widening of the subject was closely related both to Lie theory and to geometry, and it showed that Jordan algebra was not an isolated construction but part of a much broader mathematical framework.</a:t>
            </a:r>
          </a:p>
          <a:p>
            <a:r>
              <a:rPr lang="zh-CN" dirty="0"/>
              <a:t>Key points: 1. Jordan algebras 2. Jordan triples 3. Jordan pairs</a:t>
            </a:r>
          </a:p>
          <a:p>
            <a:r>
              <a:rPr lang="zh-CN" dirty="0"/>
              <a:t>Duration: 1.0 min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links with lie theory.</a:t>
            </a:r>
          </a:p>
          <a:p>
            <a:r>
              <a:rPr lang="zh-CN" dirty="0"/>
              <a:t>Jordan theory is closely linked with Lie theory. Through the Tits-Kantor-Koecher construction, Jordan systems can be used as coordinates for certain graded Lie algebras. The exceptional Albert algebra is especially important here, because it is related to exceptional Lie groups and Lie algebras. So Jordan algebras became valuable not only in their own right, but also as a way to understand structures in Lie theory.</a:t>
            </a:r>
          </a:p>
          <a:p>
            <a:r>
              <a:rPr lang="zh-CN" dirty="0"/>
              <a:t>Key points: 1. Jordan systems as coordinates for graded Lie algebras 2. Tits-Kantor-Koecher construction 3. Exceptional Jordan algebra and exceptional Lie groups</a:t>
            </a:r>
          </a:p>
          <a:p>
            <a:r>
              <a:rPr lang="zh-CN" dirty="0"/>
              <a:t>Duration: 1.0 min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links with geometry and analysis.</a:t>
            </a:r>
          </a:p>
          <a:p>
            <a:r>
              <a:rPr lang="zh-CN" dirty="0"/>
              <a:t>Jordan algebras also have deep geometric and analytic applications. They appear in the study of symmetric cones and bounded symmetric domains, where the algebraic structure encodes geometric information. In infinite-dimensional settings, Jordan operator algebras and JB-algebras connect the subject with functional analysis. The Albert algebra also plays an important role in projective geometry, especially in the description of octonion planes.</a:t>
            </a:r>
          </a:p>
          <a:p>
            <a:r>
              <a:rPr lang="zh-CN" dirty="0"/>
              <a:t>Key points: 1. Symmetric cones 2. Bounded symmetric domains 3. JB-algebras and functional analysis</a:t>
            </a:r>
          </a:p>
          <a:p>
            <a:r>
              <a:rPr lang="zh-CN" dirty="0"/>
              <a:t>Duration: 1.0 min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the long open problem.</a:t>
            </a:r>
          </a:p>
          <a:p>
            <a:r>
              <a:rPr lang="zh-CN" dirty="0"/>
              <a:t>For a long time, the central open problem was whether there existed further simple exceptional Jordan algebras, especially in infinite dimensions. The Albert algebra was known, but it was only 27-dimensional and too small for the original physical hopes. So the big question was whether Jordan's dream might survive in a larger exceptional setting. This question remained open for roughly half a century.</a:t>
            </a:r>
          </a:p>
          <a:p>
            <a:r>
              <a:rPr lang="zh-CN" dirty="0"/>
              <a:t>Key points: 1. Was the Albert algebra the only exceptional simple example? 2. Could there be infinite-dimensional exceptional Jordan algebras? 3. This question remained open for decades</a:t>
            </a:r>
          </a:p>
          <a:p>
            <a:r>
              <a:rPr lang="zh-CN" dirty="0"/>
              <a:t>Duration: 1.0 min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zelmanov's breakthrough.</a:t>
            </a:r>
          </a:p>
          <a:p>
            <a:r>
              <a:rPr lang="zh-CN" dirty="0"/>
              <a:t>This brings me to Efim Zelmanov. His theorem from 1983 says that every simple Jordan algebra, even in arbitrary dimension, falls into one of only three classes: Hermitian type, spin or Clifford type, or Albert type. In other words, no new simple exceptional Jordan algebras exist beyond the Albert case. This is the decisive structural theorem in the history of Jordan algebras.</a:t>
            </a:r>
          </a:p>
          <a:p>
            <a:r>
              <a:rPr lang="zh-CN" dirty="0"/>
              <a:t>Key points: 1. Theorem (Zelmanov, 1983): any simple Jordan algebra is: 2. 1. Hermitian type 3. 2. Spin / Clifford type</a:t>
            </a:r>
          </a:p>
          <a:p>
            <a:r>
              <a:rPr lang="zh-CN" dirty="0"/>
              <a:t>Duration: 1.3 min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why zelmanov matters so much.</a:t>
            </a:r>
          </a:p>
          <a:p>
            <a:r>
              <a:rPr lang="zh-CN" dirty="0"/>
              <a:t>Zelmanov's contribution matters for two reasons. First, it gave a final answer to the historical question that started the subject: there is no infinite-dimensional exceptional simple setting for quantum mechanics. Second, it provided a global structural picture of simple Jordan algebras. McCrimmon explicitly presents the historical survey of Jordan theory as leading up to this result, and also notes that Zelmanov's work here later played a role in the broader context of his Fields Medal achievements on the Burnside problem.</a:t>
            </a:r>
          </a:p>
          <a:p>
            <a:r>
              <a:rPr lang="zh-CN" dirty="0"/>
              <a:t>Key points: 1. Closed the original search for exceptional quantum mechanics 2. Showed Albert algebras are the only simple exceptional case 3. Gave a final large-scale structural picture</a:t>
            </a:r>
          </a:p>
          <a:p>
            <a:r>
              <a:rPr lang="zh-CN" dirty="0"/>
              <a:t>Duration: 1.4 min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a modern direction connected with sustech.</a:t>
            </a:r>
          </a:p>
          <a:p>
            <a:r>
              <a:rPr lang="zh-CN" dirty="0"/>
              <a:t>To end on a modern note, let me mention a direction represented in the SUSTech-affiliated talk by Iryna Kashuba. The idea is to study all n-dimensional complex Jordan algebras as points of an algebraic variety Jor_n, with change of basis given by the action of GL(n, C). In this setting one studies deformations, rigid algebras, and more recently moment maps and Jordan solitons. This is a beautiful example of how Jordan theory continues to develop through interactions with algebraic geometry and geometric invariant theory.</a:t>
            </a:r>
          </a:p>
          <a:p>
            <a:r>
              <a:rPr lang="zh-CN" dirty="0"/>
              <a:t>Key points: 1. Iryna Kashuba (SICM-SUSTech): varieties of Jordan algebras 2. Jor_n: the affine variety of n-dimensional complex Jordan algebras 3. GL(n, C)-orbits = isomorphism classes</a:t>
            </a:r>
          </a:p>
          <a:p>
            <a:r>
              <a:rPr lang="zh-CN" dirty="0"/>
              <a:t>Duration: 1.0 min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[Transition] This brings us to conclusion and selected references.</a:t>
            </a:r>
          </a:p>
          <a:p>
            <a:r>
              <a:rPr lang="zh-CN" dirty="0"/>
              <a:t>So the story of Jordan algebras is a story that begins in physics, becomes a major chapter of nonassociative algebra, and then connects to Lie theory, geometry, and analysis. The Albert algebra is the exceptional centerpiece, and Zelmanov's theorem gives the final structural answer to the subject's original question. These are the main references behind my presentation. Thank you.</a:t>
            </a:r>
          </a:p>
          <a:p>
            <a:r>
              <a:rPr lang="zh-CN" dirty="0"/>
              <a:t>Key points: 1. Jordan algebras began in quantum mechanics 2. They evolved into a rich theory in algebra, geometry, and analysis 3. The Albert algebra became the exceptional symbol of the subject</a:t>
            </a:r>
          </a:p>
          <a:p>
            <a:r>
              <a:rPr lang="zh-CN" dirty="0"/>
              <a:t>Duration: 1.0 min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jp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3"/>
          <a:stretch>
            <a:fillRect/>
          </a:stretch>
        </p:blipFill>
        <p:spPr>
          <a:xfrm>
            <a:off x="2858" y="0"/>
            <a:ext cx="12186285" cy="6858000"/>
          </a:xfrm>
          <a:prstGeom prst="rect">
            <a:avLst/>
          </a:prstGeom>
        </p:spPr>
      </p:pic>
      <p:sp>
        <p:nvSpPr>
          <p:cNvPr id="3" name="Rectangle 3"/>
          <p:cNvSpPr/>
          <p:nvPr/>
        </p:nvSpPr>
        <p:spPr>
          <a:xfrm>
            <a:off x="0" y="0"/>
            <a:ext cx="12192000" cy="6858000"/>
          </a:xfrm>
          <a:prstGeom prst="rect">
            <a:avLst/>
          </a:prstGeom>
          <a:solidFill>
            <a:srgbClr val="FFFFFF">
              <a:alpha val="78000"/>
            </a:srgbClr>
          </a:solidFill>
          <a:ln>
            <a:noFill/>
          </a:ln>
        </p:spPr>
        <p:txBody>
          <a:bodyPr/>
          <a:lstStyle/>
          <a:p>
            <a:endParaRPr lang="zh-CN" altLang="en-US"/>
          </a:p>
        </p:txBody>
      </p:sp>
      <p:sp>
        <p:nvSpPr>
          <p:cNvPr id="4" name="Rectangle 4"/>
          <p:cNvSpPr/>
          <p:nvPr/>
        </p:nvSpPr>
        <p:spPr>
          <a:xfrm>
            <a:off x="0" y="0"/>
            <a:ext cx="12192000" cy="952500"/>
          </a:xfrm>
          <a:prstGeom prst="rect">
            <a:avLst/>
          </a:prstGeom>
          <a:solidFill>
            <a:srgbClr val="003366"/>
          </a:solidFill>
          <a:ln>
            <a:noFill/>
          </a:ln>
        </p:spPr>
        <p:txBody>
          <a:bodyPr/>
          <a:lstStyle/>
          <a:p>
            <a:endParaRPr lang="zh-CN" altLang="en-US"/>
          </a:p>
        </p:txBody>
      </p:sp>
      <p:sp>
        <p:nvSpPr>
          <p:cNvPr id="5" name="Rectangle 5"/>
          <p:cNvSpPr/>
          <p:nvPr/>
        </p:nvSpPr>
        <p:spPr>
          <a:xfrm>
            <a:off x="0" y="0"/>
            <a:ext cx="57150" cy="952500"/>
          </a:xfrm>
          <a:prstGeom prst="rect">
            <a:avLst/>
          </a:prstGeom>
          <a:solidFill>
            <a:srgbClr val="CC0000"/>
          </a:solidFill>
          <a:ln>
            <a:noFill/>
          </a:ln>
        </p:spPr>
        <p:txBody>
          <a:bodyPr/>
          <a:lstStyle/>
          <a:p>
            <a:endParaRPr lang="zh-CN" altLang="en-US"/>
          </a:p>
        </p:txBody>
      </p:sp>
      <p:sp>
        <p:nvSpPr>
          <p:cNvPr id="6" name="TextBox 6"/>
          <p:cNvSpPr txBox="1"/>
          <p:nvPr/>
        </p:nvSpPr>
        <p:spPr>
          <a:xfrm>
            <a:off x="10353845" y="406718"/>
            <a:ext cx="1390309"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SUSTech Math</a:t>
            </a:r>
          </a:p>
        </p:txBody>
      </p:sp>
      <p:sp>
        <p:nvSpPr>
          <p:cNvPr id="7" name="TextBox 7"/>
          <p:cNvSpPr txBox="1"/>
          <p:nvPr/>
        </p:nvSpPr>
        <p:spPr>
          <a:xfrm>
            <a:off x="3661827" y="1583056"/>
            <a:ext cx="4868347" cy="762000"/>
          </a:xfrm>
          <a:prstGeom prst="rect">
            <a:avLst/>
          </a:prstGeom>
          <a:noFill/>
          <a:ln>
            <a:noFill/>
          </a:ln>
        </p:spPr>
        <p:txBody>
          <a:bodyPr wrap="none" lIns="0" tIns="0" rIns="0" bIns="0" anchor="t" anchorCtr="0">
            <a:spAutoFit/>
          </a:bodyPr>
          <a:lstStyle/>
          <a:p>
            <a:pPr algn="ctr"/>
            <a:r>
              <a:rPr lang="zh-CN" sz="3750" b="1" dirty="0">
                <a:solidFill>
                  <a:srgbClr val="003366"/>
                </a:solidFill>
                <a:latin typeface="Arial"/>
                <a:ea typeface="Microsoft YaHei"/>
                <a:cs typeface="Arial"/>
              </a:rPr>
              <a:t>Jordan Algebras:</a:t>
            </a:r>
          </a:p>
        </p:txBody>
      </p:sp>
      <p:sp>
        <p:nvSpPr>
          <p:cNvPr id="8" name="TextBox 8"/>
          <p:cNvSpPr txBox="1"/>
          <p:nvPr/>
        </p:nvSpPr>
        <p:spPr>
          <a:xfrm>
            <a:off x="3748088" y="2116456"/>
            <a:ext cx="4695825" cy="762000"/>
          </a:xfrm>
          <a:prstGeom prst="rect">
            <a:avLst/>
          </a:prstGeom>
          <a:noFill/>
          <a:ln>
            <a:noFill/>
          </a:ln>
        </p:spPr>
        <p:txBody>
          <a:bodyPr wrap="none" lIns="0" tIns="0" rIns="0" bIns="0" anchor="t" anchorCtr="0">
            <a:spAutoFit/>
          </a:bodyPr>
          <a:lstStyle/>
          <a:p>
            <a:pPr algn="ctr"/>
            <a:r>
              <a:rPr lang="zh-CN" sz="3750" b="1" dirty="0">
                <a:solidFill>
                  <a:srgbClr val="003366"/>
                </a:solidFill>
                <a:latin typeface="Arial"/>
                <a:ea typeface="Microsoft YaHei"/>
                <a:cs typeface="Arial"/>
              </a:rPr>
              <a:t>Origin, History,</a:t>
            </a:r>
          </a:p>
        </p:txBody>
      </p:sp>
      <p:sp>
        <p:nvSpPr>
          <p:cNvPr id="9" name="TextBox 9"/>
          <p:cNvSpPr txBox="1"/>
          <p:nvPr/>
        </p:nvSpPr>
        <p:spPr>
          <a:xfrm>
            <a:off x="3604320" y="2649856"/>
            <a:ext cx="4983361" cy="762000"/>
          </a:xfrm>
          <a:prstGeom prst="rect">
            <a:avLst/>
          </a:prstGeom>
          <a:noFill/>
          <a:ln>
            <a:noFill/>
          </a:ln>
        </p:spPr>
        <p:txBody>
          <a:bodyPr wrap="none" lIns="0" tIns="0" rIns="0" bIns="0" anchor="t" anchorCtr="0">
            <a:spAutoFit/>
          </a:bodyPr>
          <a:lstStyle/>
          <a:p>
            <a:pPr algn="ctr"/>
            <a:r>
              <a:rPr lang="zh-CN" sz="3750" b="1" dirty="0">
                <a:solidFill>
                  <a:srgbClr val="003366"/>
                </a:solidFill>
                <a:latin typeface="Arial"/>
                <a:ea typeface="Microsoft YaHei"/>
                <a:cs typeface="Arial"/>
              </a:rPr>
              <a:t>Development, and</a:t>
            </a:r>
          </a:p>
        </p:txBody>
      </p:sp>
      <p:sp>
        <p:nvSpPr>
          <p:cNvPr id="10" name="TextBox 10"/>
          <p:cNvSpPr txBox="1"/>
          <p:nvPr/>
        </p:nvSpPr>
        <p:spPr>
          <a:xfrm>
            <a:off x="3129885" y="3183256"/>
            <a:ext cx="5932230" cy="762000"/>
          </a:xfrm>
          <a:prstGeom prst="rect">
            <a:avLst/>
          </a:prstGeom>
          <a:noFill/>
          <a:ln>
            <a:noFill/>
          </a:ln>
        </p:spPr>
        <p:txBody>
          <a:bodyPr wrap="none" lIns="0" tIns="0" rIns="0" bIns="0" anchor="t" anchorCtr="0">
            <a:spAutoFit/>
          </a:bodyPr>
          <a:lstStyle/>
          <a:p>
            <a:pPr algn="ctr"/>
            <a:r>
              <a:rPr lang="zh-CN" sz="3750" b="1" dirty="0">
                <a:solidFill>
                  <a:srgbClr val="003366"/>
                </a:solidFill>
                <a:latin typeface="Arial"/>
                <a:ea typeface="Microsoft YaHei"/>
                <a:cs typeface="Arial"/>
              </a:rPr>
              <a:t>Modern Perspectives</a:t>
            </a:r>
          </a:p>
        </p:txBody>
      </p:sp>
      <p:sp>
        <p:nvSpPr>
          <p:cNvPr id="11" name="TextBox 11"/>
          <p:cNvSpPr txBox="1"/>
          <p:nvPr/>
        </p:nvSpPr>
        <p:spPr>
          <a:xfrm>
            <a:off x="2368867" y="4055745"/>
            <a:ext cx="7454265" cy="396240"/>
          </a:xfrm>
          <a:prstGeom prst="rect">
            <a:avLst/>
          </a:prstGeom>
          <a:noFill/>
          <a:ln>
            <a:noFill/>
          </a:ln>
        </p:spPr>
        <p:txBody>
          <a:bodyPr wrap="none" lIns="0" tIns="0" rIns="0" bIns="0" anchor="t" anchorCtr="0">
            <a:spAutoFit/>
          </a:bodyPr>
          <a:lstStyle/>
          <a:p>
            <a:pPr algn="ctr"/>
            <a:r>
              <a:rPr lang="zh-CN" sz="1950" dirty="0">
                <a:solidFill>
                  <a:srgbClr val="666666"/>
                </a:solidFill>
                <a:latin typeface="Arial"/>
                <a:ea typeface="Microsoft YaHei"/>
                <a:cs typeface="Arial"/>
              </a:rPr>
              <a:t>From quantum mechanics to modern structure theory</a:t>
            </a:r>
          </a:p>
        </p:txBody>
      </p:sp>
      <p:sp>
        <p:nvSpPr>
          <p:cNvPr id="12" name="Line 12"/>
          <p:cNvSpPr/>
          <p:nvPr/>
        </p:nvSpPr>
        <p:spPr>
          <a:xfrm>
            <a:off x="3905250" y="4838700"/>
            <a:ext cx="4381500" cy="9525"/>
          </a:xfrm>
          <a:custGeom>
            <a:avLst/>
            <a:gdLst/>
            <a:ahLst/>
            <a:cxnLst/>
            <a:rect l="l" t="t" r="r" b="b"/>
            <a:pathLst>
              <a:path w="4381500" h="9525">
                <a:moveTo>
                  <a:pt x="0" y="0"/>
                </a:moveTo>
                <a:lnTo>
                  <a:pt x="4381500" y="0"/>
                </a:lnTo>
              </a:path>
            </a:pathLst>
          </a:custGeom>
          <a:noFill/>
          <a:ln w="19050">
            <a:solidFill>
              <a:srgbClr val="0066CC"/>
            </a:solidFill>
          </a:ln>
        </p:spPr>
        <p:txBody>
          <a:bodyPr/>
          <a:lstStyle/>
          <a:p>
            <a:endParaRPr lang="zh-CN" altLang="en-US"/>
          </a:p>
        </p:txBody>
      </p:sp>
      <p:sp>
        <p:nvSpPr>
          <p:cNvPr id="13" name="Ellipse 13"/>
          <p:cNvSpPr/>
          <p:nvPr/>
        </p:nvSpPr>
        <p:spPr>
          <a:xfrm>
            <a:off x="6048375" y="4791075"/>
            <a:ext cx="95250" cy="95250"/>
          </a:xfrm>
          <a:prstGeom prst="ellipse">
            <a:avLst/>
          </a:prstGeom>
          <a:solidFill>
            <a:srgbClr val="0066CC"/>
          </a:solidFill>
          <a:ln>
            <a:noFill/>
          </a:ln>
        </p:spPr>
        <p:txBody>
          <a:bodyPr/>
          <a:lstStyle/>
          <a:p>
            <a:endParaRPr lang="zh-CN" altLang="en-US"/>
          </a:p>
        </p:txBody>
      </p:sp>
      <p:sp>
        <p:nvSpPr>
          <p:cNvPr id="14" name="TextBox 14"/>
          <p:cNvSpPr txBox="1"/>
          <p:nvPr/>
        </p:nvSpPr>
        <p:spPr>
          <a:xfrm>
            <a:off x="5415915" y="5187315"/>
            <a:ext cx="1360170" cy="365760"/>
          </a:xfrm>
          <a:prstGeom prst="rect">
            <a:avLst/>
          </a:prstGeom>
          <a:noFill/>
          <a:ln>
            <a:noFill/>
          </a:ln>
        </p:spPr>
        <p:txBody>
          <a:bodyPr wrap="none" lIns="0" tIns="0" rIns="0" bIns="0" anchor="t" anchorCtr="0">
            <a:spAutoFit/>
          </a:bodyPr>
          <a:lstStyle/>
          <a:p>
            <a:pPr algn="ctr"/>
            <a:r>
              <a:rPr lang="zh-CN" sz="1800" dirty="0">
                <a:solidFill>
                  <a:srgbClr val="333333"/>
                </a:solidFill>
                <a:latin typeface="Arial"/>
                <a:ea typeface="Microsoft YaHei"/>
                <a:cs typeface="Arial"/>
              </a:rPr>
              <a:t>LIU Yaohua</a:t>
            </a:r>
          </a:p>
        </p:txBody>
      </p:sp>
      <p:sp>
        <p:nvSpPr>
          <p:cNvPr id="15" name="TextBox 15"/>
          <p:cNvSpPr txBox="1"/>
          <p:nvPr/>
        </p:nvSpPr>
        <p:spPr>
          <a:xfrm>
            <a:off x="2436185" y="5588318"/>
            <a:ext cx="7319629" cy="274320"/>
          </a:xfrm>
          <a:prstGeom prst="rect">
            <a:avLst/>
          </a:prstGeom>
          <a:noFill/>
          <a:ln>
            <a:noFill/>
          </a:ln>
        </p:spPr>
        <p:txBody>
          <a:bodyPr wrap="none" lIns="0" tIns="0" rIns="0" bIns="0" anchor="t" anchorCtr="0">
            <a:spAutoFit/>
          </a:bodyPr>
          <a:lstStyle/>
          <a:p>
            <a:pPr algn="ctr"/>
            <a:r>
              <a:rPr lang="zh-CN" sz="1350" dirty="0">
                <a:solidFill>
                  <a:srgbClr val="666666"/>
                </a:solidFill>
                <a:latin typeface="Arial"/>
                <a:ea typeface="Microsoft YaHei"/>
                <a:cs typeface="Arial"/>
              </a:rPr>
              <a:t>Department of Mathematics, Southern University of Science and Technology</a:t>
            </a:r>
          </a:p>
        </p:txBody>
      </p:sp>
      <p:sp>
        <p:nvSpPr>
          <p:cNvPr id="16" name="TextBox 16"/>
          <p:cNvSpPr txBox="1"/>
          <p:nvPr/>
        </p:nvSpPr>
        <p:spPr>
          <a:xfrm>
            <a:off x="3850862" y="5835968"/>
            <a:ext cx="4490275" cy="274320"/>
          </a:xfrm>
          <a:prstGeom prst="rect">
            <a:avLst/>
          </a:prstGeom>
          <a:noFill/>
          <a:ln>
            <a:noFill/>
          </a:ln>
        </p:spPr>
        <p:txBody>
          <a:bodyPr wrap="none" lIns="0" tIns="0" rIns="0" bIns="0" anchor="t" anchorCtr="0">
            <a:spAutoFit/>
          </a:bodyPr>
          <a:lstStyle/>
          <a:p>
            <a:pPr algn="ctr"/>
            <a:r>
              <a:rPr lang="zh-CN" sz="1350" dirty="0">
                <a:solidFill>
                  <a:srgbClr val="666666"/>
                </a:solidFill>
                <a:latin typeface="Arial"/>
                <a:ea typeface="Microsoft YaHei"/>
                <a:cs typeface="Arial"/>
              </a:rPr>
              <a:t>SUSTech International Center for Mathematics</a:t>
            </a:r>
          </a:p>
        </p:txBody>
      </p:sp>
      <p:sp>
        <p:nvSpPr>
          <p:cNvPr id="17" name="Rectangle 17"/>
          <p:cNvSpPr/>
          <p:nvPr/>
        </p:nvSpPr>
        <p:spPr>
          <a:xfrm>
            <a:off x="0" y="6334125"/>
            <a:ext cx="12192000" cy="523875"/>
          </a:xfrm>
          <a:prstGeom prst="rect">
            <a:avLst/>
          </a:prstGeom>
          <a:solidFill>
            <a:srgbClr val="F5F7FA"/>
          </a:solidFill>
          <a:ln>
            <a:noFill/>
          </a:ln>
        </p:spPr>
        <p:txBody>
          <a:bodyPr/>
          <a:lstStyle/>
          <a:p>
            <a:endParaRPr lang="zh-CN" altLang="en-US"/>
          </a:p>
        </p:txBody>
      </p:sp>
      <p:sp>
        <p:nvSpPr>
          <p:cNvPr id="18" name="TextBox 18"/>
          <p:cNvSpPr txBox="1"/>
          <p:nvPr/>
        </p:nvSpPr>
        <p:spPr>
          <a:xfrm>
            <a:off x="4526137" y="6535102"/>
            <a:ext cx="3139726" cy="213360"/>
          </a:xfrm>
          <a:prstGeom prst="rect">
            <a:avLst/>
          </a:prstGeom>
          <a:noFill/>
          <a:ln>
            <a:noFill/>
          </a:ln>
        </p:spPr>
        <p:txBody>
          <a:bodyPr wrap="none" lIns="0" tIns="0" rIns="0" bIns="0" anchor="t" anchorCtr="0">
            <a:spAutoFit/>
          </a:bodyPr>
          <a:lstStyle/>
          <a:p>
            <a:pPr algn="ctr"/>
            <a:r>
              <a:rPr lang="zh-CN" sz="1050" dirty="0">
                <a:solidFill>
                  <a:srgbClr val="999999"/>
                </a:solidFill>
                <a:latin typeface="Arial"/>
                <a:ea typeface="Microsoft YaHei"/>
                <a:cs typeface="Arial"/>
              </a:rPr>
              <a:t>Academic English Presentation | April 2026</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1808459"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02 Roadmap</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398749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Six guideposts for the 20-slide narrative</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522643" y="6522720"/>
            <a:ext cx="1146715"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Part 1-4 overview</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02</a:t>
            </a:r>
          </a:p>
        </p:txBody>
      </p:sp>
      <p:sp>
        <p:nvSpPr>
          <p:cNvPr id="13" name="Ellipse 13"/>
          <p:cNvSpPr/>
          <p:nvPr/>
        </p:nvSpPr>
        <p:spPr>
          <a:xfrm>
            <a:off x="1276350" y="1457325"/>
            <a:ext cx="419100" cy="419100"/>
          </a:xfrm>
          <a:prstGeom prst="ellipse">
            <a:avLst/>
          </a:prstGeom>
          <a:solidFill>
            <a:srgbClr val="003366"/>
          </a:solidFill>
          <a:ln>
            <a:noFill/>
          </a:ln>
        </p:spPr>
        <p:txBody>
          <a:bodyPr/>
          <a:lstStyle/>
          <a:p>
            <a:endParaRPr lang="zh-CN" altLang="en-US"/>
          </a:p>
        </p:txBody>
      </p:sp>
      <p:sp>
        <p:nvSpPr>
          <p:cNvPr id="14" name="TextBox 14"/>
          <p:cNvSpPr txBox="1"/>
          <p:nvPr/>
        </p:nvSpPr>
        <p:spPr>
          <a:xfrm>
            <a:off x="1409972" y="1618774"/>
            <a:ext cx="15185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01</a:t>
            </a:r>
          </a:p>
        </p:txBody>
      </p:sp>
      <p:sp>
        <p:nvSpPr>
          <p:cNvPr id="15" name="Freeform 15"/>
          <p:cNvSpPr/>
          <p:nvPr/>
        </p:nvSpPr>
        <p:spPr>
          <a:xfrm>
            <a:off x="2095500" y="1409700"/>
            <a:ext cx="9334500" cy="552450"/>
          </a:xfrm>
          <a:custGeom>
            <a:avLst/>
            <a:gdLst/>
            <a:ahLst/>
            <a:cxnLst/>
            <a:rect l="l" t="t" r="r" b="b"/>
            <a:pathLst>
              <a:path w="9334500" h="552450">
                <a:moveTo>
                  <a:pt x="95250" y="0"/>
                </a:moveTo>
                <a:lnTo>
                  <a:pt x="9239250" y="0"/>
                </a:lnTo>
                <a:cubicBezTo>
                  <a:pt x="9291855" y="0"/>
                  <a:pt x="9334500" y="42645"/>
                  <a:pt x="9334500" y="95250"/>
                </a:cubicBezTo>
                <a:lnTo>
                  <a:pt x="9334500" y="457200"/>
                </a:lnTo>
                <a:cubicBezTo>
                  <a:pt x="9334500" y="509805"/>
                  <a:pt x="9291855" y="552450"/>
                  <a:pt x="9239250" y="552450"/>
                </a:cubicBezTo>
                <a:lnTo>
                  <a:pt x="95250" y="552450"/>
                </a:lnTo>
                <a:cubicBezTo>
                  <a:pt x="42645" y="552450"/>
                  <a:pt x="0" y="509805"/>
                  <a:pt x="0" y="457200"/>
                </a:cubicBezTo>
                <a:lnTo>
                  <a:pt x="0" y="95250"/>
                </a:lnTo>
                <a:cubicBezTo>
                  <a:pt x="0" y="42645"/>
                  <a:pt x="42645" y="0"/>
                  <a:pt x="95250" y="0"/>
                </a:cubicBezTo>
                <a:close/>
              </a:path>
            </a:pathLst>
          </a:custGeom>
          <a:solidFill>
            <a:srgbClr val="FFFFFF"/>
          </a:solidFill>
          <a:ln w="9525">
            <a:solidFill>
              <a:srgbClr val="003366"/>
            </a:solidFill>
          </a:ln>
        </p:spPr>
        <p:txBody>
          <a:bodyPr/>
          <a:lstStyle/>
          <a:p>
            <a:endParaRPr lang="zh-CN" altLang="en-US"/>
          </a:p>
        </p:txBody>
      </p:sp>
      <p:sp>
        <p:nvSpPr>
          <p:cNvPr id="16" name="Freeform 16"/>
          <p:cNvSpPr/>
          <p:nvPr/>
        </p:nvSpPr>
        <p:spPr>
          <a:xfrm>
            <a:off x="2095500" y="1409700"/>
            <a:ext cx="57150" cy="552450"/>
          </a:xfrm>
          <a:custGeom>
            <a:avLst/>
            <a:gdLst/>
            <a:ahLst/>
            <a:cxnLst/>
            <a:rect l="l" t="t" r="r" b="b"/>
            <a:pathLst>
              <a:path w="57150" h="552450">
                <a:moveTo>
                  <a:pt x="28575" y="0"/>
                </a:moveTo>
                <a:lnTo>
                  <a:pt x="28575" y="0"/>
                </a:lnTo>
                <a:cubicBezTo>
                  <a:pt x="44357" y="0"/>
                  <a:pt x="57150" y="12793"/>
                  <a:pt x="57150" y="28575"/>
                </a:cubicBezTo>
                <a:lnTo>
                  <a:pt x="57150" y="523875"/>
                </a:lnTo>
                <a:cubicBezTo>
                  <a:pt x="57150" y="539657"/>
                  <a:pt x="44357" y="552450"/>
                  <a:pt x="28575" y="552450"/>
                </a:cubicBezTo>
                <a:lnTo>
                  <a:pt x="28575" y="552450"/>
                </a:lnTo>
                <a:cubicBezTo>
                  <a:pt x="12793" y="552450"/>
                  <a:pt x="0" y="539657"/>
                  <a:pt x="0" y="523875"/>
                </a:cubicBezTo>
                <a:lnTo>
                  <a:pt x="0" y="28575"/>
                </a:lnTo>
                <a:cubicBezTo>
                  <a:pt x="0" y="12793"/>
                  <a:pt x="12793" y="0"/>
                  <a:pt x="28575" y="0"/>
                </a:cubicBezTo>
                <a:close/>
              </a:path>
            </a:pathLst>
          </a:custGeom>
          <a:solidFill>
            <a:srgbClr val="003366"/>
          </a:solidFill>
          <a:ln>
            <a:noFill/>
          </a:ln>
        </p:spPr>
        <p:txBody>
          <a:bodyPr/>
          <a:lstStyle/>
          <a:p>
            <a:endParaRPr lang="zh-CN" altLang="en-US"/>
          </a:p>
        </p:txBody>
      </p:sp>
      <p:sp>
        <p:nvSpPr>
          <p:cNvPr id="17" name="TextBox 17"/>
          <p:cNvSpPr txBox="1"/>
          <p:nvPr/>
        </p:nvSpPr>
        <p:spPr>
          <a:xfrm>
            <a:off x="2326005" y="1606868"/>
            <a:ext cx="1483471" cy="274320"/>
          </a:xfrm>
          <a:prstGeom prst="rect">
            <a:avLst/>
          </a:prstGeom>
          <a:noFill/>
          <a:ln>
            <a:noFill/>
          </a:ln>
        </p:spPr>
        <p:txBody>
          <a:bodyPr wrap="none" lIns="0" tIns="0" rIns="0" bIns="0" anchor="t" anchorCtr="0">
            <a:spAutoFit/>
          </a:bodyPr>
          <a:lstStyle/>
          <a:p>
            <a:pPr algn="l"/>
            <a:r>
              <a:rPr lang="zh-CN" sz="1350" b="1" dirty="0">
                <a:solidFill>
                  <a:srgbClr val="333333"/>
                </a:solidFill>
                <a:latin typeface="Arial"/>
                <a:ea typeface="Microsoft YaHei"/>
                <a:cs typeface="Arial"/>
              </a:rPr>
              <a:t>Physical origin</a:t>
            </a:r>
          </a:p>
        </p:txBody>
      </p:sp>
      <p:sp>
        <p:nvSpPr>
          <p:cNvPr id="18" name="Ellipse 18"/>
          <p:cNvSpPr/>
          <p:nvPr/>
        </p:nvSpPr>
        <p:spPr>
          <a:xfrm>
            <a:off x="1276350" y="2200275"/>
            <a:ext cx="419100" cy="419100"/>
          </a:xfrm>
          <a:prstGeom prst="ellipse">
            <a:avLst/>
          </a:prstGeom>
          <a:solidFill>
            <a:srgbClr val="0066CC"/>
          </a:solidFill>
          <a:ln>
            <a:noFill/>
          </a:ln>
        </p:spPr>
        <p:txBody>
          <a:bodyPr/>
          <a:lstStyle/>
          <a:p>
            <a:endParaRPr lang="zh-CN" altLang="en-US"/>
          </a:p>
        </p:txBody>
      </p:sp>
      <p:sp>
        <p:nvSpPr>
          <p:cNvPr id="19" name="TextBox 19"/>
          <p:cNvSpPr txBox="1"/>
          <p:nvPr/>
        </p:nvSpPr>
        <p:spPr>
          <a:xfrm>
            <a:off x="1391282" y="236172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02</a:t>
            </a:r>
          </a:p>
        </p:txBody>
      </p:sp>
      <p:sp>
        <p:nvSpPr>
          <p:cNvPr id="20" name="Freeform 20"/>
          <p:cNvSpPr/>
          <p:nvPr/>
        </p:nvSpPr>
        <p:spPr>
          <a:xfrm>
            <a:off x="2095500" y="2152650"/>
            <a:ext cx="9334500" cy="552450"/>
          </a:xfrm>
          <a:custGeom>
            <a:avLst/>
            <a:gdLst/>
            <a:ahLst/>
            <a:cxnLst/>
            <a:rect l="l" t="t" r="r" b="b"/>
            <a:pathLst>
              <a:path w="9334500" h="552450">
                <a:moveTo>
                  <a:pt x="95250" y="0"/>
                </a:moveTo>
                <a:lnTo>
                  <a:pt x="9239250" y="0"/>
                </a:lnTo>
                <a:cubicBezTo>
                  <a:pt x="9291855" y="0"/>
                  <a:pt x="9334500" y="42645"/>
                  <a:pt x="9334500" y="95250"/>
                </a:cubicBezTo>
                <a:lnTo>
                  <a:pt x="9334500" y="457200"/>
                </a:lnTo>
                <a:cubicBezTo>
                  <a:pt x="9334500" y="509805"/>
                  <a:pt x="9291855" y="552450"/>
                  <a:pt x="9239250" y="552450"/>
                </a:cubicBezTo>
                <a:lnTo>
                  <a:pt x="95250" y="552450"/>
                </a:lnTo>
                <a:cubicBezTo>
                  <a:pt x="42645" y="552450"/>
                  <a:pt x="0" y="509805"/>
                  <a:pt x="0" y="45720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1" name="Freeform 21"/>
          <p:cNvSpPr/>
          <p:nvPr/>
        </p:nvSpPr>
        <p:spPr>
          <a:xfrm>
            <a:off x="2095500" y="2152650"/>
            <a:ext cx="57150" cy="552450"/>
          </a:xfrm>
          <a:custGeom>
            <a:avLst/>
            <a:gdLst/>
            <a:ahLst/>
            <a:cxnLst/>
            <a:rect l="l" t="t" r="r" b="b"/>
            <a:pathLst>
              <a:path w="57150" h="552450">
                <a:moveTo>
                  <a:pt x="28575" y="0"/>
                </a:moveTo>
                <a:lnTo>
                  <a:pt x="28575" y="0"/>
                </a:lnTo>
                <a:cubicBezTo>
                  <a:pt x="44357" y="0"/>
                  <a:pt x="57150" y="12793"/>
                  <a:pt x="57150" y="28575"/>
                </a:cubicBezTo>
                <a:lnTo>
                  <a:pt x="57150" y="523875"/>
                </a:lnTo>
                <a:cubicBezTo>
                  <a:pt x="57150" y="539657"/>
                  <a:pt x="44357" y="552450"/>
                  <a:pt x="28575" y="552450"/>
                </a:cubicBezTo>
                <a:lnTo>
                  <a:pt x="28575" y="552450"/>
                </a:lnTo>
                <a:cubicBezTo>
                  <a:pt x="12793" y="552450"/>
                  <a:pt x="0" y="539657"/>
                  <a:pt x="0" y="523875"/>
                </a:cubicBezTo>
                <a:lnTo>
                  <a:pt x="0" y="28575"/>
                </a:lnTo>
                <a:cubicBezTo>
                  <a:pt x="0" y="12793"/>
                  <a:pt x="12793" y="0"/>
                  <a:pt x="28575" y="0"/>
                </a:cubicBezTo>
                <a:close/>
              </a:path>
            </a:pathLst>
          </a:custGeom>
          <a:solidFill>
            <a:srgbClr val="0066CC"/>
          </a:solidFill>
          <a:ln>
            <a:noFill/>
          </a:ln>
        </p:spPr>
        <p:txBody>
          <a:bodyPr/>
          <a:lstStyle/>
          <a:p>
            <a:endParaRPr lang="zh-CN" altLang="en-US"/>
          </a:p>
        </p:txBody>
      </p:sp>
      <p:sp>
        <p:nvSpPr>
          <p:cNvPr id="22" name="TextBox 22"/>
          <p:cNvSpPr txBox="1"/>
          <p:nvPr/>
        </p:nvSpPr>
        <p:spPr>
          <a:xfrm>
            <a:off x="2326005" y="2349818"/>
            <a:ext cx="2963706" cy="274320"/>
          </a:xfrm>
          <a:prstGeom prst="rect">
            <a:avLst/>
          </a:prstGeom>
          <a:noFill/>
          <a:ln>
            <a:noFill/>
          </a:ln>
        </p:spPr>
        <p:txBody>
          <a:bodyPr wrap="none" lIns="0" tIns="0" rIns="0" bIns="0" anchor="t" anchorCtr="0">
            <a:spAutoFit/>
          </a:bodyPr>
          <a:lstStyle/>
          <a:p>
            <a:pPr algn="l"/>
            <a:r>
              <a:rPr lang="zh-CN" sz="1350" b="1" dirty="0">
                <a:solidFill>
                  <a:srgbClr val="333333"/>
                </a:solidFill>
                <a:latin typeface="Arial"/>
                <a:ea typeface="Microsoft YaHei"/>
                <a:cs typeface="Arial"/>
              </a:rPr>
              <a:t>Definition and basic examples</a:t>
            </a:r>
          </a:p>
        </p:txBody>
      </p:sp>
      <p:sp>
        <p:nvSpPr>
          <p:cNvPr id="23" name="Ellipse 23"/>
          <p:cNvSpPr/>
          <p:nvPr/>
        </p:nvSpPr>
        <p:spPr>
          <a:xfrm>
            <a:off x="1276350" y="2943225"/>
            <a:ext cx="419100" cy="419100"/>
          </a:xfrm>
          <a:prstGeom prst="ellipse">
            <a:avLst/>
          </a:prstGeom>
          <a:solidFill>
            <a:srgbClr val="28A745"/>
          </a:solidFill>
          <a:ln>
            <a:noFill/>
          </a:ln>
        </p:spPr>
        <p:txBody>
          <a:bodyPr/>
          <a:lstStyle/>
          <a:p>
            <a:endParaRPr lang="zh-CN" altLang="en-US"/>
          </a:p>
        </p:txBody>
      </p:sp>
      <p:sp>
        <p:nvSpPr>
          <p:cNvPr id="24" name="TextBox 24"/>
          <p:cNvSpPr txBox="1"/>
          <p:nvPr/>
        </p:nvSpPr>
        <p:spPr>
          <a:xfrm>
            <a:off x="1391282" y="310467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03</a:t>
            </a:r>
          </a:p>
        </p:txBody>
      </p:sp>
      <p:sp>
        <p:nvSpPr>
          <p:cNvPr id="25" name="Freeform 25"/>
          <p:cNvSpPr/>
          <p:nvPr/>
        </p:nvSpPr>
        <p:spPr>
          <a:xfrm>
            <a:off x="2095500" y="2895600"/>
            <a:ext cx="9334500" cy="552450"/>
          </a:xfrm>
          <a:custGeom>
            <a:avLst/>
            <a:gdLst/>
            <a:ahLst/>
            <a:cxnLst/>
            <a:rect l="l" t="t" r="r" b="b"/>
            <a:pathLst>
              <a:path w="9334500" h="552450">
                <a:moveTo>
                  <a:pt x="95250" y="0"/>
                </a:moveTo>
                <a:lnTo>
                  <a:pt x="9239250" y="0"/>
                </a:lnTo>
                <a:cubicBezTo>
                  <a:pt x="9291855" y="0"/>
                  <a:pt x="9334500" y="42645"/>
                  <a:pt x="9334500" y="95250"/>
                </a:cubicBezTo>
                <a:lnTo>
                  <a:pt x="9334500" y="457200"/>
                </a:lnTo>
                <a:cubicBezTo>
                  <a:pt x="9334500" y="509805"/>
                  <a:pt x="9291855" y="552450"/>
                  <a:pt x="9239250" y="552450"/>
                </a:cubicBezTo>
                <a:lnTo>
                  <a:pt x="95250" y="552450"/>
                </a:lnTo>
                <a:cubicBezTo>
                  <a:pt x="42645" y="552450"/>
                  <a:pt x="0" y="509805"/>
                  <a:pt x="0" y="457200"/>
                </a:cubicBezTo>
                <a:lnTo>
                  <a:pt x="0" y="95250"/>
                </a:lnTo>
                <a:cubicBezTo>
                  <a:pt x="0" y="42645"/>
                  <a:pt x="42645" y="0"/>
                  <a:pt x="95250" y="0"/>
                </a:cubicBezTo>
                <a:close/>
              </a:path>
            </a:pathLst>
          </a:custGeom>
          <a:solidFill>
            <a:srgbClr val="FFFFFF"/>
          </a:solidFill>
          <a:ln w="9525">
            <a:solidFill>
              <a:srgbClr val="28A745"/>
            </a:solidFill>
          </a:ln>
        </p:spPr>
        <p:txBody>
          <a:bodyPr/>
          <a:lstStyle/>
          <a:p>
            <a:endParaRPr lang="zh-CN" altLang="en-US"/>
          </a:p>
        </p:txBody>
      </p:sp>
      <p:sp>
        <p:nvSpPr>
          <p:cNvPr id="26" name="Freeform 26"/>
          <p:cNvSpPr/>
          <p:nvPr/>
        </p:nvSpPr>
        <p:spPr>
          <a:xfrm>
            <a:off x="2095500" y="2895600"/>
            <a:ext cx="57150" cy="552450"/>
          </a:xfrm>
          <a:custGeom>
            <a:avLst/>
            <a:gdLst/>
            <a:ahLst/>
            <a:cxnLst/>
            <a:rect l="l" t="t" r="r" b="b"/>
            <a:pathLst>
              <a:path w="57150" h="552450">
                <a:moveTo>
                  <a:pt x="28575" y="0"/>
                </a:moveTo>
                <a:lnTo>
                  <a:pt x="28575" y="0"/>
                </a:lnTo>
                <a:cubicBezTo>
                  <a:pt x="44357" y="0"/>
                  <a:pt x="57150" y="12793"/>
                  <a:pt x="57150" y="28575"/>
                </a:cubicBezTo>
                <a:lnTo>
                  <a:pt x="57150" y="523875"/>
                </a:lnTo>
                <a:cubicBezTo>
                  <a:pt x="57150" y="539657"/>
                  <a:pt x="44357" y="552450"/>
                  <a:pt x="28575" y="552450"/>
                </a:cubicBezTo>
                <a:lnTo>
                  <a:pt x="28575" y="552450"/>
                </a:lnTo>
                <a:cubicBezTo>
                  <a:pt x="12793" y="552450"/>
                  <a:pt x="0" y="539657"/>
                  <a:pt x="0" y="523875"/>
                </a:cubicBezTo>
                <a:lnTo>
                  <a:pt x="0" y="28575"/>
                </a:lnTo>
                <a:cubicBezTo>
                  <a:pt x="0" y="12793"/>
                  <a:pt x="12793" y="0"/>
                  <a:pt x="28575" y="0"/>
                </a:cubicBezTo>
                <a:close/>
              </a:path>
            </a:pathLst>
          </a:custGeom>
          <a:solidFill>
            <a:srgbClr val="28A745"/>
          </a:solidFill>
          <a:ln>
            <a:noFill/>
          </a:ln>
        </p:spPr>
        <p:txBody>
          <a:bodyPr/>
          <a:lstStyle/>
          <a:p>
            <a:endParaRPr lang="zh-CN" altLang="en-US"/>
          </a:p>
        </p:txBody>
      </p:sp>
      <p:sp>
        <p:nvSpPr>
          <p:cNvPr id="27" name="TextBox 27"/>
          <p:cNvSpPr txBox="1"/>
          <p:nvPr/>
        </p:nvSpPr>
        <p:spPr>
          <a:xfrm>
            <a:off x="2326005" y="3092768"/>
            <a:ext cx="3729702" cy="274320"/>
          </a:xfrm>
          <a:prstGeom prst="rect">
            <a:avLst/>
          </a:prstGeom>
          <a:noFill/>
          <a:ln>
            <a:noFill/>
          </a:ln>
        </p:spPr>
        <p:txBody>
          <a:bodyPr wrap="none" lIns="0" tIns="0" rIns="0" bIns="0" anchor="t" anchorCtr="0">
            <a:spAutoFit/>
          </a:bodyPr>
          <a:lstStyle/>
          <a:p>
            <a:pPr algn="l"/>
            <a:r>
              <a:rPr lang="zh-CN" sz="1350" b="1" dirty="0">
                <a:solidFill>
                  <a:srgbClr val="333333"/>
                </a:solidFill>
                <a:latin typeface="Arial"/>
                <a:ea typeface="Microsoft YaHei"/>
                <a:cs typeface="Arial"/>
              </a:rPr>
              <a:t>Classification and the Albert algebra</a:t>
            </a:r>
          </a:p>
        </p:txBody>
      </p:sp>
      <p:sp>
        <p:nvSpPr>
          <p:cNvPr id="28" name="Ellipse 28"/>
          <p:cNvSpPr/>
          <p:nvPr/>
        </p:nvSpPr>
        <p:spPr>
          <a:xfrm>
            <a:off x="1276350" y="3686175"/>
            <a:ext cx="419100" cy="419100"/>
          </a:xfrm>
          <a:prstGeom prst="ellipse">
            <a:avLst/>
          </a:prstGeom>
          <a:solidFill>
            <a:srgbClr val="B8860B"/>
          </a:solidFill>
          <a:ln>
            <a:noFill/>
          </a:ln>
        </p:spPr>
        <p:txBody>
          <a:bodyPr/>
          <a:lstStyle/>
          <a:p>
            <a:endParaRPr lang="zh-CN" altLang="en-US"/>
          </a:p>
        </p:txBody>
      </p:sp>
      <p:sp>
        <p:nvSpPr>
          <p:cNvPr id="29" name="TextBox 29"/>
          <p:cNvSpPr txBox="1"/>
          <p:nvPr/>
        </p:nvSpPr>
        <p:spPr>
          <a:xfrm>
            <a:off x="1391282" y="384762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04</a:t>
            </a:r>
          </a:p>
        </p:txBody>
      </p:sp>
      <p:sp>
        <p:nvSpPr>
          <p:cNvPr id="30" name="Freeform 30"/>
          <p:cNvSpPr/>
          <p:nvPr/>
        </p:nvSpPr>
        <p:spPr>
          <a:xfrm>
            <a:off x="2095500" y="3638550"/>
            <a:ext cx="9334500" cy="552450"/>
          </a:xfrm>
          <a:custGeom>
            <a:avLst/>
            <a:gdLst/>
            <a:ahLst/>
            <a:cxnLst/>
            <a:rect l="l" t="t" r="r" b="b"/>
            <a:pathLst>
              <a:path w="9334500" h="552450">
                <a:moveTo>
                  <a:pt x="95250" y="0"/>
                </a:moveTo>
                <a:lnTo>
                  <a:pt x="9239250" y="0"/>
                </a:lnTo>
                <a:cubicBezTo>
                  <a:pt x="9291855" y="0"/>
                  <a:pt x="9334500" y="42645"/>
                  <a:pt x="9334500" y="95250"/>
                </a:cubicBezTo>
                <a:lnTo>
                  <a:pt x="9334500" y="457200"/>
                </a:lnTo>
                <a:cubicBezTo>
                  <a:pt x="9334500" y="509805"/>
                  <a:pt x="9291855" y="552450"/>
                  <a:pt x="9239250" y="552450"/>
                </a:cubicBezTo>
                <a:lnTo>
                  <a:pt x="95250" y="552450"/>
                </a:lnTo>
                <a:cubicBezTo>
                  <a:pt x="42645" y="552450"/>
                  <a:pt x="0" y="509805"/>
                  <a:pt x="0" y="457200"/>
                </a:cubicBezTo>
                <a:lnTo>
                  <a:pt x="0" y="95250"/>
                </a:lnTo>
                <a:cubicBezTo>
                  <a:pt x="0" y="42645"/>
                  <a:pt x="42645" y="0"/>
                  <a:pt x="95250" y="0"/>
                </a:cubicBezTo>
                <a:close/>
              </a:path>
            </a:pathLst>
          </a:custGeom>
          <a:solidFill>
            <a:srgbClr val="FFFFFF"/>
          </a:solidFill>
          <a:ln w="9525">
            <a:solidFill>
              <a:srgbClr val="B8860B"/>
            </a:solidFill>
          </a:ln>
        </p:spPr>
        <p:txBody>
          <a:bodyPr/>
          <a:lstStyle/>
          <a:p>
            <a:endParaRPr lang="zh-CN" altLang="en-US"/>
          </a:p>
        </p:txBody>
      </p:sp>
      <p:sp>
        <p:nvSpPr>
          <p:cNvPr id="31" name="Freeform 31"/>
          <p:cNvSpPr/>
          <p:nvPr/>
        </p:nvSpPr>
        <p:spPr>
          <a:xfrm>
            <a:off x="2095500" y="3638550"/>
            <a:ext cx="57150" cy="552450"/>
          </a:xfrm>
          <a:custGeom>
            <a:avLst/>
            <a:gdLst/>
            <a:ahLst/>
            <a:cxnLst/>
            <a:rect l="l" t="t" r="r" b="b"/>
            <a:pathLst>
              <a:path w="57150" h="552450">
                <a:moveTo>
                  <a:pt x="28575" y="0"/>
                </a:moveTo>
                <a:lnTo>
                  <a:pt x="28575" y="0"/>
                </a:lnTo>
                <a:cubicBezTo>
                  <a:pt x="44357" y="0"/>
                  <a:pt x="57150" y="12793"/>
                  <a:pt x="57150" y="28575"/>
                </a:cubicBezTo>
                <a:lnTo>
                  <a:pt x="57150" y="523875"/>
                </a:lnTo>
                <a:cubicBezTo>
                  <a:pt x="57150" y="539657"/>
                  <a:pt x="44357" y="552450"/>
                  <a:pt x="28575" y="552450"/>
                </a:cubicBezTo>
                <a:lnTo>
                  <a:pt x="28575" y="552450"/>
                </a:lnTo>
                <a:cubicBezTo>
                  <a:pt x="12793" y="552450"/>
                  <a:pt x="0" y="539657"/>
                  <a:pt x="0" y="523875"/>
                </a:cubicBezTo>
                <a:lnTo>
                  <a:pt x="0" y="28575"/>
                </a:lnTo>
                <a:cubicBezTo>
                  <a:pt x="0" y="12793"/>
                  <a:pt x="12793" y="0"/>
                  <a:pt x="28575" y="0"/>
                </a:cubicBezTo>
                <a:close/>
              </a:path>
            </a:pathLst>
          </a:custGeom>
          <a:solidFill>
            <a:srgbClr val="B8860B"/>
          </a:solidFill>
          <a:ln>
            <a:noFill/>
          </a:ln>
        </p:spPr>
        <p:txBody>
          <a:bodyPr/>
          <a:lstStyle/>
          <a:p>
            <a:endParaRPr lang="zh-CN" altLang="en-US"/>
          </a:p>
        </p:txBody>
      </p:sp>
      <p:sp>
        <p:nvSpPr>
          <p:cNvPr id="32" name="TextBox 32"/>
          <p:cNvSpPr txBox="1"/>
          <p:nvPr/>
        </p:nvSpPr>
        <p:spPr>
          <a:xfrm>
            <a:off x="2326005" y="3835718"/>
            <a:ext cx="3584784" cy="274320"/>
          </a:xfrm>
          <a:prstGeom prst="rect">
            <a:avLst/>
          </a:prstGeom>
          <a:noFill/>
          <a:ln>
            <a:noFill/>
          </a:ln>
        </p:spPr>
        <p:txBody>
          <a:bodyPr wrap="none" lIns="0" tIns="0" rIns="0" bIns="0" anchor="t" anchorCtr="0">
            <a:spAutoFit/>
          </a:bodyPr>
          <a:lstStyle/>
          <a:p>
            <a:pPr algn="l"/>
            <a:r>
              <a:rPr lang="zh-CN" sz="1350" b="1" dirty="0">
                <a:solidFill>
                  <a:srgbClr val="333333"/>
                </a:solidFill>
                <a:latin typeface="Arial"/>
                <a:ea typeface="Microsoft YaHei"/>
                <a:cs typeface="Arial"/>
              </a:rPr>
              <a:t>Later development and applications</a:t>
            </a:r>
          </a:p>
        </p:txBody>
      </p:sp>
      <p:sp>
        <p:nvSpPr>
          <p:cNvPr id="33" name="Ellipse 33"/>
          <p:cNvSpPr/>
          <p:nvPr/>
        </p:nvSpPr>
        <p:spPr>
          <a:xfrm>
            <a:off x="1276350" y="4429125"/>
            <a:ext cx="419100" cy="419100"/>
          </a:xfrm>
          <a:prstGeom prst="ellipse">
            <a:avLst/>
          </a:prstGeom>
          <a:solidFill>
            <a:srgbClr val="CC0000"/>
          </a:solidFill>
          <a:ln>
            <a:noFill/>
          </a:ln>
        </p:spPr>
        <p:txBody>
          <a:bodyPr/>
          <a:lstStyle/>
          <a:p>
            <a:endParaRPr lang="zh-CN" altLang="en-US"/>
          </a:p>
        </p:txBody>
      </p:sp>
      <p:sp>
        <p:nvSpPr>
          <p:cNvPr id="34" name="TextBox 34"/>
          <p:cNvSpPr txBox="1"/>
          <p:nvPr/>
        </p:nvSpPr>
        <p:spPr>
          <a:xfrm>
            <a:off x="1391282" y="459057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05</a:t>
            </a:r>
          </a:p>
        </p:txBody>
      </p:sp>
      <p:sp>
        <p:nvSpPr>
          <p:cNvPr id="35" name="Freeform 35"/>
          <p:cNvSpPr/>
          <p:nvPr/>
        </p:nvSpPr>
        <p:spPr>
          <a:xfrm>
            <a:off x="2095500" y="4381500"/>
            <a:ext cx="9334500" cy="552450"/>
          </a:xfrm>
          <a:custGeom>
            <a:avLst/>
            <a:gdLst/>
            <a:ahLst/>
            <a:cxnLst/>
            <a:rect l="l" t="t" r="r" b="b"/>
            <a:pathLst>
              <a:path w="9334500" h="552450">
                <a:moveTo>
                  <a:pt x="95250" y="0"/>
                </a:moveTo>
                <a:lnTo>
                  <a:pt x="9239250" y="0"/>
                </a:lnTo>
                <a:cubicBezTo>
                  <a:pt x="9291855" y="0"/>
                  <a:pt x="9334500" y="42645"/>
                  <a:pt x="9334500" y="95250"/>
                </a:cubicBezTo>
                <a:lnTo>
                  <a:pt x="9334500" y="457200"/>
                </a:lnTo>
                <a:cubicBezTo>
                  <a:pt x="9334500" y="509805"/>
                  <a:pt x="9291855" y="552450"/>
                  <a:pt x="9239250" y="552450"/>
                </a:cubicBezTo>
                <a:lnTo>
                  <a:pt x="95250" y="552450"/>
                </a:lnTo>
                <a:cubicBezTo>
                  <a:pt x="42645" y="552450"/>
                  <a:pt x="0" y="509805"/>
                  <a:pt x="0" y="457200"/>
                </a:cubicBezTo>
                <a:lnTo>
                  <a:pt x="0" y="95250"/>
                </a:lnTo>
                <a:cubicBezTo>
                  <a:pt x="0" y="42645"/>
                  <a:pt x="42645" y="0"/>
                  <a:pt x="95250" y="0"/>
                </a:cubicBezTo>
                <a:close/>
              </a:path>
            </a:pathLst>
          </a:custGeom>
          <a:solidFill>
            <a:srgbClr val="FFFFFF"/>
          </a:solidFill>
          <a:ln w="9525">
            <a:solidFill>
              <a:srgbClr val="CC0000"/>
            </a:solidFill>
          </a:ln>
        </p:spPr>
        <p:txBody>
          <a:bodyPr/>
          <a:lstStyle/>
          <a:p>
            <a:endParaRPr lang="zh-CN" altLang="en-US"/>
          </a:p>
        </p:txBody>
      </p:sp>
      <p:sp>
        <p:nvSpPr>
          <p:cNvPr id="36" name="Freeform 36"/>
          <p:cNvSpPr/>
          <p:nvPr/>
        </p:nvSpPr>
        <p:spPr>
          <a:xfrm>
            <a:off x="2095500" y="4381500"/>
            <a:ext cx="57150" cy="552450"/>
          </a:xfrm>
          <a:custGeom>
            <a:avLst/>
            <a:gdLst/>
            <a:ahLst/>
            <a:cxnLst/>
            <a:rect l="l" t="t" r="r" b="b"/>
            <a:pathLst>
              <a:path w="57150" h="552450">
                <a:moveTo>
                  <a:pt x="28575" y="0"/>
                </a:moveTo>
                <a:lnTo>
                  <a:pt x="28575" y="0"/>
                </a:lnTo>
                <a:cubicBezTo>
                  <a:pt x="44357" y="0"/>
                  <a:pt x="57150" y="12793"/>
                  <a:pt x="57150" y="28575"/>
                </a:cubicBezTo>
                <a:lnTo>
                  <a:pt x="57150" y="523875"/>
                </a:lnTo>
                <a:cubicBezTo>
                  <a:pt x="57150" y="539657"/>
                  <a:pt x="44357" y="552450"/>
                  <a:pt x="28575" y="552450"/>
                </a:cubicBezTo>
                <a:lnTo>
                  <a:pt x="28575" y="552450"/>
                </a:lnTo>
                <a:cubicBezTo>
                  <a:pt x="12793" y="552450"/>
                  <a:pt x="0" y="539657"/>
                  <a:pt x="0" y="523875"/>
                </a:cubicBezTo>
                <a:lnTo>
                  <a:pt x="0" y="28575"/>
                </a:lnTo>
                <a:cubicBezTo>
                  <a:pt x="0" y="12793"/>
                  <a:pt x="12793" y="0"/>
                  <a:pt x="28575" y="0"/>
                </a:cubicBezTo>
                <a:close/>
              </a:path>
            </a:pathLst>
          </a:custGeom>
          <a:solidFill>
            <a:srgbClr val="CC0000"/>
          </a:solidFill>
          <a:ln>
            <a:noFill/>
          </a:ln>
        </p:spPr>
        <p:txBody>
          <a:bodyPr/>
          <a:lstStyle/>
          <a:p>
            <a:endParaRPr lang="zh-CN" altLang="en-US"/>
          </a:p>
        </p:txBody>
      </p:sp>
      <p:sp>
        <p:nvSpPr>
          <p:cNvPr id="37" name="TextBox 37"/>
          <p:cNvSpPr txBox="1"/>
          <p:nvPr/>
        </p:nvSpPr>
        <p:spPr>
          <a:xfrm>
            <a:off x="2326005" y="4578668"/>
            <a:ext cx="2591060" cy="274320"/>
          </a:xfrm>
          <a:prstGeom prst="rect">
            <a:avLst/>
          </a:prstGeom>
          <a:noFill/>
          <a:ln>
            <a:noFill/>
          </a:ln>
        </p:spPr>
        <p:txBody>
          <a:bodyPr wrap="none" lIns="0" tIns="0" rIns="0" bIns="0" anchor="t" anchorCtr="0">
            <a:spAutoFit/>
          </a:bodyPr>
          <a:lstStyle/>
          <a:p>
            <a:pPr algn="l"/>
            <a:r>
              <a:rPr lang="zh-CN" sz="1350" b="1" dirty="0">
                <a:solidFill>
                  <a:srgbClr val="333333"/>
                </a:solidFill>
                <a:latin typeface="Arial"/>
                <a:ea typeface="Microsoft YaHei"/>
                <a:cs typeface="Arial"/>
              </a:rPr>
              <a:t>Zelmanov's breakthrough</a:t>
            </a:r>
          </a:p>
        </p:txBody>
      </p:sp>
      <p:sp>
        <p:nvSpPr>
          <p:cNvPr id="39" name="TextBox 39"/>
          <p:cNvSpPr txBox="1"/>
          <p:nvPr/>
        </p:nvSpPr>
        <p:spPr>
          <a:xfrm>
            <a:off x="1391282" y="5333524"/>
            <a:ext cx="189236"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06</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5205984"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03 Why Jordan Algebras Appeared</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587044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subject begins with the algebra of quantum observables.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03</a:t>
            </a:r>
          </a:p>
        </p:txBody>
      </p:sp>
      <p:sp>
        <p:nvSpPr>
          <p:cNvPr id="13" name="Freeform 13"/>
          <p:cNvSpPr/>
          <p:nvPr/>
        </p:nvSpPr>
        <p:spPr>
          <a:xfrm>
            <a:off x="381000" y="1285875"/>
            <a:ext cx="5334000" cy="4905375"/>
          </a:xfrm>
          <a:custGeom>
            <a:avLst/>
            <a:gdLst/>
            <a:ahLst/>
            <a:cxnLst/>
            <a:rect l="l" t="t" r="r" b="b"/>
            <a:pathLst>
              <a:path w="5334000" h="4905375">
                <a:moveTo>
                  <a:pt x="95250" y="0"/>
                </a:moveTo>
                <a:lnTo>
                  <a:pt x="5238750" y="0"/>
                </a:lnTo>
                <a:cubicBezTo>
                  <a:pt x="5291355" y="0"/>
                  <a:pt x="5334000" y="42645"/>
                  <a:pt x="5334000" y="95250"/>
                </a:cubicBezTo>
                <a:lnTo>
                  <a:pt x="5334000" y="4810125"/>
                </a:lnTo>
                <a:cubicBezTo>
                  <a:pt x="5334000" y="4862730"/>
                  <a:pt x="5291355" y="4905375"/>
                  <a:pt x="5238750" y="4905375"/>
                </a:cubicBezTo>
                <a:lnTo>
                  <a:pt x="95250" y="4905375"/>
                </a:lnTo>
                <a:cubicBezTo>
                  <a:pt x="42645" y="4905375"/>
                  <a:pt x="0" y="4862730"/>
                  <a:pt x="0" y="4810125"/>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4" name="Freeform 14"/>
          <p:cNvSpPr/>
          <p:nvPr/>
        </p:nvSpPr>
        <p:spPr>
          <a:xfrm>
            <a:off x="6096000" y="1285875"/>
            <a:ext cx="5715000" cy="4905375"/>
          </a:xfrm>
          <a:custGeom>
            <a:avLst/>
            <a:gdLst/>
            <a:ahLst/>
            <a:cxnLst/>
            <a:rect l="l" t="t" r="r" b="b"/>
            <a:pathLst>
              <a:path w="5715000" h="4905375">
                <a:moveTo>
                  <a:pt x="95250" y="0"/>
                </a:moveTo>
                <a:lnTo>
                  <a:pt x="5619750" y="0"/>
                </a:lnTo>
                <a:cubicBezTo>
                  <a:pt x="5672355" y="0"/>
                  <a:pt x="5715000" y="42645"/>
                  <a:pt x="5715000" y="95250"/>
                </a:cubicBezTo>
                <a:lnTo>
                  <a:pt x="5715000" y="4810125"/>
                </a:lnTo>
                <a:cubicBezTo>
                  <a:pt x="5715000" y="4862730"/>
                  <a:pt x="5672355" y="4905375"/>
                  <a:pt x="5619750" y="4905375"/>
                </a:cubicBezTo>
                <a:lnTo>
                  <a:pt x="95250" y="4905375"/>
                </a:lnTo>
                <a:cubicBezTo>
                  <a:pt x="42645" y="4905375"/>
                  <a:pt x="0" y="4862730"/>
                  <a:pt x="0" y="4810125"/>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5" name="TextBox 15"/>
          <p:cNvSpPr txBox="1"/>
          <p:nvPr/>
        </p:nvSpPr>
        <p:spPr>
          <a:xfrm>
            <a:off x="664845" y="1555432"/>
            <a:ext cx="4001855" cy="335280"/>
          </a:xfrm>
          <a:prstGeom prst="rect">
            <a:avLst/>
          </a:prstGeom>
          <a:noFill/>
          <a:ln>
            <a:noFill/>
          </a:ln>
        </p:spPr>
        <p:txBody>
          <a:bodyPr wrap="none" lIns="0" tIns="0" rIns="0" bIns="0" anchor="t" anchorCtr="0">
            <a:spAutoFit/>
          </a:bodyPr>
          <a:lstStyle/>
          <a:p>
            <a:pPr algn="l"/>
            <a:r>
              <a:rPr lang="zh-CN" sz="1650" b="1" dirty="0">
                <a:solidFill>
                  <a:srgbClr val="333333"/>
                </a:solidFill>
                <a:latin typeface="Arial"/>
                <a:ea typeface="Microsoft YaHei"/>
                <a:cs typeface="Arial"/>
              </a:rPr>
              <a:t>Jordan algebras were born from</a:t>
            </a:r>
          </a:p>
        </p:txBody>
      </p:sp>
      <p:sp>
        <p:nvSpPr>
          <p:cNvPr id="16" name="TextBox 16"/>
          <p:cNvSpPr txBox="1"/>
          <p:nvPr/>
        </p:nvSpPr>
        <p:spPr>
          <a:xfrm>
            <a:off x="664845" y="1841182"/>
            <a:ext cx="2521620" cy="335280"/>
          </a:xfrm>
          <a:prstGeom prst="rect">
            <a:avLst/>
          </a:prstGeom>
          <a:noFill/>
          <a:ln>
            <a:noFill/>
          </a:ln>
        </p:spPr>
        <p:txBody>
          <a:bodyPr wrap="none" lIns="0" tIns="0" rIns="0" bIns="0" anchor="t" anchorCtr="0">
            <a:spAutoFit/>
          </a:bodyPr>
          <a:lstStyle/>
          <a:p>
            <a:pPr algn="l"/>
            <a:r>
              <a:rPr lang="zh-CN" sz="1650" b="1" dirty="0">
                <a:solidFill>
                  <a:srgbClr val="333333"/>
                </a:solidFill>
                <a:latin typeface="Arial"/>
                <a:ea typeface="Microsoft YaHei"/>
                <a:cs typeface="Arial"/>
              </a:rPr>
              <a:t>quantum mechanics.</a:t>
            </a:r>
          </a:p>
        </p:txBody>
      </p:sp>
      <p:sp>
        <p:nvSpPr>
          <p:cNvPr id="17" name="Ellipse 17"/>
          <p:cNvSpPr/>
          <p:nvPr/>
        </p:nvSpPr>
        <p:spPr>
          <a:xfrm>
            <a:off x="700088" y="2338388"/>
            <a:ext cx="85725" cy="85725"/>
          </a:xfrm>
          <a:prstGeom prst="ellipse">
            <a:avLst/>
          </a:prstGeom>
          <a:solidFill>
            <a:srgbClr val="0066CC"/>
          </a:solidFill>
          <a:ln>
            <a:noFill/>
          </a:ln>
        </p:spPr>
        <p:txBody>
          <a:bodyPr/>
          <a:lstStyle/>
          <a:p>
            <a:endParaRPr lang="zh-CN" altLang="en-US"/>
          </a:p>
        </p:txBody>
      </p:sp>
      <p:sp>
        <p:nvSpPr>
          <p:cNvPr id="18" name="TextBox 18"/>
          <p:cNvSpPr txBox="1"/>
          <p:nvPr/>
        </p:nvSpPr>
        <p:spPr>
          <a:xfrm>
            <a:off x="879158" y="2291239"/>
            <a:ext cx="2369368"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Quantum mechanics in the</a:t>
            </a:r>
          </a:p>
        </p:txBody>
      </p:sp>
      <p:sp>
        <p:nvSpPr>
          <p:cNvPr id="19" name="TextBox 19"/>
          <p:cNvSpPr txBox="1"/>
          <p:nvPr/>
        </p:nvSpPr>
        <p:spPr>
          <a:xfrm>
            <a:off x="879158" y="2529364"/>
            <a:ext cx="1615202"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Copenhagen model</a:t>
            </a:r>
          </a:p>
        </p:txBody>
      </p:sp>
      <p:sp>
        <p:nvSpPr>
          <p:cNvPr id="20" name="Ellipse 20"/>
          <p:cNvSpPr/>
          <p:nvPr/>
        </p:nvSpPr>
        <p:spPr>
          <a:xfrm>
            <a:off x="700088" y="2928938"/>
            <a:ext cx="85725" cy="85725"/>
          </a:xfrm>
          <a:prstGeom prst="ellipse">
            <a:avLst/>
          </a:prstGeom>
          <a:solidFill>
            <a:srgbClr val="0066CC"/>
          </a:solidFill>
          <a:ln>
            <a:noFill/>
          </a:ln>
        </p:spPr>
        <p:txBody>
          <a:bodyPr/>
          <a:lstStyle/>
          <a:p>
            <a:endParaRPr lang="zh-CN" altLang="en-US"/>
          </a:p>
        </p:txBody>
      </p:sp>
      <p:sp>
        <p:nvSpPr>
          <p:cNvPr id="21" name="TextBox 21"/>
          <p:cNvSpPr txBox="1"/>
          <p:nvPr/>
        </p:nvSpPr>
        <p:spPr>
          <a:xfrm>
            <a:off x="879158" y="2881789"/>
            <a:ext cx="3095601"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Observables = Hermitian matrices</a:t>
            </a:r>
          </a:p>
        </p:txBody>
      </p:sp>
      <p:sp>
        <p:nvSpPr>
          <p:cNvPr id="22" name="TextBox 22"/>
          <p:cNvSpPr txBox="1"/>
          <p:nvPr/>
        </p:nvSpPr>
        <p:spPr>
          <a:xfrm>
            <a:off x="879158" y="3119914"/>
            <a:ext cx="1214842"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or operators</a:t>
            </a:r>
          </a:p>
        </p:txBody>
      </p:sp>
      <p:sp>
        <p:nvSpPr>
          <p:cNvPr id="23" name="Ellipse 23"/>
          <p:cNvSpPr/>
          <p:nvPr/>
        </p:nvSpPr>
        <p:spPr>
          <a:xfrm>
            <a:off x="700088" y="3519488"/>
            <a:ext cx="85725" cy="85725"/>
          </a:xfrm>
          <a:prstGeom prst="ellipse">
            <a:avLst/>
          </a:prstGeom>
          <a:solidFill>
            <a:srgbClr val="0066CC"/>
          </a:solidFill>
          <a:ln>
            <a:noFill/>
          </a:ln>
        </p:spPr>
        <p:txBody>
          <a:bodyPr/>
          <a:lstStyle/>
          <a:p>
            <a:endParaRPr lang="zh-CN" altLang="en-US"/>
          </a:p>
        </p:txBody>
      </p:sp>
      <p:sp>
        <p:nvSpPr>
          <p:cNvPr id="24" name="TextBox 24"/>
          <p:cNvSpPr txBox="1"/>
          <p:nvPr/>
        </p:nvSpPr>
        <p:spPr>
          <a:xfrm>
            <a:off x="879158" y="3472339"/>
            <a:ext cx="2900077"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Ordinary matrix operations are</a:t>
            </a:r>
          </a:p>
        </p:txBody>
      </p:sp>
      <p:sp>
        <p:nvSpPr>
          <p:cNvPr id="25" name="TextBox 25"/>
          <p:cNvSpPr txBox="1"/>
          <p:nvPr/>
        </p:nvSpPr>
        <p:spPr>
          <a:xfrm>
            <a:off x="879158" y="3710464"/>
            <a:ext cx="1643134"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not all observable</a:t>
            </a:r>
          </a:p>
        </p:txBody>
      </p:sp>
      <p:sp>
        <p:nvSpPr>
          <p:cNvPr id="26" name="Ellipse 26"/>
          <p:cNvSpPr/>
          <p:nvPr/>
        </p:nvSpPr>
        <p:spPr>
          <a:xfrm>
            <a:off x="700088" y="4110038"/>
            <a:ext cx="85725" cy="85725"/>
          </a:xfrm>
          <a:prstGeom prst="ellipse">
            <a:avLst/>
          </a:prstGeom>
          <a:solidFill>
            <a:srgbClr val="0066CC"/>
          </a:solidFill>
          <a:ln>
            <a:noFill/>
          </a:ln>
        </p:spPr>
        <p:txBody>
          <a:bodyPr/>
          <a:lstStyle/>
          <a:p>
            <a:endParaRPr lang="zh-CN" altLang="en-US"/>
          </a:p>
        </p:txBody>
      </p:sp>
      <p:sp>
        <p:nvSpPr>
          <p:cNvPr id="27" name="TextBox 27"/>
          <p:cNvSpPr txBox="1"/>
          <p:nvPr/>
        </p:nvSpPr>
        <p:spPr>
          <a:xfrm>
            <a:off x="879158" y="4062889"/>
            <a:ext cx="2080736"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Jordan's 1932 program</a:t>
            </a:r>
          </a:p>
        </p:txBody>
      </p:sp>
      <p:pic>
        <p:nvPicPr>
          <p:cNvPr id="28" name="Image 28"/>
          <p:cNvPicPr>
            <a:picLocks noChangeAspect="1"/>
          </p:cNvPicPr>
          <p:nvPr/>
        </p:nvPicPr>
        <p:blipFill>
          <a:blip r:embed="rId3"/>
          <a:stretch>
            <a:fillRect/>
          </a:stretch>
        </p:blipFill>
        <p:spPr>
          <a:xfrm>
            <a:off x="6286500" y="1476375"/>
            <a:ext cx="5334000" cy="4333875"/>
          </a:xfrm>
          <a:prstGeom prst="rect">
            <a:avLst/>
          </a:prstGeom>
        </p:spPr>
      </p:pic>
      <p:sp>
        <p:nvSpPr>
          <p:cNvPr id="29" name="Freeform 29"/>
          <p:cNvSpPr/>
          <p:nvPr/>
        </p:nvSpPr>
        <p:spPr>
          <a:xfrm>
            <a:off x="6572250" y="5429250"/>
            <a:ext cx="1714500" cy="266700"/>
          </a:xfrm>
          <a:custGeom>
            <a:avLst/>
            <a:gdLst/>
            <a:ahLst/>
            <a:cxnLst/>
            <a:rect l="l" t="t" r="r" b="b"/>
            <a:pathLst>
              <a:path w="1714500" h="266700">
                <a:moveTo>
                  <a:pt x="133350" y="0"/>
                </a:moveTo>
                <a:lnTo>
                  <a:pt x="1581150" y="0"/>
                </a:lnTo>
                <a:cubicBezTo>
                  <a:pt x="1654797" y="0"/>
                  <a:pt x="1714500" y="59703"/>
                  <a:pt x="1714500" y="133350"/>
                </a:cubicBezTo>
                <a:lnTo>
                  <a:pt x="1714500" y="133350"/>
                </a:lnTo>
                <a:cubicBezTo>
                  <a:pt x="1714500" y="206997"/>
                  <a:pt x="1654797" y="266700"/>
                  <a:pt x="1581150" y="266700"/>
                </a:cubicBezTo>
                <a:lnTo>
                  <a:pt x="133350" y="266700"/>
                </a:lnTo>
                <a:cubicBezTo>
                  <a:pt x="59703" y="266700"/>
                  <a:pt x="0" y="206997"/>
                  <a:pt x="0" y="133350"/>
                </a:cubicBezTo>
                <a:lnTo>
                  <a:pt x="0" y="133350"/>
                </a:lnTo>
                <a:cubicBezTo>
                  <a:pt x="0" y="59703"/>
                  <a:pt x="59703" y="0"/>
                  <a:pt x="133350" y="0"/>
                </a:cubicBezTo>
                <a:close/>
              </a:path>
            </a:pathLst>
          </a:custGeom>
          <a:solidFill>
            <a:srgbClr val="003366"/>
          </a:solidFill>
          <a:ln>
            <a:noFill/>
          </a:ln>
        </p:spPr>
        <p:txBody>
          <a:bodyPr/>
          <a:lstStyle/>
          <a:p>
            <a:endParaRPr lang="zh-CN" altLang="en-US"/>
          </a:p>
        </p:txBody>
      </p:sp>
      <p:sp>
        <p:nvSpPr>
          <p:cNvPr id="30" name="TextBox 30"/>
          <p:cNvSpPr txBox="1"/>
          <p:nvPr/>
        </p:nvSpPr>
        <p:spPr>
          <a:xfrm>
            <a:off x="6514057" y="5513070"/>
            <a:ext cx="1830886"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Quantum-mechanical origin</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395002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04 Jordan's New Product</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653095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Quasi-multiplication keeps the algebra inside the observable world.</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04</a:t>
            </a:r>
          </a:p>
        </p:txBody>
      </p:sp>
      <p:sp>
        <p:nvSpPr>
          <p:cNvPr id="13" name="Freeform 13"/>
          <p:cNvSpPr/>
          <p:nvPr/>
        </p:nvSpPr>
        <p:spPr>
          <a:xfrm>
            <a:off x="666750" y="1571625"/>
            <a:ext cx="2857500" cy="4095750"/>
          </a:xfrm>
          <a:custGeom>
            <a:avLst/>
            <a:gdLst/>
            <a:ahLst/>
            <a:cxnLst/>
            <a:rect l="l" t="t" r="r" b="b"/>
            <a:pathLst>
              <a:path w="2857500" h="4095750">
                <a:moveTo>
                  <a:pt x="95250" y="0"/>
                </a:moveTo>
                <a:lnTo>
                  <a:pt x="2762250" y="0"/>
                </a:lnTo>
                <a:cubicBezTo>
                  <a:pt x="2814855" y="0"/>
                  <a:pt x="2857500" y="42645"/>
                  <a:pt x="2857500" y="95250"/>
                </a:cubicBezTo>
                <a:lnTo>
                  <a:pt x="2857500" y="4000500"/>
                </a:lnTo>
                <a:cubicBezTo>
                  <a:pt x="2857500" y="4053105"/>
                  <a:pt x="2814855" y="4095750"/>
                  <a:pt x="2762250" y="4095750"/>
                </a:cubicBezTo>
                <a:lnTo>
                  <a:pt x="95250" y="4095750"/>
                </a:lnTo>
                <a:cubicBezTo>
                  <a:pt x="42645" y="4095750"/>
                  <a:pt x="0" y="4053105"/>
                  <a:pt x="0" y="400050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pic>
        <p:nvPicPr>
          <p:cNvPr id="14" name="Image 14"/>
          <p:cNvPicPr>
            <a:picLocks noChangeAspect="1"/>
          </p:cNvPicPr>
          <p:nvPr/>
        </p:nvPicPr>
        <p:blipFill>
          <a:blip r:embed="rId3"/>
          <a:stretch>
            <a:fillRect/>
          </a:stretch>
        </p:blipFill>
        <p:spPr>
          <a:xfrm>
            <a:off x="1047750" y="1857375"/>
            <a:ext cx="2095500" cy="2667000"/>
          </a:xfrm>
          <a:prstGeom prst="rect">
            <a:avLst/>
          </a:prstGeom>
        </p:spPr>
      </p:pic>
      <p:sp>
        <p:nvSpPr>
          <p:cNvPr id="15" name="Freeform 15"/>
          <p:cNvSpPr/>
          <p:nvPr/>
        </p:nvSpPr>
        <p:spPr>
          <a:xfrm>
            <a:off x="904875" y="4667250"/>
            <a:ext cx="2381250" cy="742950"/>
          </a:xfrm>
          <a:custGeom>
            <a:avLst/>
            <a:gdLst/>
            <a:ahLst/>
            <a:cxnLst/>
            <a:rect l="l" t="t" r="r" b="b"/>
            <a:pathLst>
              <a:path w="2381250" h="742950">
                <a:moveTo>
                  <a:pt x="95250" y="0"/>
                </a:moveTo>
                <a:lnTo>
                  <a:pt x="2286000" y="0"/>
                </a:lnTo>
                <a:cubicBezTo>
                  <a:pt x="2338605" y="0"/>
                  <a:pt x="2381250" y="42645"/>
                  <a:pt x="2381250" y="95250"/>
                </a:cubicBezTo>
                <a:lnTo>
                  <a:pt x="2381250" y="647700"/>
                </a:lnTo>
                <a:cubicBezTo>
                  <a:pt x="2381250" y="700305"/>
                  <a:pt x="2338605" y="742950"/>
                  <a:pt x="2286000" y="742950"/>
                </a:cubicBezTo>
                <a:lnTo>
                  <a:pt x="95250" y="742950"/>
                </a:lnTo>
                <a:cubicBezTo>
                  <a:pt x="42645" y="742950"/>
                  <a:pt x="0" y="700305"/>
                  <a:pt x="0" y="647700"/>
                </a:cubicBezTo>
                <a:lnTo>
                  <a:pt x="0" y="95250"/>
                </a:lnTo>
                <a:cubicBezTo>
                  <a:pt x="0" y="42645"/>
                  <a:pt x="42645" y="0"/>
                  <a:pt x="95250" y="0"/>
                </a:cubicBezTo>
                <a:close/>
              </a:path>
            </a:pathLst>
          </a:custGeom>
          <a:solidFill>
            <a:srgbClr val="FFFFFF"/>
          </a:solidFill>
          <a:ln w="9525">
            <a:solidFill>
              <a:srgbClr val="BFD3EA"/>
            </a:solidFill>
          </a:ln>
        </p:spPr>
        <p:txBody>
          <a:bodyPr/>
          <a:lstStyle/>
          <a:p>
            <a:endParaRPr lang="zh-CN" altLang="en-US"/>
          </a:p>
        </p:txBody>
      </p:sp>
      <p:sp>
        <p:nvSpPr>
          <p:cNvPr id="16" name="TextBox 16"/>
          <p:cNvSpPr txBox="1"/>
          <p:nvPr/>
        </p:nvSpPr>
        <p:spPr>
          <a:xfrm>
            <a:off x="1333062" y="4807268"/>
            <a:ext cx="1524876"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Pascual Jordan</a:t>
            </a:r>
          </a:p>
        </p:txBody>
      </p:sp>
      <p:sp>
        <p:nvSpPr>
          <p:cNvPr id="17" name="TextBox 17"/>
          <p:cNvSpPr txBox="1"/>
          <p:nvPr/>
        </p:nvSpPr>
        <p:spPr>
          <a:xfrm>
            <a:off x="1617722" y="5054918"/>
            <a:ext cx="955555"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1902-1980</a:t>
            </a:r>
          </a:p>
        </p:txBody>
      </p:sp>
      <p:sp>
        <p:nvSpPr>
          <p:cNvPr id="18" name="Freeform 18"/>
          <p:cNvSpPr/>
          <p:nvPr/>
        </p:nvSpPr>
        <p:spPr>
          <a:xfrm>
            <a:off x="3810000" y="1571625"/>
            <a:ext cx="7620000" cy="4095750"/>
          </a:xfrm>
          <a:custGeom>
            <a:avLst/>
            <a:gdLst/>
            <a:ahLst/>
            <a:cxnLst/>
            <a:rect l="l" t="t" r="r" b="b"/>
            <a:pathLst>
              <a:path w="7620000" h="4095750">
                <a:moveTo>
                  <a:pt x="95250" y="0"/>
                </a:moveTo>
                <a:lnTo>
                  <a:pt x="7524750" y="0"/>
                </a:lnTo>
                <a:cubicBezTo>
                  <a:pt x="7577355" y="0"/>
                  <a:pt x="7620000" y="42645"/>
                  <a:pt x="7620000" y="95250"/>
                </a:cubicBezTo>
                <a:lnTo>
                  <a:pt x="7620000" y="4000500"/>
                </a:lnTo>
                <a:cubicBezTo>
                  <a:pt x="7620000" y="4053105"/>
                  <a:pt x="7577355" y="4095750"/>
                  <a:pt x="7524750" y="4095750"/>
                </a:cubicBezTo>
                <a:lnTo>
                  <a:pt x="95250" y="4095750"/>
                </a:lnTo>
                <a:cubicBezTo>
                  <a:pt x="42645" y="4095750"/>
                  <a:pt x="0" y="4053105"/>
                  <a:pt x="0" y="40005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9" name="TextBox 19"/>
          <p:cNvSpPr txBox="1"/>
          <p:nvPr/>
        </p:nvSpPr>
        <p:spPr>
          <a:xfrm>
            <a:off x="4263390" y="1901190"/>
            <a:ext cx="2695651" cy="365760"/>
          </a:xfrm>
          <a:prstGeom prst="rect">
            <a:avLst/>
          </a:prstGeom>
          <a:noFill/>
          <a:ln>
            <a:noFill/>
          </a:ln>
        </p:spPr>
        <p:txBody>
          <a:bodyPr wrap="none" lIns="0" tIns="0" rIns="0" bIns="0" anchor="t" anchorCtr="0">
            <a:spAutoFit/>
          </a:bodyPr>
          <a:lstStyle/>
          <a:p>
            <a:pPr algn="l"/>
            <a:r>
              <a:rPr lang="zh-CN" sz="1800" b="1" dirty="0">
                <a:solidFill>
                  <a:srgbClr val="003366"/>
                </a:solidFill>
                <a:latin typeface="Arial"/>
                <a:ea typeface="Microsoft YaHei"/>
                <a:cs typeface="Arial"/>
              </a:rPr>
              <a:t>Jordan's key move:</a:t>
            </a:r>
          </a:p>
        </p:txBody>
      </p:sp>
      <p:sp>
        <p:nvSpPr>
          <p:cNvPr id="20" name="TextBox 20"/>
          <p:cNvSpPr txBox="1"/>
          <p:nvPr/>
        </p:nvSpPr>
        <p:spPr>
          <a:xfrm>
            <a:off x="5720357" y="2486978"/>
            <a:ext cx="3799287" cy="518160"/>
          </a:xfrm>
          <a:prstGeom prst="rect">
            <a:avLst/>
          </a:prstGeom>
          <a:noFill/>
          <a:ln>
            <a:noFill/>
          </a:ln>
        </p:spPr>
        <p:txBody>
          <a:bodyPr wrap="none" lIns="0" tIns="0" rIns="0" bIns="0" anchor="t" anchorCtr="0">
            <a:spAutoFit/>
          </a:bodyPr>
          <a:lstStyle/>
          <a:p>
            <a:pPr algn="ctr"/>
            <a:r>
              <a:rPr lang="zh-CN" sz="2550" b="1" dirty="0">
                <a:solidFill>
                  <a:srgbClr val="CC0000"/>
                </a:solidFill>
                <a:latin typeface="Arial"/>
                <a:ea typeface="Microsoft YaHei"/>
                <a:cs typeface="Arial"/>
              </a:rPr>
              <a:t>x o y = 1/2 (xy + yx)</a:t>
            </a:r>
          </a:p>
        </p:txBody>
      </p:sp>
      <p:sp>
        <p:nvSpPr>
          <p:cNvPr id="21" name="Ellipse 21"/>
          <p:cNvSpPr/>
          <p:nvPr/>
        </p:nvSpPr>
        <p:spPr>
          <a:xfrm>
            <a:off x="4243388" y="3338512"/>
            <a:ext cx="85725" cy="85725"/>
          </a:xfrm>
          <a:prstGeom prst="ellipse">
            <a:avLst/>
          </a:prstGeom>
          <a:solidFill>
            <a:srgbClr val="0066CC"/>
          </a:solidFill>
          <a:ln>
            <a:noFill/>
          </a:ln>
        </p:spPr>
        <p:txBody>
          <a:bodyPr/>
          <a:lstStyle/>
          <a:p>
            <a:endParaRPr lang="zh-CN" altLang="en-US"/>
          </a:p>
        </p:txBody>
      </p:sp>
      <p:sp>
        <p:nvSpPr>
          <p:cNvPr id="22" name="TextBox 22"/>
          <p:cNvSpPr txBox="1"/>
          <p:nvPr/>
        </p:nvSpPr>
        <p:spPr>
          <a:xfrm>
            <a:off x="4421505" y="3283268"/>
            <a:ext cx="2094690"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Quasi-multiplication:</a:t>
            </a:r>
          </a:p>
        </p:txBody>
      </p:sp>
      <p:sp>
        <p:nvSpPr>
          <p:cNvPr id="23" name="Ellipse 23"/>
          <p:cNvSpPr/>
          <p:nvPr/>
        </p:nvSpPr>
        <p:spPr>
          <a:xfrm>
            <a:off x="4243388" y="3700462"/>
            <a:ext cx="85725" cy="85725"/>
          </a:xfrm>
          <a:prstGeom prst="ellipse">
            <a:avLst/>
          </a:prstGeom>
          <a:solidFill>
            <a:srgbClr val="0066CC"/>
          </a:solidFill>
          <a:ln>
            <a:noFill/>
          </a:ln>
        </p:spPr>
        <p:txBody>
          <a:bodyPr/>
          <a:lstStyle/>
          <a:p>
            <a:endParaRPr lang="zh-CN" altLang="en-US"/>
          </a:p>
        </p:txBody>
      </p:sp>
      <p:sp>
        <p:nvSpPr>
          <p:cNvPr id="24" name="TextBox 24"/>
          <p:cNvSpPr txBox="1"/>
          <p:nvPr/>
        </p:nvSpPr>
        <p:spPr>
          <a:xfrm>
            <a:off x="4421505" y="3645218"/>
            <a:ext cx="125672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Commutative</a:t>
            </a:r>
          </a:p>
        </p:txBody>
      </p:sp>
      <p:sp>
        <p:nvSpPr>
          <p:cNvPr id="25" name="Ellipse 25"/>
          <p:cNvSpPr/>
          <p:nvPr/>
        </p:nvSpPr>
        <p:spPr>
          <a:xfrm>
            <a:off x="4243388" y="4062412"/>
            <a:ext cx="85725" cy="85725"/>
          </a:xfrm>
          <a:prstGeom prst="ellipse">
            <a:avLst/>
          </a:prstGeom>
          <a:solidFill>
            <a:srgbClr val="0066CC"/>
          </a:solidFill>
          <a:ln>
            <a:noFill/>
          </a:ln>
        </p:spPr>
        <p:txBody>
          <a:bodyPr/>
          <a:lstStyle/>
          <a:p>
            <a:endParaRPr lang="zh-CN" altLang="en-US"/>
          </a:p>
        </p:txBody>
      </p:sp>
      <p:sp>
        <p:nvSpPr>
          <p:cNvPr id="26" name="TextBox 26"/>
          <p:cNvSpPr txBox="1"/>
          <p:nvPr/>
        </p:nvSpPr>
        <p:spPr>
          <a:xfrm>
            <a:off x="4421505" y="4007168"/>
            <a:ext cx="290307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Preserves Hermitian elements</a:t>
            </a:r>
          </a:p>
        </p:txBody>
      </p:sp>
      <p:sp>
        <p:nvSpPr>
          <p:cNvPr id="27" name="Ellipse 27"/>
          <p:cNvSpPr/>
          <p:nvPr/>
        </p:nvSpPr>
        <p:spPr>
          <a:xfrm>
            <a:off x="4243388" y="4424362"/>
            <a:ext cx="85725" cy="85725"/>
          </a:xfrm>
          <a:prstGeom prst="ellipse">
            <a:avLst/>
          </a:prstGeom>
          <a:solidFill>
            <a:srgbClr val="0066CC"/>
          </a:solidFill>
          <a:ln>
            <a:noFill/>
          </a:ln>
        </p:spPr>
        <p:txBody>
          <a:bodyPr/>
          <a:lstStyle/>
          <a:p>
            <a:endParaRPr lang="zh-CN" altLang="en-US"/>
          </a:p>
        </p:txBody>
      </p:sp>
      <p:sp>
        <p:nvSpPr>
          <p:cNvPr id="28" name="TextBox 28"/>
          <p:cNvSpPr txBox="1"/>
          <p:nvPr/>
        </p:nvSpPr>
        <p:spPr>
          <a:xfrm>
            <a:off x="4421505" y="4369118"/>
            <a:ext cx="310024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Starting point of Jordan theory</a:t>
            </a: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293560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05 Basic Definition</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8285750"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algebras are commutative algebras satisfying a special associativity-like law.</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05</a:t>
            </a:r>
          </a:p>
        </p:txBody>
      </p:sp>
      <p:sp>
        <p:nvSpPr>
          <p:cNvPr id="13" name="Freeform 13"/>
          <p:cNvSpPr/>
          <p:nvPr/>
        </p:nvSpPr>
        <p:spPr>
          <a:xfrm>
            <a:off x="666750" y="1571625"/>
            <a:ext cx="10858500" cy="1143000"/>
          </a:xfrm>
          <a:custGeom>
            <a:avLst/>
            <a:gdLst/>
            <a:ahLst/>
            <a:cxnLst/>
            <a:rect l="l" t="t" r="r" b="b"/>
            <a:pathLst>
              <a:path w="10858500" h="1143000">
                <a:moveTo>
                  <a:pt x="95250" y="0"/>
                </a:moveTo>
                <a:lnTo>
                  <a:pt x="10763250" y="0"/>
                </a:lnTo>
                <a:cubicBezTo>
                  <a:pt x="10815855" y="0"/>
                  <a:pt x="10858500" y="42645"/>
                  <a:pt x="10858500" y="95250"/>
                </a:cubicBezTo>
                <a:lnTo>
                  <a:pt x="10858500" y="1047750"/>
                </a:lnTo>
                <a:cubicBezTo>
                  <a:pt x="10858500" y="1100355"/>
                  <a:pt x="10815855" y="1143000"/>
                  <a:pt x="10763250" y="1143000"/>
                </a:cubicBezTo>
                <a:lnTo>
                  <a:pt x="95250" y="1143000"/>
                </a:lnTo>
                <a:cubicBezTo>
                  <a:pt x="42645" y="1143000"/>
                  <a:pt x="0" y="1100355"/>
                  <a:pt x="0" y="1047750"/>
                </a:cubicBezTo>
                <a:lnTo>
                  <a:pt x="0" y="95250"/>
                </a:lnTo>
                <a:cubicBezTo>
                  <a:pt x="0" y="42645"/>
                  <a:pt x="42645" y="0"/>
                  <a:pt x="95250" y="0"/>
                </a:cubicBezTo>
                <a:close/>
              </a:path>
            </a:pathLst>
          </a:custGeom>
          <a:solidFill>
            <a:srgbClr val="E8F4FC"/>
          </a:solidFill>
          <a:ln w="19050">
            <a:solidFill>
              <a:srgbClr val="0066CC"/>
            </a:solidFill>
          </a:ln>
        </p:spPr>
        <p:txBody>
          <a:bodyPr/>
          <a:lstStyle/>
          <a:p>
            <a:endParaRPr lang="zh-CN" altLang="en-US"/>
          </a:p>
        </p:txBody>
      </p:sp>
      <p:sp>
        <p:nvSpPr>
          <p:cNvPr id="14" name="TextBox 14"/>
          <p:cNvSpPr txBox="1"/>
          <p:nvPr/>
        </p:nvSpPr>
        <p:spPr>
          <a:xfrm>
            <a:off x="5126176" y="1869758"/>
            <a:ext cx="1939647" cy="335280"/>
          </a:xfrm>
          <a:prstGeom prst="rect">
            <a:avLst/>
          </a:prstGeom>
          <a:noFill/>
          <a:ln>
            <a:noFill/>
          </a:ln>
        </p:spPr>
        <p:txBody>
          <a:bodyPr wrap="none" lIns="0" tIns="0" rIns="0" bIns="0" anchor="t" anchorCtr="0">
            <a:spAutoFit/>
          </a:bodyPr>
          <a:lstStyle/>
          <a:p>
            <a:pPr algn="ctr"/>
            <a:r>
              <a:rPr lang="zh-CN" sz="1650" b="1" dirty="0">
                <a:solidFill>
                  <a:srgbClr val="003366"/>
                </a:solidFill>
                <a:latin typeface="Arial"/>
                <a:ea typeface="Microsoft YaHei"/>
                <a:cs typeface="Arial"/>
              </a:rPr>
              <a:t>Jordan identity</a:t>
            </a:r>
          </a:p>
        </p:txBody>
      </p:sp>
      <p:sp>
        <p:nvSpPr>
          <p:cNvPr id="15" name="TextBox 15"/>
          <p:cNvSpPr txBox="1"/>
          <p:nvPr/>
        </p:nvSpPr>
        <p:spPr>
          <a:xfrm>
            <a:off x="3590411" y="2169795"/>
            <a:ext cx="5011179" cy="487680"/>
          </a:xfrm>
          <a:prstGeom prst="rect">
            <a:avLst/>
          </a:prstGeom>
          <a:noFill/>
          <a:ln>
            <a:noFill/>
          </a:ln>
        </p:spPr>
        <p:txBody>
          <a:bodyPr wrap="none" lIns="0" tIns="0" rIns="0" bIns="0" anchor="t" anchorCtr="0">
            <a:spAutoFit/>
          </a:bodyPr>
          <a:lstStyle/>
          <a:p>
            <a:pPr algn="ctr"/>
            <a:r>
              <a:rPr lang="zh-CN" sz="2400" b="1" dirty="0">
                <a:solidFill>
                  <a:srgbClr val="CC0000"/>
                </a:solidFill>
                <a:latin typeface="Arial"/>
                <a:ea typeface="Microsoft YaHei"/>
                <a:cs typeface="Arial"/>
              </a:rPr>
              <a:t>(x^2 o y) o x = x^2 o (y o x)</a:t>
            </a:r>
          </a:p>
        </p:txBody>
      </p:sp>
      <p:sp>
        <p:nvSpPr>
          <p:cNvPr id="16" name="Freeform 16"/>
          <p:cNvSpPr/>
          <p:nvPr/>
        </p:nvSpPr>
        <p:spPr>
          <a:xfrm>
            <a:off x="666750" y="3048000"/>
            <a:ext cx="3429000" cy="2381250"/>
          </a:xfrm>
          <a:custGeom>
            <a:avLst/>
            <a:gdLst/>
            <a:ahLst/>
            <a:cxnLst/>
            <a:rect l="l" t="t" r="r" b="b"/>
            <a:pathLst>
              <a:path w="3429000" h="2381250">
                <a:moveTo>
                  <a:pt x="95250" y="0"/>
                </a:moveTo>
                <a:lnTo>
                  <a:pt x="3333750" y="0"/>
                </a:lnTo>
                <a:cubicBezTo>
                  <a:pt x="3386355" y="0"/>
                  <a:pt x="3429000" y="42645"/>
                  <a:pt x="3429000" y="95250"/>
                </a:cubicBezTo>
                <a:lnTo>
                  <a:pt x="3429000" y="2286000"/>
                </a:lnTo>
                <a:cubicBezTo>
                  <a:pt x="3429000" y="2338605"/>
                  <a:pt x="3386355" y="2381250"/>
                  <a:pt x="3333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7" name="TextBox 17"/>
          <p:cNvSpPr txBox="1"/>
          <p:nvPr/>
        </p:nvSpPr>
        <p:spPr>
          <a:xfrm>
            <a:off x="1759345" y="3298508"/>
            <a:ext cx="1243810" cy="335280"/>
          </a:xfrm>
          <a:prstGeom prst="rect">
            <a:avLst/>
          </a:prstGeom>
          <a:noFill/>
          <a:ln>
            <a:noFill/>
          </a:ln>
        </p:spPr>
        <p:txBody>
          <a:bodyPr wrap="none" lIns="0" tIns="0" rIns="0" bIns="0" anchor="t" anchorCtr="0">
            <a:spAutoFit/>
          </a:bodyPr>
          <a:lstStyle/>
          <a:p>
            <a:pPr algn="ctr"/>
            <a:r>
              <a:rPr lang="zh-CN" sz="1650" b="1" dirty="0">
                <a:solidFill>
                  <a:srgbClr val="003366"/>
                </a:solidFill>
                <a:latin typeface="Arial"/>
                <a:ea typeface="Microsoft YaHei"/>
                <a:cs typeface="Arial"/>
              </a:rPr>
              <a:t>Definition</a:t>
            </a:r>
          </a:p>
        </p:txBody>
      </p:sp>
      <p:sp>
        <p:nvSpPr>
          <p:cNvPr id="18" name="Ellipse 18"/>
          <p:cNvSpPr/>
          <p:nvPr/>
        </p:nvSpPr>
        <p:spPr>
          <a:xfrm>
            <a:off x="862012" y="3814762"/>
            <a:ext cx="85725" cy="85725"/>
          </a:xfrm>
          <a:prstGeom prst="ellipse">
            <a:avLst/>
          </a:prstGeom>
          <a:solidFill>
            <a:srgbClr val="0066CC"/>
          </a:solidFill>
          <a:ln>
            <a:noFill/>
          </a:ln>
        </p:spPr>
        <p:txBody>
          <a:bodyPr/>
          <a:lstStyle/>
          <a:p>
            <a:endParaRPr lang="zh-CN" altLang="en-US"/>
          </a:p>
        </p:txBody>
      </p:sp>
      <p:sp>
        <p:nvSpPr>
          <p:cNvPr id="19" name="TextBox 19"/>
          <p:cNvSpPr txBox="1"/>
          <p:nvPr/>
        </p:nvSpPr>
        <p:spPr>
          <a:xfrm>
            <a:off x="1041082" y="3767614"/>
            <a:ext cx="1903833"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A Jordan algebra is a</a:t>
            </a:r>
          </a:p>
        </p:txBody>
      </p:sp>
      <p:sp>
        <p:nvSpPr>
          <p:cNvPr id="20" name="TextBox 20"/>
          <p:cNvSpPr txBox="1"/>
          <p:nvPr/>
        </p:nvSpPr>
        <p:spPr>
          <a:xfrm>
            <a:off x="1041082" y="4005739"/>
            <a:ext cx="1913144"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commutative algebra</a:t>
            </a:r>
          </a:p>
        </p:txBody>
      </p:sp>
      <p:sp>
        <p:nvSpPr>
          <p:cNvPr id="21" name="Ellipse 21"/>
          <p:cNvSpPr/>
          <p:nvPr/>
        </p:nvSpPr>
        <p:spPr>
          <a:xfrm>
            <a:off x="862012" y="4405312"/>
            <a:ext cx="85725" cy="85725"/>
          </a:xfrm>
          <a:prstGeom prst="ellipse">
            <a:avLst/>
          </a:prstGeom>
          <a:solidFill>
            <a:srgbClr val="0066CC"/>
          </a:solidFill>
          <a:ln>
            <a:noFill/>
          </a:ln>
        </p:spPr>
        <p:txBody>
          <a:bodyPr/>
          <a:lstStyle/>
          <a:p>
            <a:endParaRPr lang="zh-CN" altLang="en-US"/>
          </a:p>
        </p:txBody>
      </p:sp>
      <p:sp>
        <p:nvSpPr>
          <p:cNvPr id="22" name="TextBox 22"/>
          <p:cNvSpPr txBox="1"/>
          <p:nvPr/>
        </p:nvSpPr>
        <p:spPr>
          <a:xfrm>
            <a:off x="1041082" y="4358164"/>
            <a:ext cx="2108668"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It satisfies the Jordan</a:t>
            </a:r>
          </a:p>
        </p:txBody>
      </p:sp>
      <p:sp>
        <p:nvSpPr>
          <p:cNvPr id="23" name="TextBox 23"/>
          <p:cNvSpPr txBox="1"/>
          <p:nvPr/>
        </p:nvSpPr>
        <p:spPr>
          <a:xfrm>
            <a:off x="1041082" y="4596289"/>
            <a:ext cx="758619"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identity</a:t>
            </a:r>
          </a:p>
        </p:txBody>
      </p:sp>
      <p:sp>
        <p:nvSpPr>
          <p:cNvPr id="24" name="Freeform 24"/>
          <p:cNvSpPr/>
          <p:nvPr/>
        </p:nvSpPr>
        <p:spPr>
          <a:xfrm>
            <a:off x="4286250" y="3048000"/>
            <a:ext cx="3429000" cy="2381250"/>
          </a:xfrm>
          <a:custGeom>
            <a:avLst/>
            <a:gdLst/>
            <a:ahLst/>
            <a:cxnLst/>
            <a:rect l="l" t="t" r="r" b="b"/>
            <a:pathLst>
              <a:path w="3429000" h="2381250">
                <a:moveTo>
                  <a:pt x="95250" y="0"/>
                </a:moveTo>
                <a:lnTo>
                  <a:pt x="3333750" y="0"/>
                </a:lnTo>
                <a:cubicBezTo>
                  <a:pt x="3386355" y="0"/>
                  <a:pt x="3429000" y="42645"/>
                  <a:pt x="3429000" y="95250"/>
                </a:cubicBezTo>
                <a:lnTo>
                  <a:pt x="3429000" y="2286000"/>
                </a:lnTo>
                <a:cubicBezTo>
                  <a:pt x="3429000" y="2338605"/>
                  <a:pt x="3386355" y="2381250"/>
                  <a:pt x="3333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25" name="TextBox 25"/>
          <p:cNvSpPr txBox="1"/>
          <p:nvPr/>
        </p:nvSpPr>
        <p:spPr>
          <a:xfrm>
            <a:off x="4917062" y="3298508"/>
            <a:ext cx="2167376" cy="335280"/>
          </a:xfrm>
          <a:prstGeom prst="rect">
            <a:avLst/>
          </a:prstGeom>
          <a:noFill/>
          <a:ln>
            <a:noFill/>
          </a:ln>
        </p:spPr>
        <p:txBody>
          <a:bodyPr wrap="none" lIns="0" tIns="0" rIns="0" bIns="0" anchor="t" anchorCtr="0">
            <a:spAutoFit/>
          </a:bodyPr>
          <a:lstStyle/>
          <a:p>
            <a:pPr algn="ctr"/>
            <a:r>
              <a:rPr lang="zh-CN" sz="1650" b="1" dirty="0">
                <a:solidFill>
                  <a:srgbClr val="003366"/>
                </a:solidFill>
                <a:latin typeface="Arial"/>
                <a:ea typeface="Microsoft YaHei"/>
                <a:cs typeface="Arial"/>
              </a:rPr>
              <a:t>Physical intuition</a:t>
            </a:r>
          </a:p>
        </p:txBody>
      </p:sp>
      <p:sp>
        <p:nvSpPr>
          <p:cNvPr id="26" name="Ellipse 26"/>
          <p:cNvSpPr/>
          <p:nvPr/>
        </p:nvSpPr>
        <p:spPr>
          <a:xfrm>
            <a:off x="4481512" y="3814762"/>
            <a:ext cx="85725" cy="85725"/>
          </a:xfrm>
          <a:prstGeom prst="ellipse">
            <a:avLst/>
          </a:prstGeom>
          <a:solidFill>
            <a:srgbClr val="0066CC"/>
          </a:solidFill>
          <a:ln>
            <a:noFill/>
          </a:ln>
        </p:spPr>
        <p:txBody>
          <a:bodyPr/>
          <a:lstStyle/>
          <a:p>
            <a:endParaRPr lang="zh-CN" altLang="en-US"/>
          </a:p>
        </p:txBody>
      </p:sp>
      <p:sp>
        <p:nvSpPr>
          <p:cNvPr id="27" name="TextBox 27"/>
          <p:cNvSpPr txBox="1"/>
          <p:nvPr/>
        </p:nvSpPr>
        <p:spPr>
          <a:xfrm>
            <a:off x="4660582" y="3767614"/>
            <a:ext cx="1270706"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Built to model</a:t>
            </a:r>
          </a:p>
        </p:txBody>
      </p:sp>
      <p:sp>
        <p:nvSpPr>
          <p:cNvPr id="28" name="TextBox 28"/>
          <p:cNvSpPr txBox="1"/>
          <p:nvPr/>
        </p:nvSpPr>
        <p:spPr>
          <a:xfrm>
            <a:off x="4660582" y="4005739"/>
            <a:ext cx="1112425"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observables</a:t>
            </a:r>
          </a:p>
        </p:txBody>
      </p:sp>
      <p:sp>
        <p:nvSpPr>
          <p:cNvPr id="29" name="Ellipse 29"/>
          <p:cNvSpPr/>
          <p:nvPr/>
        </p:nvSpPr>
        <p:spPr>
          <a:xfrm>
            <a:off x="4481512" y="4405312"/>
            <a:ext cx="85725" cy="85725"/>
          </a:xfrm>
          <a:prstGeom prst="ellipse">
            <a:avLst/>
          </a:prstGeom>
          <a:solidFill>
            <a:srgbClr val="0066CC"/>
          </a:solidFill>
          <a:ln>
            <a:noFill/>
          </a:ln>
        </p:spPr>
        <p:txBody>
          <a:bodyPr/>
          <a:lstStyle/>
          <a:p>
            <a:endParaRPr lang="zh-CN" altLang="en-US"/>
          </a:p>
        </p:txBody>
      </p:sp>
      <p:sp>
        <p:nvSpPr>
          <p:cNvPr id="30" name="TextBox 30"/>
          <p:cNvSpPr txBox="1"/>
          <p:nvPr/>
        </p:nvSpPr>
        <p:spPr>
          <a:xfrm>
            <a:off x="4660582" y="4358164"/>
            <a:ext cx="2332125"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inside quantum mechanics</a:t>
            </a:r>
          </a:p>
        </p:txBody>
      </p:sp>
      <p:sp>
        <p:nvSpPr>
          <p:cNvPr id="31" name="Freeform 31"/>
          <p:cNvSpPr/>
          <p:nvPr/>
        </p:nvSpPr>
        <p:spPr>
          <a:xfrm>
            <a:off x="7905750" y="3048000"/>
            <a:ext cx="3429000" cy="2381250"/>
          </a:xfrm>
          <a:custGeom>
            <a:avLst/>
            <a:gdLst/>
            <a:ahLst/>
            <a:cxnLst/>
            <a:rect l="l" t="t" r="r" b="b"/>
            <a:pathLst>
              <a:path w="3429000" h="2381250">
                <a:moveTo>
                  <a:pt x="95250" y="0"/>
                </a:moveTo>
                <a:lnTo>
                  <a:pt x="3333750" y="0"/>
                </a:lnTo>
                <a:cubicBezTo>
                  <a:pt x="3386355" y="0"/>
                  <a:pt x="3429000" y="42645"/>
                  <a:pt x="3429000" y="95250"/>
                </a:cubicBezTo>
                <a:lnTo>
                  <a:pt x="3429000" y="2286000"/>
                </a:lnTo>
                <a:cubicBezTo>
                  <a:pt x="3429000" y="2338605"/>
                  <a:pt x="3386355" y="2381250"/>
                  <a:pt x="3333750" y="2381250"/>
                </a:cubicBezTo>
                <a:lnTo>
                  <a:pt x="95250" y="2381250"/>
                </a:lnTo>
                <a:cubicBezTo>
                  <a:pt x="42645" y="2381250"/>
                  <a:pt x="0" y="2338605"/>
                  <a:pt x="0" y="22860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32" name="TextBox 32"/>
          <p:cNvSpPr txBox="1"/>
          <p:nvPr/>
        </p:nvSpPr>
        <p:spPr>
          <a:xfrm>
            <a:off x="8523911" y="3298508"/>
            <a:ext cx="2192679" cy="335280"/>
          </a:xfrm>
          <a:prstGeom prst="rect">
            <a:avLst/>
          </a:prstGeom>
          <a:noFill/>
          <a:ln>
            <a:noFill/>
          </a:ln>
        </p:spPr>
        <p:txBody>
          <a:bodyPr wrap="none" lIns="0" tIns="0" rIns="0" bIns="0" anchor="t" anchorCtr="0">
            <a:spAutoFit/>
          </a:bodyPr>
          <a:lstStyle/>
          <a:p>
            <a:pPr algn="ctr"/>
            <a:r>
              <a:rPr lang="zh-CN" sz="1650" b="1" dirty="0">
                <a:solidFill>
                  <a:srgbClr val="003366"/>
                </a:solidFill>
                <a:latin typeface="Arial"/>
                <a:ea typeface="Microsoft YaHei"/>
                <a:cs typeface="Arial"/>
              </a:rPr>
              <a:t>Original emphasis</a:t>
            </a:r>
          </a:p>
        </p:txBody>
      </p:sp>
      <p:sp>
        <p:nvSpPr>
          <p:cNvPr id="33" name="Ellipse 33"/>
          <p:cNvSpPr/>
          <p:nvPr/>
        </p:nvSpPr>
        <p:spPr>
          <a:xfrm>
            <a:off x="8101012" y="3814762"/>
            <a:ext cx="85725" cy="85725"/>
          </a:xfrm>
          <a:prstGeom prst="ellipse">
            <a:avLst/>
          </a:prstGeom>
          <a:solidFill>
            <a:srgbClr val="0066CC"/>
          </a:solidFill>
          <a:ln>
            <a:noFill/>
          </a:ln>
        </p:spPr>
        <p:txBody>
          <a:bodyPr/>
          <a:lstStyle/>
          <a:p>
            <a:endParaRPr lang="zh-CN" altLang="en-US"/>
          </a:p>
        </p:txBody>
      </p:sp>
      <p:sp>
        <p:nvSpPr>
          <p:cNvPr id="34" name="TextBox 34"/>
          <p:cNvSpPr txBox="1"/>
          <p:nvPr/>
        </p:nvSpPr>
        <p:spPr>
          <a:xfrm>
            <a:off x="8280082" y="3767614"/>
            <a:ext cx="2052804"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Originally also studied</a:t>
            </a:r>
          </a:p>
        </p:txBody>
      </p:sp>
      <p:sp>
        <p:nvSpPr>
          <p:cNvPr id="35" name="TextBox 35"/>
          <p:cNvSpPr txBox="1"/>
          <p:nvPr/>
        </p:nvSpPr>
        <p:spPr>
          <a:xfrm>
            <a:off x="8280082" y="4005739"/>
            <a:ext cx="1773484"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with formal reality</a:t>
            </a:r>
          </a:p>
        </p:txBody>
      </p:sp>
      <p:sp>
        <p:nvSpPr>
          <p:cNvPr id="36" name="Ellipse 36"/>
          <p:cNvSpPr/>
          <p:nvPr/>
        </p:nvSpPr>
        <p:spPr>
          <a:xfrm>
            <a:off x="8101012" y="4405312"/>
            <a:ext cx="85725" cy="85725"/>
          </a:xfrm>
          <a:prstGeom prst="ellipse">
            <a:avLst/>
          </a:prstGeom>
          <a:solidFill>
            <a:srgbClr val="0066CC"/>
          </a:solidFill>
          <a:ln>
            <a:noFill/>
          </a:ln>
        </p:spPr>
        <p:txBody>
          <a:bodyPr/>
          <a:lstStyle/>
          <a:p>
            <a:endParaRPr lang="zh-CN" altLang="en-US"/>
          </a:p>
        </p:txBody>
      </p:sp>
      <p:sp>
        <p:nvSpPr>
          <p:cNvPr id="37" name="TextBox 37"/>
          <p:cNvSpPr txBox="1"/>
          <p:nvPr/>
        </p:nvSpPr>
        <p:spPr>
          <a:xfrm>
            <a:off x="8280082" y="4358164"/>
            <a:ext cx="2239018"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sum of squares behavior</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336475"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06 The First Basic Examples</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5702856"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Three families already show the breadth of Jordan theory.</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06</a:t>
            </a:r>
          </a:p>
        </p:txBody>
      </p:sp>
      <p:sp>
        <p:nvSpPr>
          <p:cNvPr id="13" name="Freeform 13"/>
          <p:cNvSpPr/>
          <p:nvPr/>
        </p:nvSpPr>
        <p:spPr>
          <a:xfrm>
            <a:off x="666750" y="1762125"/>
            <a:ext cx="3048000" cy="3619500"/>
          </a:xfrm>
          <a:custGeom>
            <a:avLst/>
            <a:gdLst/>
            <a:ahLst/>
            <a:cxnLst/>
            <a:rect l="l" t="t" r="r" b="b"/>
            <a:pathLst>
              <a:path w="3048000" h="3619500">
                <a:moveTo>
                  <a:pt x="95250" y="0"/>
                </a:moveTo>
                <a:lnTo>
                  <a:pt x="2952750" y="0"/>
                </a:lnTo>
                <a:cubicBezTo>
                  <a:pt x="3005355" y="0"/>
                  <a:pt x="3048000" y="42645"/>
                  <a:pt x="3048000" y="95250"/>
                </a:cubicBezTo>
                <a:lnTo>
                  <a:pt x="3048000" y="3524250"/>
                </a:lnTo>
                <a:cubicBezTo>
                  <a:pt x="3048000" y="3576855"/>
                  <a:pt x="3005355" y="3619500"/>
                  <a:pt x="2952750" y="3619500"/>
                </a:cubicBezTo>
                <a:lnTo>
                  <a:pt x="95250" y="3619500"/>
                </a:lnTo>
                <a:cubicBezTo>
                  <a:pt x="42645" y="3619500"/>
                  <a:pt x="0" y="3576855"/>
                  <a:pt x="0" y="3524250"/>
                </a:cubicBezTo>
                <a:lnTo>
                  <a:pt x="0" y="95250"/>
                </a:lnTo>
                <a:cubicBezTo>
                  <a:pt x="0" y="42645"/>
                  <a:pt x="42645" y="0"/>
                  <a:pt x="95250" y="0"/>
                </a:cubicBezTo>
                <a:close/>
              </a:path>
            </a:pathLst>
          </a:custGeom>
          <a:solidFill>
            <a:srgbClr val="FFFFFF"/>
          </a:solidFill>
          <a:ln w="19050">
            <a:solidFill>
              <a:srgbClr val="003366"/>
            </a:solidFill>
          </a:ln>
        </p:spPr>
        <p:txBody>
          <a:bodyPr/>
          <a:lstStyle/>
          <a:p>
            <a:endParaRPr lang="zh-CN" altLang="en-US"/>
          </a:p>
        </p:txBody>
      </p:sp>
      <p:sp>
        <p:nvSpPr>
          <p:cNvPr id="14" name="Freeform 14"/>
          <p:cNvSpPr/>
          <p:nvPr/>
        </p:nvSpPr>
        <p:spPr>
          <a:xfrm>
            <a:off x="666750" y="1762125"/>
            <a:ext cx="3048000" cy="666750"/>
          </a:xfrm>
          <a:custGeom>
            <a:avLst/>
            <a:gdLst/>
            <a:ahLst/>
            <a:cxnLst/>
            <a:rect l="l" t="t" r="r" b="b"/>
            <a:pathLst>
              <a:path w="3048000" h="666750">
                <a:moveTo>
                  <a:pt x="95250" y="0"/>
                </a:moveTo>
                <a:lnTo>
                  <a:pt x="2952750" y="0"/>
                </a:lnTo>
                <a:cubicBezTo>
                  <a:pt x="3005355" y="0"/>
                  <a:pt x="3048000" y="42645"/>
                  <a:pt x="3048000" y="95250"/>
                </a:cubicBezTo>
                <a:lnTo>
                  <a:pt x="3048000" y="571500"/>
                </a:lnTo>
                <a:cubicBezTo>
                  <a:pt x="3048000" y="624105"/>
                  <a:pt x="3005355" y="666750"/>
                  <a:pt x="2952750" y="666750"/>
                </a:cubicBezTo>
                <a:lnTo>
                  <a:pt x="95250" y="666750"/>
                </a:lnTo>
                <a:cubicBezTo>
                  <a:pt x="42645" y="666750"/>
                  <a:pt x="0" y="624105"/>
                  <a:pt x="0" y="571500"/>
                </a:cubicBezTo>
                <a:lnTo>
                  <a:pt x="0" y="95250"/>
                </a:lnTo>
                <a:cubicBezTo>
                  <a:pt x="0" y="42645"/>
                  <a:pt x="42645" y="0"/>
                  <a:pt x="95250" y="0"/>
                </a:cubicBezTo>
                <a:close/>
              </a:path>
            </a:pathLst>
          </a:custGeom>
          <a:solidFill>
            <a:srgbClr val="003366">
              <a:alpha val="8000"/>
            </a:srgbClr>
          </a:solidFill>
          <a:ln>
            <a:noFill/>
          </a:ln>
        </p:spPr>
        <p:txBody>
          <a:bodyPr/>
          <a:lstStyle/>
          <a:p>
            <a:endParaRPr lang="zh-CN" altLang="en-US"/>
          </a:p>
        </p:txBody>
      </p:sp>
      <p:sp>
        <p:nvSpPr>
          <p:cNvPr id="15" name="TextBox 15"/>
          <p:cNvSpPr txBox="1"/>
          <p:nvPr/>
        </p:nvSpPr>
        <p:spPr>
          <a:xfrm>
            <a:off x="2001514" y="1961198"/>
            <a:ext cx="378471" cy="396240"/>
          </a:xfrm>
          <a:prstGeom prst="rect">
            <a:avLst/>
          </a:prstGeom>
          <a:noFill/>
          <a:ln>
            <a:noFill/>
          </a:ln>
        </p:spPr>
        <p:txBody>
          <a:bodyPr wrap="none" lIns="0" tIns="0" rIns="0" bIns="0" anchor="t" anchorCtr="0">
            <a:spAutoFit/>
          </a:bodyPr>
          <a:lstStyle/>
          <a:p>
            <a:pPr algn="ctr"/>
            <a:r>
              <a:rPr lang="zh-CN" sz="1950" b="1" dirty="0">
                <a:solidFill>
                  <a:srgbClr val="003366"/>
                </a:solidFill>
                <a:latin typeface="Arial"/>
                <a:ea typeface="Microsoft YaHei"/>
                <a:cs typeface="Arial"/>
              </a:rPr>
              <a:t>A+</a:t>
            </a:r>
          </a:p>
        </p:txBody>
      </p:sp>
      <p:sp>
        <p:nvSpPr>
          <p:cNvPr id="16" name="TextBox 16"/>
          <p:cNvSpPr txBox="1"/>
          <p:nvPr/>
        </p:nvSpPr>
        <p:spPr>
          <a:xfrm>
            <a:off x="1030605" y="2997518"/>
            <a:ext cx="195667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 : any associative</a:t>
            </a:r>
          </a:p>
        </p:txBody>
      </p:sp>
      <p:sp>
        <p:nvSpPr>
          <p:cNvPr id="17" name="TextBox 17"/>
          <p:cNvSpPr txBox="1"/>
          <p:nvPr/>
        </p:nvSpPr>
        <p:spPr>
          <a:xfrm>
            <a:off x="1030605" y="3245168"/>
            <a:ext cx="122715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algebra with</a:t>
            </a:r>
          </a:p>
        </p:txBody>
      </p:sp>
      <p:sp>
        <p:nvSpPr>
          <p:cNvPr id="18" name="TextBox 18"/>
          <p:cNvSpPr txBox="1"/>
          <p:nvPr/>
        </p:nvSpPr>
        <p:spPr>
          <a:xfrm>
            <a:off x="1030605" y="3492818"/>
            <a:ext cx="207497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symmetrized product</a:t>
            </a:r>
          </a:p>
        </p:txBody>
      </p:sp>
      <p:sp>
        <p:nvSpPr>
          <p:cNvPr id="19" name="Freeform 19"/>
          <p:cNvSpPr/>
          <p:nvPr/>
        </p:nvSpPr>
        <p:spPr>
          <a:xfrm>
            <a:off x="4333875" y="1762125"/>
            <a:ext cx="3048000" cy="3619500"/>
          </a:xfrm>
          <a:custGeom>
            <a:avLst/>
            <a:gdLst/>
            <a:ahLst/>
            <a:cxnLst/>
            <a:rect l="l" t="t" r="r" b="b"/>
            <a:pathLst>
              <a:path w="3048000" h="3619500">
                <a:moveTo>
                  <a:pt x="95250" y="0"/>
                </a:moveTo>
                <a:lnTo>
                  <a:pt x="2952750" y="0"/>
                </a:lnTo>
                <a:cubicBezTo>
                  <a:pt x="3005355" y="0"/>
                  <a:pt x="3048000" y="42645"/>
                  <a:pt x="3048000" y="95250"/>
                </a:cubicBezTo>
                <a:lnTo>
                  <a:pt x="3048000" y="3524250"/>
                </a:lnTo>
                <a:cubicBezTo>
                  <a:pt x="3048000" y="3576855"/>
                  <a:pt x="3005355" y="3619500"/>
                  <a:pt x="2952750" y="3619500"/>
                </a:cubicBezTo>
                <a:lnTo>
                  <a:pt x="95250" y="3619500"/>
                </a:lnTo>
                <a:cubicBezTo>
                  <a:pt x="42645" y="3619500"/>
                  <a:pt x="0" y="3576855"/>
                  <a:pt x="0" y="3524250"/>
                </a:cubicBezTo>
                <a:lnTo>
                  <a:pt x="0" y="95250"/>
                </a:lnTo>
                <a:cubicBezTo>
                  <a:pt x="0" y="42645"/>
                  <a:pt x="42645" y="0"/>
                  <a:pt x="95250" y="0"/>
                </a:cubicBezTo>
                <a:close/>
              </a:path>
            </a:pathLst>
          </a:custGeom>
          <a:solidFill>
            <a:srgbClr val="FFFFFF"/>
          </a:solidFill>
          <a:ln w="19050">
            <a:solidFill>
              <a:srgbClr val="0066CC"/>
            </a:solidFill>
          </a:ln>
        </p:spPr>
        <p:txBody>
          <a:bodyPr/>
          <a:lstStyle/>
          <a:p>
            <a:endParaRPr lang="zh-CN" altLang="en-US"/>
          </a:p>
        </p:txBody>
      </p:sp>
      <p:sp>
        <p:nvSpPr>
          <p:cNvPr id="20" name="Freeform 20"/>
          <p:cNvSpPr/>
          <p:nvPr/>
        </p:nvSpPr>
        <p:spPr>
          <a:xfrm>
            <a:off x="4333875" y="1762125"/>
            <a:ext cx="3048000" cy="666750"/>
          </a:xfrm>
          <a:custGeom>
            <a:avLst/>
            <a:gdLst/>
            <a:ahLst/>
            <a:cxnLst/>
            <a:rect l="l" t="t" r="r" b="b"/>
            <a:pathLst>
              <a:path w="3048000" h="666750">
                <a:moveTo>
                  <a:pt x="95250" y="0"/>
                </a:moveTo>
                <a:lnTo>
                  <a:pt x="2952750" y="0"/>
                </a:lnTo>
                <a:cubicBezTo>
                  <a:pt x="3005355" y="0"/>
                  <a:pt x="3048000" y="42645"/>
                  <a:pt x="3048000" y="95250"/>
                </a:cubicBezTo>
                <a:lnTo>
                  <a:pt x="3048000" y="571500"/>
                </a:lnTo>
                <a:cubicBezTo>
                  <a:pt x="3048000" y="624105"/>
                  <a:pt x="3005355" y="666750"/>
                  <a:pt x="2952750" y="666750"/>
                </a:cubicBezTo>
                <a:lnTo>
                  <a:pt x="95250" y="666750"/>
                </a:lnTo>
                <a:cubicBezTo>
                  <a:pt x="42645" y="666750"/>
                  <a:pt x="0" y="624105"/>
                  <a:pt x="0" y="571500"/>
                </a:cubicBezTo>
                <a:lnTo>
                  <a:pt x="0" y="95250"/>
                </a:lnTo>
                <a:cubicBezTo>
                  <a:pt x="0" y="42645"/>
                  <a:pt x="42645" y="0"/>
                  <a:pt x="95250" y="0"/>
                </a:cubicBezTo>
                <a:close/>
              </a:path>
            </a:pathLst>
          </a:custGeom>
          <a:solidFill>
            <a:srgbClr val="0066CC">
              <a:alpha val="8000"/>
            </a:srgbClr>
          </a:solidFill>
          <a:ln>
            <a:noFill/>
          </a:ln>
        </p:spPr>
        <p:txBody>
          <a:bodyPr/>
          <a:lstStyle/>
          <a:p>
            <a:endParaRPr lang="zh-CN" altLang="en-US"/>
          </a:p>
        </p:txBody>
      </p:sp>
      <p:sp>
        <p:nvSpPr>
          <p:cNvPr id="21" name="TextBox 21"/>
          <p:cNvSpPr txBox="1"/>
          <p:nvPr/>
        </p:nvSpPr>
        <p:spPr>
          <a:xfrm>
            <a:off x="5294843" y="1961198"/>
            <a:ext cx="1126065" cy="396240"/>
          </a:xfrm>
          <a:prstGeom prst="rect">
            <a:avLst/>
          </a:prstGeom>
          <a:noFill/>
          <a:ln>
            <a:noFill/>
          </a:ln>
        </p:spPr>
        <p:txBody>
          <a:bodyPr wrap="none" lIns="0" tIns="0" rIns="0" bIns="0" anchor="t" anchorCtr="0">
            <a:spAutoFit/>
          </a:bodyPr>
          <a:lstStyle/>
          <a:p>
            <a:pPr algn="ctr"/>
            <a:r>
              <a:rPr lang="zh-CN" sz="1950" b="1" dirty="0">
                <a:solidFill>
                  <a:srgbClr val="0066CC"/>
                </a:solidFill>
                <a:latin typeface="Arial"/>
                <a:ea typeface="Microsoft YaHei"/>
                <a:cs typeface="Arial"/>
              </a:rPr>
              <a:t>H(A, *)</a:t>
            </a:r>
          </a:p>
        </p:txBody>
      </p:sp>
      <p:sp>
        <p:nvSpPr>
          <p:cNvPr id="22" name="TextBox 22"/>
          <p:cNvSpPr txBox="1"/>
          <p:nvPr/>
        </p:nvSpPr>
        <p:spPr>
          <a:xfrm>
            <a:off x="4697730" y="2997518"/>
            <a:ext cx="188766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H(A, *) : Hermitian</a:t>
            </a:r>
          </a:p>
        </p:txBody>
      </p:sp>
      <p:sp>
        <p:nvSpPr>
          <p:cNvPr id="23" name="TextBox 23"/>
          <p:cNvSpPr txBox="1"/>
          <p:nvPr/>
        </p:nvSpPr>
        <p:spPr>
          <a:xfrm>
            <a:off x="4697730" y="3245168"/>
            <a:ext cx="176936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elements under an</a:t>
            </a:r>
          </a:p>
        </p:txBody>
      </p:sp>
      <p:sp>
        <p:nvSpPr>
          <p:cNvPr id="24" name="TextBox 24"/>
          <p:cNvSpPr txBox="1"/>
          <p:nvPr/>
        </p:nvSpPr>
        <p:spPr>
          <a:xfrm>
            <a:off x="4697730" y="3492818"/>
            <a:ext cx="970836"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involution</a:t>
            </a:r>
          </a:p>
        </p:txBody>
      </p:sp>
      <p:sp>
        <p:nvSpPr>
          <p:cNvPr id="25" name="Freeform 25"/>
          <p:cNvSpPr/>
          <p:nvPr/>
        </p:nvSpPr>
        <p:spPr>
          <a:xfrm>
            <a:off x="8001000" y="1762125"/>
            <a:ext cx="3048000" cy="3619500"/>
          </a:xfrm>
          <a:custGeom>
            <a:avLst/>
            <a:gdLst/>
            <a:ahLst/>
            <a:cxnLst/>
            <a:rect l="l" t="t" r="r" b="b"/>
            <a:pathLst>
              <a:path w="3048000" h="3619500">
                <a:moveTo>
                  <a:pt x="95250" y="0"/>
                </a:moveTo>
                <a:lnTo>
                  <a:pt x="2952750" y="0"/>
                </a:lnTo>
                <a:cubicBezTo>
                  <a:pt x="3005355" y="0"/>
                  <a:pt x="3048000" y="42645"/>
                  <a:pt x="3048000" y="95250"/>
                </a:cubicBezTo>
                <a:lnTo>
                  <a:pt x="3048000" y="3524250"/>
                </a:lnTo>
                <a:cubicBezTo>
                  <a:pt x="3048000" y="3576855"/>
                  <a:pt x="3005355" y="3619500"/>
                  <a:pt x="2952750" y="3619500"/>
                </a:cubicBezTo>
                <a:lnTo>
                  <a:pt x="95250" y="3619500"/>
                </a:lnTo>
                <a:cubicBezTo>
                  <a:pt x="42645" y="3619500"/>
                  <a:pt x="0" y="3576855"/>
                  <a:pt x="0" y="3524250"/>
                </a:cubicBezTo>
                <a:lnTo>
                  <a:pt x="0" y="95250"/>
                </a:lnTo>
                <a:cubicBezTo>
                  <a:pt x="0" y="42645"/>
                  <a:pt x="42645" y="0"/>
                  <a:pt x="95250" y="0"/>
                </a:cubicBezTo>
                <a:close/>
              </a:path>
            </a:pathLst>
          </a:custGeom>
          <a:solidFill>
            <a:srgbClr val="FFFFFF"/>
          </a:solidFill>
          <a:ln w="19050">
            <a:solidFill>
              <a:srgbClr val="28A745"/>
            </a:solidFill>
          </a:ln>
        </p:spPr>
        <p:txBody>
          <a:bodyPr/>
          <a:lstStyle/>
          <a:p>
            <a:endParaRPr lang="zh-CN" altLang="en-US"/>
          </a:p>
        </p:txBody>
      </p:sp>
      <p:sp>
        <p:nvSpPr>
          <p:cNvPr id="26" name="Freeform 26"/>
          <p:cNvSpPr/>
          <p:nvPr/>
        </p:nvSpPr>
        <p:spPr>
          <a:xfrm>
            <a:off x="8001000" y="1762125"/>
            <a:ext cx="3048000" cy="666750"/>
          </a:xfrm>
          <a:custGeom>
            <a:avLst/>
            <a:gdLst/>
            <a:ahLst/>
            <a:cxnLst/>
            <a:rect l="l" t="t" r="r" b="b"/>
            <a:pathLst>
              <a:path w="3048000" h="666750">
                <a:moveTo>
                  <a:pt x="95250" y="0"/>
                </a:moveTo>
                <a:lnTo>
                  <a:pt x="2952750" y="0"/>
                </a:lnTo>
                <a:cubicBezTo>
                  <a:pt x="3005355" y="0"/>
                  <a:pt x="3048000" y="42645"/>
                  <a:pt x="3048000" y="95250"/>
                </a:cubicBezTo>
                <a:lnTo>
                  <a:pt x="3048000" y="571500"/>
                </a:lnTo>
                <a:cubicBezTo>
                  <a:pt x="3048000" y="624105"/>
                  <a:pt x="3005355" y="666750"/>
                  <a:pt x="2952750" y="666750"/>
                </a:cubicBezTo>
                <a:lnTo>
                  <a:pt x="95250" y="666750"/>
                </a:lnTo>
                <a:cubicBezTo>
                  <a:pt x="42645" y="666750"/>
                  <a:pt x="0" y="624105"/>
                  <a:pt x="0" y="571500"/>
                </a:cubicBezTo>
                <a:lnTo>
                  <a:pt x="0" y="95250"/>
                </a:lnTo>
                <a:cubicBezTo>
                  <a:pt x="0" y="42645"/>
                  <a:pt x="42645" y="0"/>
                  <a:pt x="95250" y="0"/>
                </a:cubicBezTo>
                <a:close/>
              </a:path>
            </a:pathLst>
          </a:custGeom>
          <a:solidFill>
            <a:srgbClr val="28A745">
              <a:alpha val="8000"/>
            </a:srgbClr>
          </a:solidFill>
          <a:ln>
            <a:noFill/>
          </a:ln>
        </p:spPr>
        <p:txBody>
          <a:bodyPr/>
          <a:lstStyle/>
          <a:p>
            <a:endParaRPr lang="zh-CN" altLang="en-US"/>
          </a:p>
        </p:txBody>
      </p:sp>
      <p:sp>
        <p:nvSpPr>
          <p:cNvPr id="27" name="TextBox 27"/>
          <p:cNvSpPr txBox="1"/>
          <p:nvPr/>
        </p:nvSpPr>
        <p:spPr>
          <a:xfrm>
            <a:off x="8588171" y="1961198"/>
            <a:ext cx="1873658" cy="396240"/>
          </a:xfrm>
          <a:prstGeom prst="rect">
            <a:avLst/>
          </a:prstGeom>
          <a:noFill/>
          <a:ln>
            <a:noFill/>
          </a:ln>
        </p:spPr>
        <p:txBody>
          <a:bodyPr wrap="none" lIns="0" tIns="0" rIns="0" bIns="0" anchor="t" anchorCtr="0">
            <a:spAutoFit/>
          </a:bodyPr>
          <a:lstStyle/>
          <a:p>
            <a:pPr algn="ctr"/>
            <a:r>
              <a:rPr lang="zh-CN" sz="1950" b="1" dirty="0">
                <a:solidFill>
                  <a:srgbClr val="28A745"/>
                </a:solidFill>
                <a:latin typeface="Arial"/>
                <a:ea typeface="Microsoft YaHei"/>
                <a:cs typeface="Arial"/>
              </a:rPr>
              <a:t>Spin factors</a:t>
            </a:r>
          </a:p>
        </p:txBody>
      </p:sp>
      <p:sp>
        <p:nvSpPr>
          <p:cNvPr id="28" name="TextBox 28"/>
          <p:cNvSpPr txBox="1"/>
          <p:nvPr/>
        </p:nvSpPr>
        <p:spPr>
          <a:xfrm>
            <a:off x="8364855" y="2997518"/>
            <a:ext cx="134545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Spin factors:</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094945"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07 Special and Exceptional</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886739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main historical divide asks whether a Jordan algebra comes from an associative source.</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07</a:t>
            </a:r>
          </a:p>
        </p:txBody>
      </p:sp>
      <p:sp>
        <p:nvSpPr>
          <p:cNvPr id="13" name="Freeform 13"/>
          <p:cNvSpPr/>
          <p:nvPr/>
        </p:nvSpPr>
        <p:spPr>
          <a:xfrm>
            <a:off x="666750" y="1666875"/>
            <a:ext cx="4953000" cy="3905250"/>
          </a:xfrm>
          <a:custGeom>
            <a:avLst/>
            <a:gdLst/>
            <a:ahLst/>
            <a:cxnLst/>
            <a:rect l="l" t="t" r="r" b="b"/>
            <a:pathLst>
              <a:path w="4953000" h="3905250">
                <a:moveTo>
                  <a:pt x="95250" y="0"/>
                </a:moveTo>
                <a:lnTo>
                  <a:pt x="4857750" y="0"/>
                </a:lnTo>
                <a:cubicBezTo>
                  <a:pt x="4910355" y="0"/>
                  <a:pt x="4953000" y="42645"/>
                  <a:pt x="4953000" y="95250"/>
                </a:cubicBezTo>
                <a:lnTo>
                  <a:pt x="4953000" y="3810000"/>
                </a:lnTo>
                <a:cubicBezTo>
                  <a:pt x="4953000" y="3862605"/>
                  <a:pt x="4910355" y="3905250"/>
                  <a:pt x="4857750" y="3905250"/>
                </a:cubicBezTo>
                <a:lnTo>
                  <a:pt x="95250" y="3905250"/>
                </a:lnTo>
                <a:cubicBezTo>
                  <a:pt x="42645" y="3905250"/>
                  <a:pt x="0" y="3862605"/>
                  <a:pt x="0" y="3810000"/>
                </a:cubicBezTo>
                <a:lnTo>
                  <a:pt x="0" y="95250"/>
                </a:lnTo>
                <a:cubicBezTo>
                  <a:pt x="0" y="42645"/>
                  <a:pt x="42645" y="0"/>
                  <a:pt x="95250" y="0"/>
                </a:cubicBezTo>
                <a:close/>
              </a:path>
            </a:pathLst>
          </a:custGeom>
          <a:solidFill>
            <a:srgbClr val="FFFFFF"/>
          </a:solidFill>
          <a:ln w="19050">
            <a:solidFill>
              <a:srgbClr val="0066CC"/>
            </a:solidFill>
          </a:ln>
        </p:spPr>
        <p:txBody>
          <a:bodyPr/>
          <a:lstStyle/>
          <a:p>
            <a:endParaRPr lang="zh-CN" altLang="en-US"/>
          </a:p>
        </p:txBody>
      </p:sp>
      <p:sp>
        <p:nvSpPr>
          <p:cNvPr id="14" name="Freeform 14"/>
          <p:cNvSpPr/>
          <p:nvPr/>
        </p:nvSpPr>
        <p:spPr>
          <a:xfrm>
            <a:off x="6572250" y="1666875"/>
            <a:ext cx="4953000" cy="3905250"/>
          </a:xfrm>
          <a:custGeom>
            <a:avLst/>
            <a:gdLst/>
            <a:ahLst/>
            <a:cxnLst/>
            <a:rect l="l" t="t" r="r" b="b"/>
            <a:pathLst>
              <a:path w="4953000" h="3905250">
                <a:moveTo>
                  <a:pt x="95250" y="0"/>
                </a:moveTo>
                <a:lnTo>
                  <a:pt x="4857750" y="0"/>
                </a:lnTo>
                <a:cubicBezTo>
                  <a:pt x="4910355" y="0"/>
                  <a:pt x="4953000" y="42645"/>
                  <a:pt x="4953000" y="95250"/>
                </a:cubicBezTo>
                <a:lnTo>
                  <a:pt x="4953000" y="3810000"/>
                </a:lnTo>
                <a:cubicBezTo>
                  <a:pt x="4953000" y="3862605"/>
                  <a:pt x="4910355" y="3905250"/>
                  <a:pt x="4857750" y="3905250"/>
                </a:cubicBezTo>
                <a:lnTo>
                  <a:pt x="95250" y="3905250"/>
                </a:lnTo>
                <a:cubicBezTo>
                  <a:pt x="42645" y="3905250"/>
                  <a:pt x="0" y="3862605"/>
                  <a:pt x="0" y="3810000"/>
                </a:cubicBezTo>
                <a:lnTo>
                  <a:pt x="0" y="95250"/>
                </a:lnTo>
                <a:cubicBezTo>
                  <a:pt x="0" y="42645"/>
                  <a:pt x="42645" y="0"/>
                  <a:pt x="95250" y="0"/>
                </a:cubicBezTo>
                <a:close/>
              </a:path>
            </a:pathLst>
          </a:custGeom>
          <a:solidFill>
            <a:srgbClr val="FFFFFF"/>
          </a:solidFill>
          <a:ln w="19050">
            <a:solidFill>
              <a:srgbClr val="CC0000"/>
            </a:solidFill>
          </a:ln>
        </p:spPr>
        <p:txBody>
          <a:bodyPr/>
          <a:lstStyle/>
          <a:p>
            <a:endParaRPr lang="zh-CN" altLang="en-US"/>
          </a:p>
        </p:txBody>
      </p:sp>
      <p:sp>
        <p:nvSpPr>
          <p:cNvPr id="15" name="Freeform 15"/>
          <p:cNvSpPr/>
          <p:nvPr/>
        </p:nvSpPr>
        <p:spPr>
          <a:xfrm>
            <a:off x="1143000" y="1857375"/>
            <a:ext cx="1143000" cy="266700"/>
          </a:xfrm>
          <a:custGeom>
            <a:avLst/>
            <a:gdLst/>
            <a:ahLst/>
            <a:cxnLst/>
            <a:rect l="l" t="t" r="r" b="b"/>
            <a:pathLst>
              <a:path w="1143000" h="266700">
                <a:moveTo>
                  <a:pt x="133350" y="0"/>
                </a:moveTo>
                <a:lnTo>
                  <a:pt x="1009650" y="0"/>
                </a:lnTo>
                <a:cubicBezTo>
                  <a:pt x="1083297" y="0"/>
                  <a:pt x="1143000" y="59703"/>
                  <a:pt x="1143000" y="133350"/>
                </a:cubicBezTo>
                <a:lnTo>
                  <a:pt x="1143000" y="133350"/>
                </a:lnTo>
                <a:cubicBezTo>
                  <a:pt x="1143000" y="206997"/>
                  <a:pt x="1083297" y="266700"/>
                  <a:pt x="1009650" y="266700"/>
                </a:cubicBezTo>
                <a:lnTo>
                  <a:pt x="133350" y="266700"/>
                </a:lnTo>
                <a:cubicBezTo>
                  <a:pt x="59703" y="266700"/>
                  <a:pt x="0" y="206997"/>
                  <a:pt x="0" y="133350"/>
                </a:cubicBezTo>
                <a:lnTo>
                  <a:pt x="0" y="133350"/>
                </a:lnTo>
                <a:cubicBezTo>
                  <a:pt x="0" y="59703"/>
                  <a:pt x="59703" y="0"/>
                  <a:pt x="133350" y="0"/>
                </a:cubicBezTo>
                <a:close/>
              </a:path>
            </a:pathLst>
          </a:custGeom>
          <a:solidFill>
            <a:srgbClr val="0066CC"/>
          </a:solidFill>
          <a:ln>
            <a:noFill/>
          </a:ln>
        </p:spPr>
        <p:txBody>
          <a:bodyPr/>
          <a:lstStyle/>
          <a:p>
            <a:endParaRPr lang="zh-CN" altLang="en-US"/>
          </a:p>
        </p:txBody>
      </p:sp>
      <p:sp>
        <p:nvSpPr>
          <p:cNvPr id="16" name="TextBox 16"/>
          <p:cNvSpPr txBox="1"/>
          <p:nvPr/>
        </p:nvSpPr>
        <p:spPr>
          <a:xfrm>
            <a:off x="1454639" y="1941195"/>
            <a:ext cx="519722"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SPECIAL</a:t>
            </a:r>
          </a:p>
        </p:txBody>
      </p:sp>
      <p:sp>
        <p:nvSpPr>
          <p:cNvPr id="17" name="Freeform 17"/>
          <p:cNvSpPr/>
          <p:nvPr/>
        </p:nvSpPr>
        <p:spPr>
          <a:xfrm>
            <a:off x="7048500" y="1857375"/>
            <a:ext cx="1428750" cy="266700"/>
          </a:xfrm>
          <a:custGeom>
            <a:avLst/>
            <a:gdLst/>
            <a:ahLst/>
            <a:cxnLst/>
            <a:rect l="l" t="t" r="r" b="b"/>
            <a:pathLst>
              <a:path w="1428750" h="266700">
                <a:moveTo>
                  <a:pt x="133350" y="0"/>
                </a:moveTo>
                <a:lnTo>
                  <a:pt x="1295400" y="0"/>
                </a:lnTo>
                <a:cubicBezTo>
                  <a:pt x="1369047" y="0"/>
                  <a:pt x="1428750" y="59703"/>
                  <a:pt x="1428750" y="133350"/>
                </a:cubicBezTo>
                <a:lnTo>
                  <a:pt x="1428750" y="133350"/>
                </a:lnTo>
                <a:cubicBezTo>
                  <a:pt x="1428750" y="206997"/>
                  <a:pt x="1369047" y="266700"/>
                  <a:pt x="1295400" y="266700"/>
                </a:cubicBezTo>
                <a:lnTo>
                  <a:pt x="133350" y="266700"/>
                </a:lnTo>
                <a:cubicBezTo>
                  <a:pt x="59703" y="266700"/>
                  <a:pt x="0" y="206997"/>
                  <a:pt x="0" y="133350"/>
                </a:cubicBezTo>
                <a:lnTo>
                  <a:pt x="0" y="133350"/>
                </a:lnTo>
                <a:cubicBezTo>
                  <a:pt x="0" y="59703"/>
                  <a:pt x="59703" y="0"/>
                  <a:pt x="133350" y="0"/>
                </a:cubicBezTo>
                <a:close/>
              </a:path>
            </a:pathLst>
          </a:custGeom>
          <a:solidFill>
            <a:srgbClr val="CC0000"/>
          </a:solidFill>
          <a:ln>
            <a:noFill/>
          </a:ln>
        </p:spPr>
        <p:txBody>
          <a:bodyPr/>
          <a:lstStyle/>
          <a:p>
            <a:endParaRPr lang="zh-CN" altLang="en-US"/>
          </a:p>
        </p:txBody>
      </p:sp>
      <p:sp>
        <p:nvSpPr>
          <p:cNvPr id="18" name="TextBox 18"/>
          <p:cNvSpPr txBox="1"/>
          <p:nvPr/>
        </p:nvSpPr>
        <p:spPr>
          <a:xfrm>
            <a:off x="7337393" y="1941195"/>
            <a:ext cx="85096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EXCEPTIONAL</a:t>
            </a:r>
          </a:p>
        </p:txBody>
      </p:sp>
      <p:sp>
        <p:nvSpPr>
          <p:cNvPr id="19" name="Ellipse 19"/>
          <p:cNvSpPr/>
          <p:nvPr/>
        </p:nvSpPr>
        <p:spPr>
          <a:xfrm>
            <a:off x="1004888" y="2433638"/>
            <a:ext cx="85725" cy="85725"/>
          </a:xfrm>
          <a:prstGeom prst="ellipse">
            <a:avLst/>
          </a:prstGeom>
          <a:solidFill>
            <a:srgbClr val="0066CC"/>
          </a:solidFill>
          <a:ln>
            <a:noFill/>
          </a:ln>
        </p:spPr>
        <p:txBody>
          <a:bodyPr/>
          <a:lstStyle/>
          <a:p>
            <a:endParaRPr lang="zh-CN" altLang="en-US"/>
          </a:p>
        </p:txBody>
      </p:sp>
      <p:sp>
        <p:nvSpPr>
          <p:cNvPr id="20" name="TextBox 20"/>
          <p:cNvSpPr txBox="1"/>
          <p:nvPr/>
        </p:nvSpPr>
        <p:spPr>
          <a:xfrm>
            <a:off x="1183005" y="2378392"/>
            <a:ext cx="261718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Embeds into a symmetrized</a:t>
            </a:r>
          </a:p>
        </p:txBody>
      </p:sp>
      <p:sp>
        <p:nvSpPr>
          <p:cNvPr id="21" name="TextBox 21"/>
          <p:cNvSpPr txBox="1"/>
          <p:nvPr/>
        </p:nvSpPr>
        <p:spPr>
          <a:xfrm>
            <a:off x="1183005" y="2626042"/>
            <a:ext cx="2282000"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associative algebra A+.</a:t>
            </a:r>
          </a:p>
        </p:txBody>
      </p:sp>
      <p:sp>
        <p:nvSpPr>
          <p:cNvPr id="22" name="Ellipse 22"/>
          <p:cNvSpPr/>
          <p:nvPr/>
        </p:nvSpPr>
        <p:spPr>
          <a:xfrm>
            <a:off x="1004888" y="3043238"/>
            <a:ext cx="85725" cy="85725"/>
          </a:xfrm>
          <a:prstGeom prst="ellipse">
            <a:avLst/>
          </a:prstGeom>
          <a:solidFill>
            <a:srgbClr val="0066CC"/>
          </a:solidFill>
          <a:ln>
            <a:noFill/>
          </a:ln>
        </p:spPr>
        <p:txBody>
          <a:bodyPr/>
          <a:lstStyle/>
          <a:p>
            <a:endParaRPr lang="zh-CN" altLang="en-US"/>
          </a:p>
        </p:txBody>
      </p:sp>
      <p:sp>
        <p:nvSpPr>
          <p:cNvPr id="23" name="TextBox 23"/>
          <p:cNvSpPr txBox="1"/>
          <p:nvPr/>
        </p:nvSpPr>
        <p:spPr>
          <a:xfrm>
            <a:off x="1183005" y="2987992"/>
            <a:ext cx="3001661"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Keeps a visible link to matrices</a:t>
            </a:r>
          </a:p>
        </p:txBody>
      </p:sp>
      <p:sp>
        <p:nvSpPr>
          <p:cNvPr id="24" name="TextBox 24"/>
          <p:cNvSpPr txBox="1"/>
          <p:nvPr/>
        </p:nvSpPr>
        <p:spPr>
          <a:xfrm>
            <a:off x="1183005" y="3235642"/>
            <a:ext cx="150318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and operators.</a:t>
            </a:r>
          </a:p>
        </p:txBody>
      </p:sp>
      <p:sp>
        <p:nvSpPr>
          <p:cNvPr id="25" name="Ellipse 25"/>
          <p:cNvSpPr/>
          <p:nvPr/>
        </p:nvSpPr>
        <p:spPr>
          <a:xfrm>
            <a:off x="1004888" y="3652838"/>
            <a:ext cx="85725" cy="85725"/>
          </a:xfrm>
          <a:prstGeom prst="ellipse">
            <a:avLst/>
          </a:prstGeom>
          <a:solidFill>
            <a:srgbClr val="0066CC"/>
          </a:solidFill>
          <a:ln>
            <a:noFill/>
          </a:ln>
        </p:spPr>
        <p:txBody>
          <a:bodyPr/>
          <a:lstStyle/>
          <a:p>
            <a:endParaRPr lang="zh-CN" altLang="en-US"/>
          </a:p>
        </p:txBody>
      </p:sp>
      <p:sp>
        <p:nvSpPr>
          <p:cNvPr id="26" name="TextBox 26"/>
          <p:cNvSpPr txBox="1"/>
          <p:nvPr/>
        </p:nvSpPr>
        <p:spPr>
          <a:xfrm>
            <a:off x="1183005" y="3597592"/>
            <a:ext cx="301151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Most standard examples belong</a:t>
            </a:r>
          </a:p>
        </p:txBody>
      </p:sp>
      <p:sp>
        <p:nvSpPr>
          <p:cNvPr id="27" name="TextBox 27"/>
          <p:cNvSpPr txBox="1"/>
          <p:nvPr/>
        </p:nvSpPr>
        <p:spPr>
          <a:xfrm>
            <a:off x="1183005" y="3845242"/>
            <a:ext cx="576501"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here.</a:t>
            </a:r>
          </a:p>
        </p:txBody>
      </p:sp>
      <p:sp>
        <p:nvSpPr>
          <p:cNvPr id="28" name="Ellipse 28"/>
          <p:cNvSpPr/>
          <p:nvPr/>
        </p:nvSpPr>
        <p:spPr>
          <a:xfrm>
            <a:off x="6910388" y="2433638"/>
            <a:ext cx="85725" cy="85725"/>
          </a:xfrm>
          <a:prstGeom prst="ellipse">
            <a:avLst/>
          </a:prstGeom>
          <a:solidFill>
            <a:srgbClr val="CC0000"/>
          </a:solidFill>
          <a:ln>
            <a:noFill/>
          </a:ln>
        </p:spPr>
        <p:txBody>
          <a:bodyPr/>
          <a:lstStyle/>
          <a:p>
            <a:endParaRPr lang="zh-CN" altLang="en-US"/>
          </a:p>
        </p:txBody>
      </p:sp>
      <p:sp>
        <p:nvSpPr>
          <p:cNvPr id="29" name="TextBox 29"/>
          <p:cNvSpPr txBox="1"/>
          <p:nvPr/>
        </p:nvSpPr>
        <p:spPr>
          <a:xfrm>
            <a:off x="7088505" y="2378392"/>
            <a:ext cx="283406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Cannot be realized as any A+.</a:t>
            </a:r>
          </a:p>
        </p:txBody>
      </p:sp>
      <p:sp>
        <p:nvSpPr>
          <p:cNvPr id="30" name="Ellipse 30"/>
          <p:cNvSpPr/>
          <p:nvPr/>
        </p:nvSpPr>
        <p:spPr>
          <a:xfrm>
            <a:off x="6910388" y="2795588"/>
            <a:ext cx="85725" cy="85725"/>
          </a:xfrm>
          <a:prstGeom prst="ellipse">
            <a:avLst/>
          </a:prstGeom>
          <a:solidFill>
            <a:srgbClr val="CC0000"/>
          </a:solidFill>
          <a:ln>
            <a:noFill/>
          </a:ln>
        </p:spPr>
        <p:txBody>
          <a:bodyPr/>
          <a:lstStyle/>
          <a:p>
            <a:endParaRPr lang="zh-CN" altLang="en-US"/>
          </a:p>
        </p:txBody>
      </p:sp>
      <p:sp>
        <p:nvSpPr>
          <p:cNvPr id="31" name="TextBox 31"/>
          <p:cNvSpPr txBox="1"/>
          <p:nvPr/>
        </p:nvSpPr>
        <p:spPr>
          <a:xfrm>
            <a:off x="7088505" y="2740342"/>
            <a:ext cx="247916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Represents genuinely new</a:t>
            </a:r>
          </a:p>
        </p:txBody>
      </p:sp>
      <p:sp>
        <p:nvSpPr>
          <p:cNvPr id="32" name="TextBox 32"/>
          <p:cNvSpPr txBox="1"/>
          <p:nvPr/>
        </p:nvSpPr>
        <p:spPr>
          <a:xfrm>
            <a:off x="7088505" y="2987992"/>
            <a:ext cx="243973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nonassociative behavior.</a:t>
            </a:r>
          </a:p>
        </p:txBody>
      </p:sp>
      <p:sp>
        <p:nvSpPr>
          <p:cNvPr id="33" name="Ellipse 33"/>
          <p:cNvSpPr/>
          <p:nvPr/>
        </p:nvSpPr>
        <p:spPr>
          <a:xfrm>
            <a:off x="6910388" y="3405188"/>
            <a:ext cx="85725" cy="85725"/>
          </a:xfrm>
          <a:prstGeom prst="ellipse">
            <a:avLst/>
          </a:prstGeom>
          <a:solidFill>
            <a:srgbClr val="CC0000"/>
          </a:solidFill>
          <a:ln>
            <a:noFill/>
          </a:ln>
        </p:spPr>
        <p:txBody>
          <a:bodyPr/>
          <a:lstStyle/>
          <a:p>
            <a:endParaRPr lang="zh-CN" altLang="en-US"/>
          </a:p>
        </p:txBody>
      </p:sp>
      <p:sp>
        <p:nvSpPr>
          <p:cNvPr id="34" name="TextBox 34"/>
          <p:cNvSpPr txBox="1"/>
          <p:nvPr/>
        </p:nvSpPr>
        <p:spPr>
          <a:xfrm>
            <a:off x="7088505" y="3349942"/>
            <a:ext cx="2449592"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hoped for infinite</a:t>
            </a:r>
          </a:p>
        </p:txBody>
      </p:sp>
      <p:sp>
        <p:nvSpPr>
          <p:cNvPr id="35" name="TextBox 35"/>
          <p:cNvSpPr txBox="1"/>
          <p:nvPr/>
        </p:nvSpPr>
        <p:spPr>
          <a:xfrm>
            <a:off x="7088505" y="3597592"/>
            <a:ext cx="205525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exceptional families.</a:t>
            </a:r>
          </a:p>
        </p:txBody>
      </p:sp>
      <p:sp>
        <p:nvSpPr>
          <p:cNvPr id="36" name="Freeform 36"/>
          <p:cNvSpPr/>
          <p:nvPr/>
        </p:nvSpPr>
        <p:spPr>
          <a:xfrm>
            <a:off x="2095500" y="4650582"/>
            <a:ext cx="8001000" cy="762000"/>
          </a:xfrm>
          <a:custGeom>
            <a:avLst/>
            <a:gdLst/>
            <a:ahLst/>
            <a:cxnLst/>
            <a:rect l="l" t="t" r="r" b="b"/>
            <a:pathLst>
              <a:path w="8001000" h="762000">
                <a:moveTo>
                  <a:pt x="95250" y="0"/>
                </a:moveTo>
                <a:lnTo>
                  <a:pt x="7905750" y="0"/>
                </a:lnTo>
                <a:cubicBezTo>
                  <a:pt x="7958355" y="0"/>
                  <a:pt x="8001000" y="42645"/>
                  <a:pt x="8001000" y="95250"/>
                </a:cubicBezTo>
                <a:lnTo>
                  <a:pt x="8001000" y="666750"/>
                </a:lnTo>
                <a:cubicBezTo>
                  <a:pt x="8001000" y="719355"/>
                  <a:pt x="7958355" y="762000"/>
                  <a:pt x="7905750" y="762000"/>
                </a:cubicBezTo>
                <a:lnTo>
                  <a:pt x="95250" y="762000"/>
                </a:lnTo>
                <a:cubicBezTo>
                  <a:pt x="42645" y="762000"/>
                  <a:pt x="0" y="719355"/>
                  <a:pt x="0" y="666750"/>
                </a:cubicBezTo>
                <a:lnTo>
                  <a:pt x="0" y="95250"/>
                </a:lnTo>
                <a:cubicBezTo>
                  <a:pt x="0" y="42645"/>
                  <a:pt x="42645" y="0"/>
                  <a:pt x="95250" y="0"/>
                </a:cubicBezTo>
                <a:close/>
              </a:path>
            </a:pathLst>
          </a:custGeom>
          <a:solidFill>
            <a:srgbClr val="E8F4FC"/>
          </a:solidFill>
          <a:ln w="9525">
            <a:solidFill>
              <a:srgbClr val="D0D7E0"/>
            </a:solidFill>
          </a:ln>
        </p:spPr>
        <p:txBody>
          <a:bodyPr/>
          <a:lstStyle/>
          <a:p>
            <a:endParaRPr lang="zh-CN" altLang="en-US"/>
          </a:p>
        </p:txBody>
      </p:sp>
      <p:sp>
        <p:nvSpPr>
          <p:cNvPr id="37" name="TextBox 37"/>
          <p:cNvSpPr txBox="1"/>
          <p:nvPr/>
        </p:nvSpPr>
        <p:spPr>
          <a:xfrm>
            <a:off x="2622971" y="4917758"/>
            <a:ext cx="6946059" cy="335280"/>
          </a:xfrm>
          <a:prstGeom prst="rect">
            <a:avLst/>
          </a:prstGeom>
          <a:noFill/>
          <a:ln>
            <a:noFill/>
          </a:ln>
        </p:spPr>
        <p:txBody>
          <a:bodyPr wrap="none" lIns="0" tIns="0" rIns="0" bIns="0" anchor="t" anchorCtr="0">
            <a:spAutoFit/>
          </a:bodyPr>
          <a:lstStyle/>
          <a:p>
            <a:pPr algn="ctr"/>
            <a:r>
              <a:rPr lang="zh-CN" sz="1650" dirty="0">
                <a:solidFill>
                  <a:srgbClr val="333333"/>
                </a:solidFill>
                <a:latin typeface="Arial"/>
                <a:ea typeface="Microsoft YaHei"/>
                <a:cs typeface="Arial"/>
              </a:rPr>
              <a:t>Would exceptional algebras yield a new quantum mechanics?</a:t>
            </a: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014435"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08 The 1934 Classification</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667883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von Neumann, and Wigner sharply narrowed the possibilities.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08</a:t>
            </a:r>
          </a:p>
        </p:txBody>
      </p:sp>
      <p:sp>
        <p:nvSpPr>
          <p:cNvPr id="13" name="Freeform 13"/>
          <p:cNvSpPr/>
          <p:nvPr/>
        </p:nvSpPr>
        <p:spPr>
          <a:xfrm>
            <a:off x="666750" y="1619250"/>
            <a:ext cx="2476500" cy="1381125"/>
          </a:xfrm>
          <a:custGeom>
            <a:avLst/>
            <a:gdLst/>
            <a:ahLst/>
            <a:cxnLst/>
            <a:rect l="l" t="t" r="r" b="b"/>
            <a:pathLst>
              <a:path w="2476500" h="1381125">
                <a:moveTo>
                  <a:pt x="95250" y="0"/>
                </a:moveTo>
                <a:lnTo>
                  <a:pt x="2381250" y="0"/>
                </a:lnTo>
                <a:cubicBezTo>
                  <a:pt x="2433855" y="0"/>
                  <a:pt x="2476500" y="42645"/>
                  <a:pt x="2476500" y="95250"/>
                </a:cubicBezTo>
                <a:lnTo>
                  <a:pt x="2476500" y="1285875"/>
                </a:lnTo>
                <a:cubicBezTo>
                  <a:pt x="2476500" y="1338480"/>
                  <a:pt x="2433855" y="1381125"/>
                  <a:pt x="2381250" y="1381125"/>
                </a:cubicBezTo>
                <a:lnTo>
                  <a:pt x="95250" y="1381125"/>
                </a:lnTo>
                <a:cubicBezTo>
                  <a:pt x="42645" y="1381125"/>
                  <a:pt x="0" y="1338480"/>
                  <a:pt x="0" y="1285875"/>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pic>
        <p:nvPicPr>
          <p:cNvPr id="14" name="Image 14"/>
          <p:cNvPicPr>
            <a:picLocks noChangeAspect="1"/>
          </p:cNvPicPr>
          <p:nvPr/>
        </p:nvPicPr>
        <p:blipFill>
          <a:blip r:embed="rId3"/>
          <a:stretch>
            <a:fillRect/>
          </a:stretch>
        </p:blipFill>
        <p:spPr>
          <a:xfrm>
            <a:off x="781050" y="1733550"/>
            <a:ext cx="904875" cy="1152525"/>
          </a:xfrm>
          <a:prstGeom prst="rect">
            <a:avLst/>
          </a:prstGeom>
        </p:spPr>
      </p:pic>
      <p:sp>
        <p:nvSpPr>
          <p:cNvPr id="15" name="TextBox 15"/>
          <p:cNvSpPr txBox="1"/>
          <p:nvPr/>
        </p:nvSpPr>
        <p:spPr>
          <a:xfrm>
            <a:off x="1655902" y="2042160"/>
            <a:ext cx="1355446" cy="243840"/>
          </a:xfrm>
          <a:prstGeom prst="rect">
            <a:avLst/>
          </a:prstGeom>
          <a:noFill/>
          <a:ln>
            <a:noFill/>
          </a:ln>
        </p:spPr>
        <p:txBody>
          <a:bodyPr wrap="none" lIns="0" tIns="0" rIns="0" bIns="0" anchor="t" anchorCtr="0">
            <a:spAutoFit/>
          </a:bodyPr>
          <a:lstStyle/>
          <a:p>
            <a:pPr algn="ctr"/>
            <a:r>
              <a:rPr lang="zh-CN" sz="1200" b="1" dirty="0">
                <a:solidFill>
                  <a:srgbClr val="003366"/>
                </a:solidFill>
                <a:latin typeface="Arial"/>
                <a:ea typeface="Microsoft YaHei"/>
                <a:cs typeface="Arial"/>
              </a:rPr>
              <a:t>Pascual Jordan</a:t>
            </a:r>
          </a:p>
        </p:txBody>
      </p:sp>
      <p:sp>
        <p:nvSpPr>
          <p:cNvPr id="16" name="TextBox 16"/>
          <p:cNvSpPr txBox="1"/>
          <p:nvPr/>
        </p:nvSpPr>
        <p:spPr>
          <a:xfrm>
            <a:off x="1684008" y="2504599"/>
            <a:ext cx="129923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1934 classification</a:t>
            </a:r>
          </a:p>
        </p:txBody>
      </p:sp>
      <p:sp>
        <p:nvSpPr>
          <p:cNvPr id="17" name="Freeform 17"/>
          <p:cNvSpPr/>
          <p:nvPr/>
        </p:nvSpPr>
        <p:spPr>
          <a:xfrm>
            <a:off x="666750" y="3190875"/>
            <a:ext cx="2476500" cy="1381125"/>
          </a:xfrm>
          <a:custGeom>
            <a:avLst/>
            <a:gdLst/>
            <a:ahLst/>
            <a:cxnLst/>
            <a:rect l="l" t="t" r="r" b="b"/>
            <a:pathLst>
              <a:path w="2476500" h="1381125">
                <a:moveTo>
                  <a:pt x="95250" y="0"/>
                </a:moveTo>
                <a:lnTo>
                  <a:pt x="2381250" y="0"/>
                </a:lnTo>
                <a:cubicBezTo>
                  <a:pt x="2433855" y="0"/>
                  <a:pt x="2476500" y="42645"/>
                  <a:pt x="2476500" y="95250"/>
                </a:cubicBezTo>
                <a:lnTo>
                  <a:pt x="2476500" y="1285875"/>
                </a:lnTo>
                <a:cubicBezTo>
                  <a:pt x="2476500" y="1338480"/>
                  <a:pt x="2433855" y="1381125"/>
                  <a:pt x="2381250" y="1381125"/>
                </a:cubicBezTo>
                <a:lnTo>
                  <a:pt x="95250" y="1381125"/>
                </a:lnTo>
                <a:cubicBezTo>
                  <a:pt x="42645" y="1381125"/>
                  <a:pt x="0" y="1338480"/>
                  <a:pt x="0" y="1285875"/>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pic>
        <p:nvPicPr>
          <p:cNvPr id="18" name="Image 18"/>
          <p:cNvPicPr>
            <a:picLocks noChangeAspect="1"/>
          </p:cNvPicPr>
          <p:nvPr/>
        </p:nvPicPr>
        <p:blipFill>
          <a:blip r:embed="rId4"/>
          <a:stretch>
            <a:fillRect/>
          </a:stretch>
        </p:blipFill>
        <p:spPr>
          <a:xfrm>
            <a:off x="781050" y="3305175"/>
            <a:ext cx="904875" cy="1152525"/>
          </a:xfrm>
          <a:prstGeom prst="rect">
            <a:avLst/>
          </a:prstGeom>
        </p:spPr>
      </p:pic>
      <p:sp>
        <p:nvSpPr>
          <p:cNvPr id="19" name="TextBox 19"/>
          <p:cNvSpPr txBox="1"/>
          <p:nvPr/>
        </p:nvSpPr>
        <p:spPr>
          <a:xfrm>
            <a:off x="1936537" y="3613785"/>
            <a:ext cx="794175" cy="243840"/>
          </a:xfrm>
          <a:prstGeom prst="rect">
            <a:avLst/>
          </a:prstGeom>
          <a:noFill/>
          <a:ln>
            <a:noFill/>
          </a:ln>
        </p:spPr>
        <p:txBody>
          <a:bodyPr wrap="none" lIns="0" tIns="0" rIns="0" bIns="0" anchor="t" anchorCtr="0">
            <a:spAutoFit/>
          </a:bodyPr>
          <a:lstStyle/>
          <a:p>
            <a:pPr algn="ctr"/>
            <a:r>
              <a:rPr lang="zh-CN" sz="1200" b="1" dirty="0">
                <a:solidFill>
                  <a:srgbClr val="003366"/>
                </a:solidFill>
                <a:latin typeface="Arial"/>
                <a:ea typeface="Microsoft YaHei"/>
                <a:cs typeface="Arial"/>
              </a:rPr>
              <a:t>John von</a:t>
            </a:r>
          </a:p>
        </p:txBody>
      </p:sp>
      <p:sp>
        <p:nvSpPr>
          <p:cNvPr id="20" name="TextBox 20"/>
          <p:cNvSpPr txBox="1"/>
          <p:nvPr/>
        </p:nvSpPr>
        <p:spPr>
          <a:xfrm>
            <a:off x="1945738" y="3785235"/>
            <a:ext cx="775773" cy="243840"/>
          </a:xfrm>
          <a:prstGeom prst="rect">
            <a:avLst/>
          </a:prstGeom>
          <a:noFill/>
          <a:ln>
            <a:noFill/>
          </a:ln>
        </p:spPr>
        <p:txBody>
          <a:bodyPr wrap="none" lIns="0" tIns="0" rIns="0" bIns="0" anchor="t" anchorCtr="0">
            <a:spAutoFit/>
          </a:bodyPr>
          <a:lstStyle/>
          <a:p>
            <a:pPr algn="ctr"/>
            <a:r>
              <a:rPr lang="zh-CN" sz="1200" b="1" dirty="0">
                <a:solidFill>
                  <a:srgbClr val="003366"/>
                </a:solidFill>
                <a:latin typeface="Arial"/>
                <a:ea typeface="Microsoft YaHei"/>
                <a:cs typeface="Arial"/>
              </a:rPr>
              <a:t>Neumann</a:t>
            </a:r>
          </a:p>
        </p:txBody>
      </p:sp>
      <p:sp>
        <p:nvSpPr>
          <p:cNvPr id="21" name="TextBox 21"/>
          <p:cNvSpPr txBox="1"/>
          <p:nvPr/>
        </p:nvSpPr>
        <p:spPr>
          <a:xfrm>
            <a:off x="1684008" y="4076224"/>
            <a:ext cx="129923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1934 classification</a:t>
            </a:r>
          </a:p>
        </p:txBody>
      </p:sp>
      <p:sp>
        <p:nvSpPr>
          <p:cNvPr id="22" name="Freeform 22"/>
          <p:cNvSpPr/>
          <p:nvPr/>
        </p:nvSpPr>
        <p:spPr>
          <a:xfrm>
            <a:off x="666750" y="4762500"/>
            <a:ext cx="2476500" cy="1381125"/>
          </a:xfrm>
          <a:custGeom>
            <a:avLst/>
            <a:gdLst/>
            <a:ahLst/>
            <a:cxnLst/>
            <a:rect l="l" t="t" r="r" b="b"/>
            <a:pathLst>
              <a:path w="2476500" h="1381125">
                <a:moveTo>
                  <a:pt x="95250" y="0"/>
                </a:moveTo>
                <a:lnTo>
                  <a:pt x="2381250" y="0"/>
                </a:lnTo>
                <a:cubicBezTo>
                  <a:pt x="2433855" y="0"/>
                  <a:pt x="2476500" y="42645"/>
                  <a:pt x="2476500" y="95250"/>
                </a:cubicBezTo>
                <a:lnTo>
                  <a:pt x="2476500" y="1285875"/>
                </a:lnTo>
                <a:cubicBezTo>
                  <a:pt x="2476500" y="1338480"/>
                  <a:pt x="2433855" y="1381125"/>
                  <a:pt x="2381250" y="1381125"/>
                </a:cubicBezTo>
                <a:lnTo>
                  <a:pt x="95250" y="1381125"/>
                </a:lnTo>
                <a:cubicBezTo>
                  <a:pt x="42645" y="1381125"/>
                  <a:pt x="0" y="1338480"/>
                  <a:pt x="0" y="1285875"/>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pic>
        <p:nvPicPr>
          <p:cNvPr id="23" name="Image 23"/>
          <p:cNvPicPr>
            <a:picLocks noChangeAspect="1"/>
          </p:cNvPicPr>
          <p:nvPr/>
        </p:nvPicPr>
        <p:blipFill>
          <a:blip r:embed="rId5"/>
          <a:stretch>
            <a:fillRect/>
          </a:stretch>
        </p:blipFill>
        <p:spPr>
          <a:xfrm>
            <a:off x="781050" y="4876800"/>
            <a:ext cx="904875" cy="1152525"/>
          </a:xfrm>
          <a:prstGeom prst="rect">
            <a:avLst/>
          </a:prstGeom>
        </p:spPr>
      </p:pic>
      <p:sp>
        <p:nvSpPr>
          <p:cNvPr id="24" name="TextBox 24"/>
          <p:cNvSpPr txBox="1"/>
          <p:nvPr/>
        </p:nvSpPr>
        <p:spPr>
          <a:xfrm>
            <a:off x="1688106" y="5185410"/>
            <a:ext cx="1291038" cy="243840"/>
          </a:xfrm>
          <a:prstGeom prst="rect">
            <a:avLst/>
          </a:prstGeom>
          <a:noFill/>
          <a:ln>
            <a:noFill/>
          </a:ln>
        </p:spPr>
        <p:txBody>
          <a:bodyPr wrap="none" lIns="0" tIns="0" rIns="0" bIns="0" anchor="t" anchorCtr="0">
            <a:spAutoFit/>
          </a:bodyPr>
          <a:lstStyle/>
          <a:p>
            <a:pPr algn="ctr"/>
            <a:r>
              <a:rPr lang="zh-CN" sz="1200" b="1" dirty="0">
                <a:solidFill>
                  <a:srgbClr val="003366"/>
                </a:solidFill>
                <a:latin typeface="Arial"/>
                <a:ea typeface="Microsoft YaHei"/>
                <a:cs typeface="Arial"/>
              </a:rPr>
              <a:t>Eugene Wigner</a:t>
            </a:r>
          </a:p>
        </p:txBody>
      </p:sp>
      <p:sp>
        <p:nvSpPr>
          <p:cNvPr id="25" name="TextBox 25"/>
          <p:cNvSpPr txBox="1"/>
          <p:nvPr/>
        </p:nvSpPr>
        <p:spPr>
          <a:xfrm>
            <a:off x="1684008" y="5647849"/>
            <a:ext cx="1299234"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1934 classification</a:t>
            </a:r>
          </a:p>
        </p:txBody>
      </p:sp>
      <p:sp>
        <p:nvSpPr>
          <p:cNvPr id="26" name="Freeform 26"/>
          <p:cNvSpPr/>
          <p:nvPr/>
        </p:nvSpPr>
        <p:spPr>
          <a:xfrm>
            <a:off x="3429000" y="1619250"/>
            <a:ext cx="8096250" cy="4524375"/>
          </a:xfrm>
          <a:custGeom>
            <a:avLst/>
            <a:gdLst/>
            <a:ahLst/>
            <a:cxnLst/>
            <a:rect l="l" t="t" r="r" b="b"/>
            <a:pathLst>
              <a:path w="8096250" h="4524375">
                <a:moveTo>
                  <a:pt x="95250" y="0"/>
                </a:moveTo>
                <a:lnTo>
                  <a:pt x="8001000" y="0"/>
                </a:lnTo>
                <a:cubicBezTo>
                  <a:pt x="8053605" y="0"/>
                  <a:pt x="8096250" y="42645"/>
                  <a:pt x="8096250" y="95250"/>
                </a:cubicBezTo>
                <a:lnTo>
                  <a:pt x="8096250" y="4429125"/>
                </a:lnTo>
                <a:cubicBezTo>
                  <a:pt x="8096250" y="4481730"/>
                  <a:pt x="8053605" y="4524375"/>
                  <a:pt x="8001000" y="4524375"/>
                </a:cubicBezTo>
                <a:lnTo>
                  <a:pt x="95250" y="4524375"/>
                </a:lnTo>
                <a:cubicBezTo>
                  <a:pt x="42645" y="4524375"/>
                  <a:pt x="0" y="4481730"/>
                  <a:pt x="0" y="4429125"/>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7" name="TextBox 27"/>
          <p:cNvSpPr txBox="1"/>
          <p:nvPr/>
        </p:nvSpPr>
        <p:spPr>
          <a:xfrm>
            <a:off x="5134820" y="1884998"/>
            <a:ext cx="4684609" cy="396240"/>
          </a:xfrm>
          <a:prstGeom prst="rect">
            <a:avLst/>
          </a:prstGeom>
          <a:noFill/>
          <a:ln>
            <a:noFill/>
          </a:ln>
        </p:spPr>
        <p:txBody>
          <a:bodyPr wrap="none" lIns="0" tIns="0" rIns="0" bIns="0" anchor="t" anchorCtr="0">
            <a:spAutoFit/>
          </a:bodyPr>
          <a:lstStyle/>
          <a:p>
            <a:pPr algn="ctr"/>
            <a:r>
              <a:rPr lang="zh-CN" sz="1950" b="1" dirty="0">
                <a:solidFill>
                  <a:srgbClr val="003366"/>
                </a:solidFill>
                <a:latin typeface="Arial"/>
                <a:ea typeface="Microsoft YaHei"/>
                <a:cs typeface="Arial"/>
              </a:rPr>
              <a:t>Finite-dimensional formally real</a:t>
            </a:r>
          </a:p>
        </p:txBody>
      </p:sp>
      <p:sp>
        <p:nvSpPr>
          <p:cNvPr id="28" name="TextBox 28"/>
          <p:cNvSpPr txBox="1"/>
          <p:nvPr/>
        </p:nvSpPr>
        <p:spPr>
          <a:xfrm>
            <a:off x="5800179" y="2208848"/>
            <a:ext cx="3353893" cy="396240"/>
          </a:xfrm>
          <a:prstGeom prst="rect">
            <a:avLst/>
          </a:prstGeom>
          <a:noFill/>
          <a:ln>
            <a:noFill/>
          </a:ln>
        </p:spPr>
        <p:txBody>
          <a:bodyPr wrap="none" lIns="0" tIns="0" rIns="0" bIns="0" anchor="t" anchorCtr="0">
            <a:spAutoFit/>
          </a:bodyPr>
          <a:lstStyle/>
          <a:p>
            <a:pPr algn="ctr"/>
            <a:r>
              <a:rPr lang="zh-CN" sz="1950" b="1" dirty="0">
                <a:solidFill>
                  <a:srgbClr val="003366"/>
                </a:solidFill>
                <a:latin typeface="Arial"/>
                <a:ea typeface="Microsoft YaHei"/>
                <a:cs typeface="Arial"/>
              </a:rPr>
              <a:t>simple Jordan algebras</a:t>
            </a:r>
          </a:p>
        </p:txBody>
      </p:sp>
      <p:sp>
        <p:nvSpPr>
          <p:cNvPr id="29" name="Freeform 29"/>
          <p:cNvSpPr/>
          <p:nvPr/>
        </p:nvSpPr>
        <p:spPr>
          <a:xfrm>
            <a:off x="4000500" y="2838450"/>
            <a:ext cx="266700" cy="266700"/>
          </a:xfrm>
          <a:custGeom>
            <a:avLst/>
            <a:gdLst/>
            <a:ahLst/>
            <a:cxnLst/>
            <a:rect l="l" t="t" r="r" b="b"/>
            <a:pathLst>
              <a:path w="266700" h="266700">
                <a:moveTo>
                  <a:pt x="76200" y="0"/>
                </a:moveTo>
                <a:lnTo>
                  <a:pt x="190500" y="0"/>
                </a:lnTo>
                <a:cubicBezTo>
                  <a:pt x="232584" y="0"/>
                  <a:pt x="266700" y="34116"/>
                  <a:pt x="266700" y="76200"/>
                </a:cubicBezTo>
                <a:lnTo>
                  <a:pt x="266700" y="190500"/>
                </a:lnTo>
                <a:cubicBezTo>
                  <a:pt x="266700" y="232584"/>
                  <a:pt x="232584" y="266700"/>
                  <a:pt x="190500" y="266700"/>
                </a:cubicBezTo>
                <a:lnTo>
                  <a:pt x="76200" y="266700"/>
                </a:lnTo>
                <a:cubicBezTo>
                  <a:pt x="34116" y="266700"/>
                  <a:pt x="0" y="232584"/>
                  <a:pt x="0" y="190500"/>
                </a:cubicBezTo>
                <a:lnTo>
                  <a:pt x="0" y="76200"/>
                </a:lnTo>
                <a:cubicBezTo>
                  <a:pt x="0" y="34116"/>
                  <a:pt x="34116" y="0"/>
                  <a:pt x="76200" y="0"/>
                </a:cubicBezTo>
                <a:close/>
              </a:path>
            </a:pathLst>
          </a:custGeom>
          <a:solidFill>
            <a:srgbClr val="003366"/>
          </a:solidFill>
          <a:ln>
            <a:noFill/>
          </a:ln>
        </p:spPr>
        <p:txBody>
          <a:bodyPr/>
          <a:lstStyle/>
          <a:p>
            <a:endParaRPr lang="zh-CN" altLang="en-US"/>
          </a:p>
        </p:txBody>
      </p:sp>
      <p:sp>
        <p:nvSpPr>
          <p:cNvPr id="30" name="TextBox 30"/>
          <p:cNvSpPr txBox="1"/>
          <p:nvPr/>
        </p:nvSpPr>
        <p:spPr>
          <a:xfrm>
            <a:off x="4096362" y="2915602"/>
            <a:ext cx="749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31" name="TextBox 31"/>
          <p:cNvSpPr txBox="1"/>
          <p:nvPr/>
        </p:nvSpPr>
        <p:spPr>
          <a:xfrm>
            <a:off x="4415790" y="2853690"/>
            <a:ext cx="956634" cy="365760"/>
          </a:xfrm>
          <a:prstGeom prst="rect">
            <a:avLst/>
          </a:prstGeom>
          <a:noFill/>
          <a:ln>
            <a:noFill/>
          </a:ln>
        </p:spPr>
        <p:txBody>
          <a:bodyPr wrap="none" lIns="0" tIns="0" rIns="0" bIns="0" anchor="t" anchorCtr="0">
            <a:spAutoFit/>
          </a:bodyPr>
          <a:lstStyle/>
          <a:p>
            <a:pPr algn="l"/>
            <a:r>
              <a:rPr lang="zh-CN" sz="1800" b="1" dirty="0">
                <a:solidFill>
                  <a:srgbClr val="333333"/>
                </a:solidFill>
                <a:latin typeface="Arial"/>
                <a:ea typeface="Microsoft YaHei"/>
                <a:cs typeface="Arial"/>
              </a:rPr>
              <a:t>H_n(R)</a:t>
            </a:r>
          </a:p>
        </p:txBody>
      </p:sp>
      <p:sp>
        <p:nvSpPr>
          <p:cNvPr id="32" name="Freeform 32"/>
          <p:cNvSpPr/>
          <p:nvPr/>
        </p:nvSpPr>
        <p:spPr>
          <a:xfrm>
            <a:off x="4000500" y="3390900"/>
            <a:ext cx="266700" cy="266700"/>
          </a:xfrm>
          <a:custGeom>
            <a:avLst/>
            <a:gdLst/>
            <a:ahLst/>
            <a:cxnLst/>
            <a:rect l="l" t="t" r="r" b="b"/>
            <a:pathLst>
              <a:path w="266700" h="266700">
                <a:moveTo>
                  <a:pt x="76200" y="0"/>
                </a:moveTo>
                <a:lnTo>
                  <a:pt x="190500" y="0"/>
                </a:lnTo>
                <a:cubicBezTo>
                  <a:pt x="232584" y="0"/>
                  <a:pt x="266700" y="34116"/>
                  <a:pt x="266700" y="76200"/>
                </a:cubicBezTo>
                <a:lnTo>
                  <a:pt x="266700" y="190500"/>
                </a:lnTo>
                <a:cubicBezTo>
                  <a:pt x="266700" y="232584"/>
                  <a:pt x="232584" y="266700"/>
                  <a:pt x="190500" y="266700"/>
                </a:cubicBezTo>
                <a:lnTo>
                  <a:pt x="76200" y="266700"/>
                </a:lnTo>
                <a:cubicBezTo>
                  <a:pt x="34116" y="266700"/>
                  <a:pt x="0" y="232584"/>
                  <a:pt x="0" y="190500"/>
                </a:cubicBezTo>
                <a:lnTo>
                  <a:pt x="0" y="76200"/>
                </a:lnTo>
                <a:cubicBezTo>
                  <a:pt x="0" y="34116"/>
                  <a:pt x="34116" y="0"/>
                  <a:pt x="76200" y="0"/>
                </a:cubicBezTo>
                <a:close/>
              </a:path>
            </a:pathLst>
          </a:custGeom>
          <a:solidFill>
            <a:srgbClr val="0066CC"/>
          </a:solidFill>
          <a:ln>
            <a:noFill/>
          </a:ln>
        </p:spPr>
        <p:txBody>
          <a:bodyPr/>
          <a:lstStyle/>
          <a:p>
            <a:endParaRPr lang="zh-CN" altLang="en-US"/>
          </a:p>
        </p:txBody>
      </p:sp>
      <p:sp>
        <p:nvSpPr>
          <p:cNvPr id="33" name="TextBox 33"/>
          <p:cNvSpPr txBox="1"/>
          <p:nvPr/>
        </p:nvSpPr>
        <p:spPr>
          <a:xfrm>
            <a:off x="4076234" y="346805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34" name="TextBox 34"/>
          <p:cNvSpPr txBox="1"/>
          <p:nvPr/>
        </p:nvSpPr>
        <p:spPr>
          <a:xfrm>
            <a:off x="4415790" y="3406140"/>
            <a:ext cx="956634" cy="365760"/>
          </a:xfrm>
          <a:prstGeom prst="rect">
            <a:avLst/>
          </a:prstGeom>
          <a:noFill/>
          <a:ln>
            <a:noFill/>
          </a:ln>
        </p:spPr>
        <p:txBody>
          <a:bodyPr wrap="none" lIns="0" tIns="0" rIns="0" bIns="0" anchor="t" anchorCtr="0">
            <a:spAutoFit/>
          </a:bodyPr>
          <a:lstStyle/>
          <a:p>
            <a:pPr algn="l"/>
            <a:r>
              <a:rPr lang="zh-CN" sz="1800" b="1" dirty="0">
                <a:solidFill>
                  <a:srgbClr val="333333"/>
                </a:solidFill>
                <a:latin typeface="Arial"/>
                <a:ea typeface="Microsoft YaHei"/>
                <a:cs typeface="Arial"/>
              </a:rPr>
              <a:t>H_n(C)</a:t>
            </a:r>
          </a:p>
        </p:txBody>
      </p:sp>
      <p:sp>
        <p:nvSpPr>
          <p:cNvPr id="35" name="Freeform 35"/>
          <p:cNvSpPr/>
          <p:nvPr/>
        </p:nvSpPr>
        <p:spPr>
          <a:xfrm>
            <a:off x="4000500" y="3943350"/>
            <a:ext cx="266700" cy="266700"/>
          </a:xfrm>
          <a:custGeom>
            <a:avLst/>
            <a:gdLst/>
            <a:ahLst/>
            <a:cxnLst/>
            <a:rect l="l" t="t" r="r" b="b"/>
            <a:pathLst>
              <a:path w="266700" h="266700">
                <a:moveTo>
                  <a:pt x="76200" y="0"/>
                </a:moveTo>
                <a:lnTo>
                  <a:pt x="190500" y="0"/>
                </a:lnTo>
                <a:cubicBezTo>
                  <a:pt x="232584" y="0"/>
                  <a:pt x="266700" y="34116"/>
                  <a:pt x="266700" y="76200"/>
                </a:cubicBezTo>
                <a:lnTo>
                  <a:pt x="266700" y="190500"/>
                </a:lnTo>
                <a:cubicBezTo>
                  <a:pt x="266700" y="232584"/>
                  <a:pt x="232584" y="266700"/>
                  <a:pt x="190500" y="266700"/>
                </a:cubicBezTo>
                <a:lnTo>
                  <a:pt x="76200" y="266700"/>
                </a:lnTo>
                <a:cubicBezTo>
                  <a:pt x="34116" y="266700"/>
                  <a:pt x="0" y="232584"/>
                  <a:pt x="0" y="190500"/>
                </a:cubicBezTo>
                <a:lnTo>
                  <a:pt x="0" y="76200"/>
                </a:lnTo>
                <a:cubicBezTo>
                  <a:pt x="0" y="34116"/>
                  <a:pt x="34116" y="0"/>
                  <a:pt x="76200" y="0"/>
                </a:cubicBezTo>
                <a:close/>
              </a:path>
            </a:pathLst>
          </a:custGeom>
          <a:solidFill>
            <a:srgbClr val="28A745"/>
          </a:solidFill>
          <a:ln>
            <a:noFill/>
          </a:ln>
        </p:spPr>
        <p:txBody>
          <a:bodyPr/>
          <a:lstStyle/>
          <a:p>
            <a:endParaRPr lang="zh-CN" altLang="en-US"/>
          </a:p>
        </p:txBody>
      </p:sp>
      <p:sp>
        <p:nvSpPr>
          <p:cNvPr id="36" name="TextBox 36"/>
          <p:cNvSpPr txBox="1"/>
          <p:nvPr/>
        </p:nvSpPr>
        <p:spPr>
          <a:xfrm>
            <a:off x="4076234" y="40205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37" name="TextBox 37"/>
          <p:cNvSpPr txBox="1"/>
          <p:nvPr/>
        </p:nvSpPr>
        <p:spPr>
          <a:xfrm>
            <a:off x="4415790" y="3958590"/>
            <a:ext cx="956634" cy="365760"/>
          </a:xfrm>
          <a:prstGeom prst="rect">
            <a:avLst/>
          </a:prstGeom>
          <a:noFill/>
          <a:ln>
            <a:noFill/>
          </a:ln>
        </p:spPr>
        <p:txBody>
          <a:bodyPr wrap="none" lIns="0" tIns="0" rIns="0" bIns="0" anchor="t" anchorCtr="0">
            <a:spAutoFit/>
          </a:bodyPr>
          <a:lstStyle/>
          <a:p>
            <a:pPr algn="l"/>
            <a:r>
              <a:rPr lang="zh-CN" sz="1800" b="1" dirty="0">
                <a:solidFill>
                  <a:srgbClr val="333333"/>
                </a:solidFill>
                <a:latin typeface="Arial"/>
                <a:ea typeface="Microsoft YaHei"/>
                <a:cs typeface="Arial"/>
              </a:rPr>
              <a:t>H_n(H)</a:t>
            </a:r>
          </a:p>
        </p:txBody>
      </p:sp>
      <p:sp>
        <p:nvSpPr>
          <p:cNvPr id="38" name="Freeform 38"/>
          <p:cNvSpPr/>
          <p:nvPr/>
        </p:nvSpPr>
        <p:spPr>
          <a:xfrm>
            <a:off x="4000500" y="4495800"/>
            <a:ext cx="266700" cy="266700"/>
          </a:xfrm>
          <a:custGeom>
            <a:avLst/>
            <a:gdLst/>
            <a:ahLst/>
            <a:cxnLst/>
            <a:rect l="l" t="t" r="r" b="b"/>
            <a:pathLst>
              <a:path w="266700" h="266700">
                <a:moveTo>
                  <a:pt x="76200" y="0"/>
                </a:moveTo>
                <a:lnTo>
                  <a:pt x="190500" y="0"/>
                </a:lnTo>
                <a:cubicBezTo>
                  <a:pt x="232584" y="0"/>
                  <a:pt x="266700" y="34116"/>
                  <a:pt x="266700" y="76200"/>
                </a:cubicBezTo>
                <a:lnTo>
                  <a:pt x="266700" y="190500"/>
                </a:lnTo>
                <a:cubicBezTo>
                  <a:pt x="266700" y="232584"/>
                  <a:pt x="232584" y="266700"/>
                  <a:pt x="190500" y="266700"/>
                </a:cubicBezTo>
                <a:lnTo>
                  <a:pt x="76200" y="266700"/>
                </a:lnTo>
                <a:cubicBezTo>
                  <a:pt x="34116" y="266700"/>
                  <a:pt x="0" y="232584"/>
                  <a:pt x="0" y="190500"/>
                </a:cubicBezTo>
                <a:lnTo>
                  <a:pt x="0" y="76200"/>
                </a:lnTo>
                <a:cubicBezTo>
                  <a:pt x="0" y="34116"/>
                  <a:pt x="34116" y="0"/>
                  <a:pt x="76200" y="0"/>
                </a:cubicBezTo>
                <a:close/>
              </a:path>
            </a:pathLst>
          </a:custGeom>
          <a:solidFill>
            <a:srgbClr val="CC0000"/>
          </a:solidFill>
          <a:ln>
            <a:noFill/>
          </a:ln>
        </p:spPr>
        <p:txBody>
          <a:bodyPr/>
          <a:lstStyle/>
          <a:p>
            <a:endParaRPr lang="zh-CN" altLang="en-US"/>
          </a:p>
        </p:txBody>
      </p:sp>
      <p:sp>
        <p:nvSpPr>
          <p:cNvPr id="39" name="TextBox 39"/>
          <p:cNvSpPr txBox="1"/>
          <p:nvPr/>
        </p:nvSpPr>
        <p:spPr>
          <a:xfrm>
            <a:off x="4076234" y="457295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4</a:t>
            </a:r>
          </a:p>
        </p:txBody>
      </p:sp>
      <p:sp>
        <p:nvSpPr>
          <p:cNvPr id="40" name="TextBox 40"/>
          <p:cNvSpPr txBox="1"/>
          <p:nvPr/>
        </p:nvSpPr>
        <p:spPr>
          <a:xfrm>
            <a:off x="4415790" y="4511040"/>
            <a:ext cx="1011841" cy="365760"/>
          </a:xfrm>
          <a:prstGeom prst="rect">
            <a:avLst/>
          </a:prstGeom>
          <a:noFill/>
          <a:ln>
            <a:noFill/>
          </a:ln>
        </p:spPr>
        <p:txBody>
          <a:bodyPr wrap="none" lIns="0" tIns="0" rIns="0" bIns="0" anchor="t" anchorCtr="0">
            <a:spAutoFit/>
          </a:bodyPr>
          <a:lstStyle/>
          <a:p>
            <a:pPr algn="l"/>
            <a:r>
              <a:rPr lang="zh-CN" sz="1800" b="1" dirty="0">
                <a:solidFill>
                  <a:srgbClr val="333333"/>
                </a:solidFill>
                <a:latin typeface="Arial"/>
                <a:ea typeface="Microsoft YaHei"/>
                <a:cs typeface="Arial"/>
              </a:rPr>
              <a:t>H_3(O)</a:t>
            </a:r>
          </a:p>
        </p:txBody>
      </p:sp>
      <p:sp>
        <p:nvSpPr>
          <p:cNvPr id="41" name="Freeform 41"/>
          <p:cNvSpPr/>
          <p:nvPr/>
        </p:nvSpPr>
        <p:spPr>
          <a:xfrm>
            <a:off x="4000500" y="5048250"/>
            <a:ext cx="266700" cy="266700"/>
          </a:xfrm>
          <a:custGeom>
            <a:avLst/>
            <a:gdLst/>
            <a:ahLst/>
            <a:cxnLst/>
            <a:rect l="l" t="t" r="r" b="b"/>
            <a:pathLst>
              <a:path w="266700" h="266700">
                <a:moveTo>
                  <a:pt x="76200" y="0"/>
                </a:moveTo>
                <a:lnTo>
                  <a:pt x="190500" y="0"/>
                </a:lnTo>
                <a:cubicBezTo>
                  <a:pt x="232584" y="0"/>
                  <a:pt x="266700" y="34116"/>
                  <a:pt x="266700" y="76200"/>
                </a:cubicBezTo>
                <a:lnTo>
                  <a:pt x="266700" y="190500"/>
                </a:lnTo>
                <a:cubicBezTo>
                  <a:pt x="266700" y="232584"/>
                  <a:pt x="232584" y="266700"/>
                  <a:pt x="190500" y="266700"/>
                </a:cubicBezTo>
                <a:lnTo>
                  <a:pt x="76200" y="266700"/>
                </a:lnTo>
                <a:cubicBezTo>
                  <a:pt x="34116" y="266700"/>
                  <a:pt x="0" y="232584"/>
                  <a:pt x="0" y="190500"/>
                </a:cubicBezTo>
                <a:lnTo>
                  <a:pt x="0" y="76200"/>
                </a:lnTo>
                <a:cubicBezTo>
                  <a:pt x="0" y="34116"/>
                  <a:pt x="34116" y="0"/>
                  <a:pt x="76200" y="0"/>
                </a:cubicBezTo>
                <a:close/>
              </a:path>
            </a:pathLst>
          </a:custGeom>
          <a:solidFill>
            <a:srgbClr val="B8860B"/>
          </a:solidFill>
          <a:ln>
            <a:noFill/>
          </a:ln>
        </p:spPr>
        <p:txBody>
          <a:bodyPr/>
          <a:lstStyle/>
          <a:p>
            <a:endParaRPr lang="zh-CN" altLang="en-US"/>
          </a:p>
        </p:txBody>
      </p:sp>
      <p:sp>
        <p:nvSpPr>
          <p:cNvPr id="42" name="TextBox 42"/>
          <p:cNvSpPr txBox="1"/>
          <p:nvPr/>
        </p:nvSpPr>
        <p:spPr>
          <a:xfrm>
            <a:off x="4076234" y="51254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5</a:t>
            </a:r>
          </a:p>
        </p:txBody>
      </p:sp>
      <p:sp>
        <p:nvSpPr>
          <p:cNvPr id="43" name="TextBox 43"/>
          <p:cNvSpPr txBox="1"/>
          <p:nvPr/>
        </p:nvSpPr>
        <p:spPr>
          <a:xfrm>
            <a:off x="4415790" y="5063490"/>
            <a:ext cx="1729530" cy="365760"/>
          </a:xfrm>
          <a:prstGeom prst="rect">
            <a:avLst/>
          </a:prstGeom>
          <a:noFill/>
          <a:ln>
            <a:noFill/>
          </a:ln>
        </p:spPr>
        <p:txBody>
          <a:bodyPr wrap="none" lIns="0" tIns="0" rIns="0" bIns="0" anchor="t" anchorCtr="0">
            <a:spAutoFit/>
          </a:bodyPr>
          <a:lstStyle/>
          <a:p>
            <a:pPr algn="l"/>
            <a:r>
              <a:rPr lang="zh-CN" sz="1800" b="1" dirty="0">
                <a:solidFill>
                  <a:srgbClr val="333333"/>
                </a:solidFill>
                <a:latin typeface="Arial"/>
                <a:ea typeface="Microsoft YaHei"/>
                <a:cs typeface="Arial"/>
              </a:rPr>
              <a:t>Spin factors</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3370355"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09 The Albert Algebra</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685628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exceptional case becomes the symbolic centerpiece of the subject.</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09</a:t>
            </a:r>
          </a:p>
        </p:txBody>
      </p:sp>
      <p:sp>
        <p:nvSpPr>
          <p:cNvPr id="13" name="Freeform 13"/>
          <p:cNvSpPr/>
          <p:nvPr/>
        </p:nvSpPr>
        <p:spPr>
          <a:xfrm>
            <a:off x="666750" y="1666875"/>
            <a:ext cx="2857500" cy="4000500"/>
          </a:xfrm>
          <a:custGeom>
            <a:avLst/>
            <a:gdLst/>
            <a:ahLst/>
            <a:cxnLst/>
            <a:rect l="l" t="t" r="r" b="b"/>
            <a:pathLst>
              <a:path w="2857500" h="4000500">
                <a:moveTo>
                  <a:pt x="95250" y="0"/>
                </a:moveTo>
                <a:lnTo>
                  <a:pt x="2762250" y="0"/>
                </a:lnTo>
                <a:cubicBezTo>
                  <a:pt x="2814855" y="0"/>
                  <a:pt x="2857500" y="42645"/>
                  <a:pt x="2857500" y="95250"/>
                </a:cubicBezTo>
                <a:lnTo>
                  <a:pt x="2857500" y="3905250"/>
                </a:lnTo>
                <a:cubicBezTo>
                  <a:pt x="2857500" y="3957855"/>
                  <a:pt x="2814855" y="4000500"/>
                  <a:pt x="2762250" y="4000500"/>
                </a:cubicBezTo>
                <a:lnTo>
                  <a:pt x="95250" y="4000500"/>
                </a:lnTo>
                <a:cubicBezTo>
                  <a:pt x="42645" y="4000500"/>
                  <a:pt x="0" y="3957855"/>
                  <a:pt x="0" y="390525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pic>
        <p:nvPicPr>
          <p:cNvPr id="14" name="Image 14"/>
          <p:cNvPicPr>
            <a:picLocks noChangeAspect="1"/>
          </p:cNvPicPr>
          <p:nvPr/>
        </p:nvPicPr>
        <p:blipFill>
          <a:blip r:embed="rId3"/>
          <a:stretch>
            <a:fillRect/>
          </a:stretch>
        </p:blipFill>
        <p:spPr>
          <a:xfrm>
            <a:off x="904875" y="1955482"/>
            <a:ext cx="2381250" cy="2088832"/>
          </a:xfrm>
          <a:prstGeom prst="rect">
            <a:avLst/>
          </a:prstGeom>
        </p:spPr>
      </p:pic>
      <p:sp>
        <p:nvSpPr>
          <p:cNvPr id="15" name="TextBox 15"/>
          <p:cNvSpPr txBox="1"/>
          <p:nvPr/>
        </p:nvSpPr>
        <p:spPr>
          <a:xfrm>
            <a:off x="1403616" y="4314825"/>
            <a:ext cx="1383768" cy="304800"/>
          </a:xfrm>
          <a:prstGeom prst="rect">
            <a:avLst/>
          </a:prstGeom>
          <a:noFill/>
          <a:ln>
            <a:noFill/>
          </a:ln>
        </p:spPr>
        <p:txBody>
          <a:bodyPr wrap="none" lIns="0" tIns="0" rIns="0" bIns="0" anchor="t" anchorCtr="0">
            <a:spAutoFit/>
          </a:bodyPr>
          <a:lstStyle/>
          <a:p>
            <a:pPr algn="ctr"/>
            <a:r>
              <a:rPr lang="zh-CN" sz="1500" b="1" dirty="0">
                <a:solidFill>
                  <a:srgbClr val="003366"/>
                </a:solidFill>
                <a:latin typeface="Arial"/>
                <a:ea typeface="Microsoft YaHei"/>
                <a:cs typeface="Arial"/>
              </a:rPr>
              <a:t>A. A. Albert</a:t>
            </a:r>
          </a:p>
        </p:txBody>
      </p:sp>
      <p:sp>
        <p:nvSpPr>
          <p:cNvPr id="16" name="Freeform 16"/>
          <p:cNvSpPr/>
          <p:nvPr/>
        </p:nvSpPr>
        <p:spPr>
          <a:xfrm>
            <a:off x="3905250" y="1666875"/>
            <a:ext cx="7620000" cy="4000500"/>
          </a:xfrm>
          <a:custGeom>
            <a:avLst/>
            <a:gdLst/>
            <a:ahLst/>
            <a:cxnLst/>
            <a:rect l="l" t="t" r="r" b="b"/>
            <a:pathLst>
              <a:path w="7620000" h="4000500">
                <a:moveTo>
                  <a:pt x="95250" y="0"/>
                </a:moveTo>
                <a:lnTo>
                  <a:pt x="7524750" y="0"/>
                </a:lnTo>
                <a:cubicBezTo>
                  <a:pt x="7577355" y="0"/>
                  <a:pt x="7620000" y="42645"/>
                  <a:pt x="7620000" y="95250"/>
                </a:cubicBezTo>
                <a:lnTo>
                  <a:pt x="7620000" y="3905250"/>
                </a:lnTo>
                <a:cubicBezTo>
                  <a:pt x="7620000" y="3957855"/>
                  <a:pt x="7577355" y="4000500"/>
                  <a:pt x="7524750" y="4000500"/>
                </a:cubicBezTo>
                <a:lnTo>
                  <a:pt x="95250" y="4000500"/>
                </a:lnTo>
                <a:cubicBezTo>
                  <a:pt x="42645" y="4000500"/>
                  <a:pt x="0" y="3957855"/>
                  <a:pt x="0" y="390525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pic>
        <p:nvPicPr>
          <p:cNvPr id="17" name="Image 17"/>
          <p:cNvPicPr>
            <a:picLocks noChangeAspect="1"/>
          </p:cNvPicPr>
          <p:nvPr/>
        </p:nvPicPr>
        <p:blipFill>
          <a:blip r:embed="rId4"/>
          <a:stretch>
            <a:fillRect/>
          </a:stretch>
        </p:blipFill>
        <p:spPr>
          <a:xfrm>
            <a:off x="4191000" y="1952625"/>
            <a:ext cx="7048500" cy="2381250"/>
          </a:xfrm>
          <a:prstGeom prst="rect">
            <a:avLst/>
          </a:prstGeom>
        </p:spPr>
      </p:pic>
      <p:sp>
        <p:nvSpPr>
          <p:cNvPr id="18" name="Rectangle 18"/>
          <p:cNvSpPr/>
          <p:nvPr/>
        </p:nvSpPr>
        <p:spPr>
          <a:xfrm>
            <a:off x="4191000" y="1952625"/>
            <a:ext cx="7048500" cy="2381250"/>
          </a:xfrm>
          <a:prstGeom prst="rect">
            <a:avLst/>
          </a:prstGeom>
          <a:solidFill>
            <a:srgbClr val="FFFFFF">
              <a:alpha val="20000"/>
            </a:srgbClr>
          </a:solidFill>
          <a:ln>
            <a:noFill/>
          </a:ln>
        </p:spPr>
        <p:txBody>
          <a:bodyPr/>
          <a:lstStyle/>
          <a:p>
            <a:endParaRPr lang="zh-CN" altLang="en-US"/>
          </a:p>
        </p:txBody>
      </p:sp>
      <p:sp>
        <p:nvSpPr>
          <p:cNvPr id="19" name="TextBox 19"/>
          <p:cNvSpPr txBox="1"/>
          <p:nvPr/>
        </p:nvSpPr>
        <p:spPr>
          <a:xfrm>
            <a:off x="1485739" y="4669749"/>
            <a:ext cx="1180481" cy="426720"/>
          </a:xfrm>
          <a:prstGeom prst="rect">
            <a:avLst/>
          </a:prstGeom>
          <a:noFill/>
          <a:ln>
            <a:noFill/>
          </a:ln>
        </p:spPr>
        <p:txBody>
          <a:bodyPr wrap="none" lIns="0" tIns="0" rIns="0" bIns="0" anchor="t" anchorCtr="0">
            <a:spAutoFit/>
          </a:bodyPr>
          <a:lstStyle/>
          <a:p>
            <a:pPr algn="ctr"/>
            <a:r>
              <a:rPr lang="zh-CN" sz="2100" b="1" dirty="0">
                <a:solidFill>
                  <a:srgbClr val="003366"/>
                </a:solidFill>
                <a:latin typeface="Arial"/>
                <a:ea typeface="Microsoft YaHei"/>
                <a:cs typeface="Arial"/>
              </a:rPr>
              <a:t>H_3(O)</a:t>
            </a:r>
          </a:p>
        </p:txBody>
      </p:sp>
      <p:sp>
        <p:nvSpPr>
          <p:cNvPr id="20" name="TextBox 20"/>
          <p:cNvSpPr txBox="1"/>
          <p:nvPr/>
        </p:nvSpPr>
        <p:spPr>
          <a:xfrm>
            <a:off x="427273" y="5084087"/>
            <a:ext cx="3297412"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3x3 Hermitian octonionic matrices</a:t>
            </a:r>
          </a:p>
        </p:txBody>
      </p:sp>
      <p:sp>
        <p:nvSpPr>
          <p:cNvPr id="21" name="Freeform 21"/>
          <p:cNvSpPr/>
          <p:nvPr/>
        </p:nvSpPr>
        <p:spPr>
          <a:xfrm>
            <a:off x="4476750" y="4619625"/>
            <a:ext cx="2095500" cy="742950"/>
          </a:xfrm>
          <a:custGeom>
            <a:avLst/>
            <a:gdLst/>
            <a:ahLst/>
            <a:cxnLst/>
            <a:rect l="l" t="t" r="r" b="b"/>
            <a:pathLst>
              <a:path w="2095500" h="742950">
                <a:moveTo>
                  <a:pt x="95250" y="0"/>
                </a:moveTo>
                <a:lnTo>
                  <a:pt x="2000250" y="0"/>
                </a:lnTo>
                <a:cubicBezTo>
                  <a:pt x="2052855" y="0"/>
                  <a:pt x="2095500" y="42645"/>
                  <a:pt x="2095500" y="95250"/>
                </a:cubicBezTo>
                <a:lnTo>
                  <a:pt x="2095500" y="647700"/>
                </a:lnTo>
                <a:cubicBezTo>
                  <a:pt x="2095500" y="700305"/>
                  <a:pt x="2052855" y="742950"/>
                  <a:pt x="2000250" y="742950"/>
                </a:cubicBezTo>
                <a:lnTo>
                  <a:pt x="95250" y="742950"/>
                </a:lnTo>
                <a:cubicBezTo>
                  <a:pt x="42645" y="742950"/>
                  <a:pt x="0" y="700305"/>
                  <a:pt x="0" y="64770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sp>
        <p:nvSpPr>
          <p:cNvPr id="22" name="TextBox 22"/>
          <p:cNvSpPr txBox="1"/>
          <p:nvPr/>
        </p:nvSpPr>
        <p:spPr>
          <a:xfrm>
            <a:off x="4595147" y="4742498"/>
            <a:ext cx="1858706" cy="396240"/>
          </a:xfrm>
          <a:prstGeom prst="rect">
            <a:avLst/>
          </a:prstGeom>
          <a:noFill/>
          <a:ln>
            <a:noFill/>
          </a:ln>
        </p:spPr>
        <p:txBody>
          <a:bodyPr wrap="none" lIns="0" tIns="0" rIns="0" bIns="0" anchor="t" anchorCtr="0">
            <a:spAutoFit/>
          </a:bodyPr>
          <a:lstStyle/>
          <a:p>
            <a:pPr algn="ctr"/>
            <a:r>
              <a:rPr lang="zh-CN" sz="1950" b="1" dirty="0">
                <a:solidFill>
                  <a:srgbClr val="CC0000"/>
                </a:solidFill>
                <a:latin typeface="Arial"/>
                <a:ea typeface="Microsoft YaHei"/>
                <a:cs typeface="Arial"/>
              </a:rPr>
              <a:t>Dimension 27</a:t>
            </a:r>
          </a:p>
        </p:txBody>
      </p:sp>
      <p:sp>
        <p:nvSpPr>
          <p:cNvPr id="23" name="Freeform 23"/>
          <p:cNvSpPr/>
          <p:nvPr/>
        </p:nvSpPr>
        <p:spPr>
          <a:xfrm>
            <a:off x="6762750" y="4619625"/>
            <a:ext cx="2095500" cy="742950"/>
          </a:xfrm>
          <a:custGeom>
            <a:avLst/>
            <a:gdLst/>
            <a:ahLst/>
            <a:cxnLst/>
            <a:rect l="l" t="t" r="r" b="b"/>
            <a:pathLst>
              <a:path w="2095500" h="742950">
                <a:moveTo>
                  <a:pt x="95250" y="0"/>
                </a:moveTo>
                <a:lnTo>
                  <a:pt x="2000250" y="0"/>
                </a:lnTo>
                <a:cubicBezTo>
                  <a:pt x="2052855" y="0"/>
                  <a:pt x="2095500" y="42645"/>
                  <a:pt x="2095500" y="95250"/>
                </a:cubicBezTo>
                <a:lnTo>
                  <a:pt x="2095500" y="647700"/>
                </a:lnTo>
                <a:cubicBezTo>
                  <a:pt x="2095500" y="700305"/>
                  <a:pt x="2052855" y="742950"/>
                  <a:pt x="2000250" y="742950"/>
                </a:cubicBezTo>
                <a:lnTo>
                  <a:pt x="95250" y="742950"/>
                </a:lnTo>
                <a:cubicBezTo>
                  <a:pt x="42645" y="742950"/>
                  <a:pt x="0" y="700305"/>
                  <a:pt x="0" y="64770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sp>
        <p:nvSpPr>
          <p:cNvPr id="24" name="TextBox 24"/>
          <p:cNvSpPr txBox="1"/>
          <p:nvPr/>
        </p:nvSpPr>
        <p:spPr>
          <a:xfrm>
            <a:off x="6955906" y="4742498"/>
            <a:ext cx="1709187" cy="396240"/>
          </a:xfrm>
          <a:prstGeom prst="rect">
            <a:avLst/>
          </a:prstGeom>
          <a:noFill/>
          <a:ln>
            <a:noFill/>
          </a:ln>
        </p:spPr>
        <p:txBody>
          <a:bodyPr wrap="none" lIns="0" tIns="0" rIns="0" bIns="0" anchor="t" anchorCtr="0">
            <a:spAutoFit/>
          </a:bodyPr>
          <a:lstStyle/>
          <a:p>
            <a:pPr algn="ctr"/>
            <a:r>
              <a:rPr lang="zh-CN" sz="1950" b="1" dirty="0">
                <a:solidFill>
                  <a:srgbClr val="CC0000"/>
                </a:solidFill>
                <a:latin typeface="Arial"/>
                <a:ea typeface="Microsoft YaHei"/>
                <a:cs typeface="Arial"/>
              </a:rPr>
              <a:t>Exceptional</a:t>
            </a:r>
          </a:p>
        </p:txBody>
      </p:sp>
      <p:sp>
        <p:nvSpPr>
          <p:cNvPr id="25" name="Freeform 25"/>
          <p:cNvSpPr/>
          <p:nvPr/>
        </p:nvSpPr>
        <p:spPr>
          <a:xfrm>
            <a:off x="9048750" y="4619625"/>
            <a:ext cx="2095500" cy="742950"/>
          </a:xfrm>
          <a:custGeom>
            <a:avLst/>
            <a:gdLst/>
            <a:ahLst/>
            <a:cxnLst/>
            <a:rect l="l" t="t" r="r" b="b"/>
            <a:pathLst>
              <a:path w="2095500" h="742950">
                <a:moveTo>
                  <a:pt x="95250" y="0"/>
                </a:moveTo>
                <a:lnTo>
                  <a:pt x="2000250" y="0"/>
                </a:lnTo>
                <a:cubicBezTo>
                  <a:pt x="2052855" y="0"/>
                  <a:pt x="2095500" y="42645"/>
                  <a:pt x="2095500" y="95250"/>
                </a:cubicBezTo>
                <a:lnTo>
                  <a:pt x="2095500" y="647700"/>
                </a:lnTo>
                <a:cubicBezTo>
                  <a:pt x="2095500" y="700305"/>
                  <a:pt x="2052855" y="742950"/>
                  <a:pt x="2000250" y="742950"/>
                </a:cubicBezTo>
                <a:lnTo>
                  <a:pt x="95250" y="742950"/>
                </a:lnTo>
                <a:cubicBezTo>
                  <a:pt x="42645" y="742950"/>
                  <a:pt x="0" y="700305"/>
                  <a:pt x="0" y="64770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sp>
        <p:nvSpPr>
          <p:cNvPr id="26" name="TextBox 26"/>
          <p:cNvSpPr txBox="1"/>
          <p:nvPr/>
        </p:nvSpPr>
        <p:spPr>
          <a:xfrm>
            <a:off x="8804061" y="4774882"/>
            <a:ext cx="2584878" cy="335280"/>
          </a:xfrm>
          <a:prstGeom prst="rect">
            <a:avLst/>
          </a:prstGeom>
          <a:noFill/>
          <a:ln>
            <a:noFill/>
          </a:ln>
        </p:spPr>
        <p:txBody>
          <a:bodyPr wrap="none" lIns="0" tIns="0" rIns="0" bIns="0" anchor="t" anchorCtr="0">
            <a:spAutoFit/>
          </a:bodyPr>
          <a:lstStyle/>
          <a:p>
            <a:pPr algn="ctr"/>
            <a:r>
              <a:rPr lang="zh-CN" sz="1650" b="1" dirty="0">
                <a:solidFill>
                  <a:srgbClr val="003366"/>
                </a:solidFill>
                <a:latin typeface="Arial"/>
                <a:ea typeface="Microsoft YaHei"/>
                <a:cs typeface="Arial"/>
              </a:rPr>
              <a:t>Unique classical case</a:t>
            </a: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964454"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10 From Physics to Pure Algebra</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799985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After the 1930s, Jordan theory becomes a major branch of nonassociative algebra.</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10</a:t>
            </a:r>
          </a:p>
        </p:txBody>
      </p:sp>
      <p:sp>
        <p:nvSpPr>
          <p:cNvPr id="13" name="Line 13"/>
          <p:cNvSpPr/>
          <p:nvPr/>
        </p:nvSpPr>
        <p:spPr>
          <a:xfrm>
            <a:off x="1238250" y="3476625"/>
            <a:ext cx="8763000" cy="9525"/>
          </a:xfrm>
          <a:custGeom>
            <a:avLst/>
            <a:gdLst/>
            <a:ahLst/>
            <a:cxnLst/>
            <a:rect l="l" t="t" r="r" b="b"/>
            <a:pathLst>
              <a:path w="8763000" h="9525">
                <a:moveTo>
                  <a:pt x="0" y="0"/>
                </a:moveTo>
                <a:lnTo>
                  <a:pt x="8763000" y="0"/>
                </a:lnTo>
              </a:path>
            </a:pathLst>
          </a:custGeom>
          <a:noFill/>
          <a:ln w="57150" cap="rnd">
            <a:solidFill>
              <a:srgbClr val="D9E2EC"/>
            </a:solidFill>
          </a:ln>
        </p:spPr>
        <p:txBody>
          <a:bodyPr/>
          <a:lstStyle/>
          <a:p>
            <a:endParaRPr lang="zh-CN" altLang="en-US"/>
          </a:p>
        </p:txBody>
      </p:sp>
      <p:sp>
        <p:nvSpPr>
          <p:cNvPr id="14" name="Ellipse 14"/>
          <p:cNvSpPr/>
          <p:nvPr/>
        </p:nvSpPr>
        <p:spPr>
          <a:xfrm>
            <a:off x="1028700" y="3267075"/>
            <a:ext cx="419100" cy="419100"/>
          </a:xfrm>
          <a:prstGeom prst="ellipse">
            <a:avLst/>
          </a:prstGeom>
          <a:solidFill>
            <a:srgbClr val="003366"/>
          </a:solidFill>
          <a:ln>
            <a:noFill/>
          </a:ln>
        </p:spPr>
        <p:txBody>
          <a:bodyPr/>
          <a:lstStyle/>
          <a:p>
            <a:endParaRPr lang="zh-CN" altLang="en-US"/>
          </a:p>
        </p:txBody>
      </p:sp>
      <p:sp>
        <p:nvSpPr>
          <p:cNvPr id="15" name="TextBox 15"/>
          <p:cNvSpPr txBox="1"/>
          <p:nvPr/>
        </p:nvSpPr>
        <p:spPr>
          <a:xfrm>
            <a:off x="1206117" y="3436620"/>
            <a:ext cx="64265"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16" name="Freeform 16"/>
          <p:cNvSpPr/>
          <p:nvPr/>
        </p:nvSpPr>
        <p:spPr>
          <a:xfrm>
            <a:off x="333375" y="1571625"/>
            <a:ext cx="1809750" cy="1047750"/>
          </a:xfrm>
          <a:custGeom>
            <a:avLst/>
            <a:gdLst/>
            <a:ahLst/>
            <a:cxnLst/>
            <a:rect l="l" t="t" r="r" b="b"/>
            <a:pathLst>
              <a:path w="1809750" h="1047750">
                <a:moveTo>
                  <a:pt x="95250" y="0"/>
                </a:moveTo>
                <a:lnTo>
                  <a:pt x="1714500" y="0"/>
                </a:lnTo>
                <a:cubicBezTo>
                  <a:pt x="1767105" y="0"/>
                  <a:pt x="1809750" y="42645"/>
                  <a:pt x="1809750" y="95250"/>
                </a:cubicBezTo>
                <a:lnTo>
                  <a:pt x="1809750" y="952500"/>
                </a:lnTo>
                <a:cubicBezTo>
                  <a:pt x="1809750" y="1005105"/>
                  <a:pt x="1767105" y="1047750"/>
                  <a:pt x="1714500" y="1047750"/>
                </a:cubicBezTo>
                <a:lnTo>
                  <a:pt x="95250" y="1047750"/>
                </a:lnTo>
                <a:cubicBezTo>
                  <a:pt x="42645" y="1047750"/>
                  <a:pt x="0" y="1005105"/>
                  <a:pt x="0" y="952500"/>
                </a:cubicBezTo>
                <a:lnTo>
                  <a:pt x="0" y="95250"/>
                </a:lnTo>
                <a:cubicBezTo>
                  <a:pt x="0" y="42645"/>
                  <a:pt x="42645" y="0"/>
                  <a:pt x="95250" y="0"/>
                </a:cubicBezTo>
                <a:close/>
              </a:path>
            </a:pathLst>
          </a:custGeom>
          <a:solidFill>
            <a:srgbClr val="FFFFFF"/>
          </a:solidFill>
          <a:ln w="9525">
            <a:solidFill>
              <a:srgbClr val="003366"/>
            </a:solidFill>
          </a:ln>
        </p:spPr>
        <p:txBody>
          <a:bodyPr/>
          <a:lstStyle/>
          <a:p>
            <a:endParaRPr lang="zh-CN" altLang="en-US"/>
          </a:p>
        </p:txBody>
      </p:sp>
      <p:sp>
        <p:nvSpPr>
          <p:cNvPr id="17" name="TextBox 17"/>
          <p:cNvSpPr txBox="1"/>
          <p:nvPr/>
        </p:nvSpPr>
        <p:spPr>
          <a:xfrm>
            <a:off x="992981" y="1775460"/>
            <a:ext cx="490538" cy="243840"/>
          </a:xfrm>
          <a:prstGeom prst="rect">
            <a:avLst/>
          </a:prstGeom>
          <a:noFill/>
          <a:ln>
            <a:noFill/>
          </a:ln>
        </p:spPr>
        <p:txBody>
          <a:bodyPr wrap="none" lIns="0" tIns="0" rIns="0" bIns="0" anchor="t" anchorCtr="0">
            <a:spAutoFit/>
          </a:bodyPr>
          <a:lstStyle/>
          <a:p>
            <a:pPr algn="ctr"/>
            <a:r>
              <a:rPr lang="zh-CN" sz="1200" b="1" dirty="0">
                <a:solidFill>
                  <a:srgbClr val="003366"/>
                </a:solidFill>
                <a:latin typeface="Arial"/>
                <a:ea typeface="Microsoft YaHei"/>
                <a:cs typeface="Arial"/>
              </a:rPr>
              <a:t>1930s</a:t>
            </a:r>
          </a:p>
        </p:txBody>
      </p:sp>
      <p:sp>
        <p:nvSpPr>
          <p:cNvPr id="18" name="TextBox 18"/>
          <p:cNvSpPr txBox="1"/>
          <p:nvPr/>
        </p:nvSpPr>
        <p:spPr>
          <a:xfrm>
            <a:off x="503505" y="2015014"/>
            <a:ext cx="1469490" cy="259080"/>
          </a:xfrm>
          <a:prstGeom prst="rect">
            <a:avLst/>
          </a:prstGeom>
          <a:noFill/>
          <a:ln>
            <a:noFill/>
          </a:ln>
        </p:spPr>
        <p:txBody>
          <a:bodyPr wrap="none" lIns="0" tIns="0" rIns="0" bIns="0" anchor="t" anchorCtr="0">
            <a:spAutoFit/>
          </a:bodyPr>
          <a:lstStyle/>
          <a:p>
            <a:pPr algn="ctr"/>
            <a:r>
              <a:rPr lang="zh-CN" sz="1275" b="1" dirty="0">
                <a:solidFill>
                  <a:srgbClr val="333333"/>
                </a:solidFill>
                <a:latin typeface="Arial"/>
                <a:ea typeface="Microsoft YaHei"/>
                <a:cs typeface="Arial"/>
              </a:rPr>
              <a:t>Quantum origin</a:t>
            </a:r>
          </a:p>
        </p:txBody>
      </p:sp>
      <p:sp>
        <p:nvSpPr>
          <p:cNvPr id="19" name="Line 19"/>
          <p:cNvSpPr/>
          <p:nvPr/>
        </p:nvSpPr>
        <p:spPr>
          <a:xfrm>
            <a:off x="1238250" y="2571750"/>
            <a:ext cx="9525" cy="695325"/>
          </a:xfrm>
          <a:custGeom>
            <a:avLst/>
            <a:gdLst/>
            <a:ahLst/>
            <a:cxnLst/>
            <a:rect l="l" t="t" r="r" b="b"/>
            <a:pathLst>
              <a:path w="9525" h="695325">
                <a:moveTo>
                  <a:pt x="0" y="695325"/>
                </a:moveTo>
                <a:lnTo>
                  <a:pt x="0" y="0"/>
                </a:lnTo>
              </a:path>
            </a:pathLst>
          </a:custGeom>
          <a:noFill/>
          <a:ln w="19050">
            <a:solidFill>
              <a:srgbClr val="003366"/>
            </a:solidFill>
            <a:custDash>
              <a:ds d="250000" sp="200000"/>
            </a:custDash>
          </a:ln>
        </p:spPr>
        <p:txBody>
          <a:bodyPr/>
          <a:lstStyle/>
          <a:p>
            <a:endParaRPr lang="zh-CN" altLang="en-US"/>
          </a:p>
        </p:txBody>
      </p:sp>
      <p:sp>
        <p:nvSpPr>
          <p:cNvPr id="20" name="Ellipse 20"/>
          <p:cNvSpPr/>
          <p:nvPr/>
        </p:nvSpPr>
        <p:spPr>
          <a:xfrm>
            <a:off x="3219450" y="3267075"/>
            <a:ext cx="419100" cy="419100"/>
          </a:xfrm>
          <a:prstGeom prst="ellipse">
            <a:avLst/>
          </a:prstGeom>
          <a:solidFill>
            <a:srgbClr val="0066CC"/>
          </a:solidFill>
          <a:ln>
            <a:noFill/>
          </a:ln>
        </p:spPr>
        <p:txBody>
          <a:bodyPr/>
          <a:lstStyle/>
          <a:p>
            <a:endParaRPr lang="zh-CN" altLang="en-US"/>
          </a:p>
        </p:txBody>
      </p:sp>
      <p:sp>
        <p:nvSpPr>
          <p:cNvPr id="21" name="TextBox 21"/>
          <p:cNvSpPr txBox="1"/>
          <p:nvPr/>
        </p:nvSpPr>
        <p:spPr>
          <a:xfrm>
            <a:off x="3379615" y="3436620"/>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22" name="Freeform 22"/>
          <p:cNvSpPr/>
          <p:nvPr/>
        </p:nvSpPr>
        <p:spPr>
          <a:xfrm>
            <a:off x="2524125" y="4048125"/>
            <a:ext cx="1809750" cy="1047750"/>
          </a:xfrm>
          <a:custGeom>
            <a:avLst/>
            <a:gdLst/>
            <a:ahLst/>
            <a:cxnLst/>
            <a:rect l="l" t="t" r="r" b="b"/>
            <a:pathLst>
              <a:path w="1809750" h="1047750">
                <a:moveTo>
                  <a:pt x="95250" y="0"/>
                </a:moveTo>
                <a:lnTo>
                  <a:pt x="1714500" y="0"/>
                </a:lnTo>
                <a:cubicBezTo>
                  <a:pt x="1767105" y="0"/>
                  <a:pt x="1809750" y="42645"/>
                  <a:pt x="1809750" y="95250"/>
                </a:cubicBezTo>
                <a:lnTo>
                  <a:pt x="1809750" y="952500"/>
                </a:lnTo>
                <a:cubicBezTo>
                  <a:pt x="1809750" y="1005105"/>
                  <a:pt x="1767105" y="1047750"/>
                  <a:pt x="1714500" y="1047750"/>
                </a:cubicBezTo>
                <a:lnTo>
                  <a:pt x="95250" y="1047750"/>
                </a:lnTo>
                <a:cubicBezTo>
                  <a:pt x="42645" y="1047750"/>
                  <a:pt x="0" y="1005105"/>
                  <a:pt x="0" y="95250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3" name="TextBox 23"/>
          <p:cNvSpPr txBox="1"/>
          <p:nvPr/>
        </p:nvSpPr>
        <p:spPr>
          <a:xfrm>
            <a:off x="2981306" y="4251960"/>
            <a:ext cx="895388" cy="243840"/>
          </a:xfrm>
          <a:prstGeom prst="rect">
            <a:avLst/>
          </a:prstGeom>
          <a:noFill/>
          <a:ln>
            <a:noFill/>
          </a:ln>
        </p:spPr>
        <p:txBody>
          <a:bodyPr wrap="none" lIns="0" tIns="0" rIns="0" bIns="0" anchor="t" anchorCtr="0">
            <a:spAutoFit/>
          </a:bodyPr>
          <a:lstStyle/>
          <a:p>
            <a:pPr algn="ctr"/>
            <a:r>
              <a:rPr lang="zh-CN" sz="1200" b="1" dirty="0">
                <a:solidFill>
                  <a:srgbClr val="0066CC"/>
                </a:solidFill>
                <a:latin typeface="Arial"/>
                <a:ea typeface="Microsoft YaHei"/>
                <a:cs typeface="Arial"/>
              </a:rPr>
              <a:t>1940s-50s</a:t>
            </a:r>
          </a:p>
        </p:txBody>
      </p:sp>
      <p:sp>
        <p:nvSpPr>
          <p:cNvPr id="24" name="TextBox 24"/>
          <p:cNvSpPr txBox="1"/>
          <p:nvPr/>
        </p:nvSpPr>
        <p:spPr>
          <a:xfrm>
            <a:off x="2572052" y="4491514"/>
            <a:ext cx="1713895" cy="259080"/>
          </a:xfrm>
          <a:prstGeom prst="rect">
            <a:avLst/>
          </a:prstGeom>
          <a:noFill/>
          <a:ln>
            <a:noFill/>
          </a:ln>
        </p:spPr>
        <p:txBody>
          <a:bodyPr wrap="none" lIns="0" tIns="0" rIns="0" bIns="0" anchor="t" anchorCtr="0">
            <a:spAutoFit/>
          </a:bodyPr>
          <a:lstStyle/>
          <a:p>
            <a:pPr algn="ctr"/>
            <a:r>
              <a:rPr lang="zh-CN" sz="1275" b="1" dirty="0">
                <a:solidFill>
                  <a:srgbClr val="333333"/>
                </a:solidFill>
                <a:latin typeface="Arial"/>
                <a:ea typeface="Microsoft YaHei"/>
                <a:cs typeface="Arial"/>
              </a:rPr>
              <a:t>Albert &amp; Jacobson</a:t>
            </a:r>
          </a:p>
        </p:txBody>
      </p:sp>
      <p:sp>
        <p:nvSpPr>
          <p:cNvPr id="25" name="Line 25"/>
          <p:cNvSpPr/>
          <p:nvPr/>
        </p:nvSpPr>
        <p:spPr>
          <a:xfrm>
            <a:off x="3429000" y="3686175"/>
            <a:ext cx="9525" cy="371475"/>
          </a:xfrm>
          <a:custGeom>
            <a:avLst/>
            <a:gdLst/>
            <a:ahLst/>
            <a:cxnLst/>
            <a:rect l="l" t="t" r="r" b="b"/>
            <a:pathLst>
              <a:path w="9525" h="371475">
                <a:moveTo>
                  <a:pt x="0" y="0"/>
                </a:moveTo>
                <a:lnTo>
                  <a:pt x="0" y="371475"/>
                </a:lnTo>
              </a:path>
            </a:pathLst>
          </a:custGeom>
          <a:noFill/>
          <a:ln w="19050">
            <a:solidFill>
              <a:srgbClr val="0066CC"/>
            </a:solidFill>
            <a:custDash>
              <a:ds d="250000" sp="200000"/>
            </a:custDash>
          </a:ln>
        </p:spPr>
        <p:txBody>
          <a:bodyPr/>
          <a:lstStyle/>
          <a:p>
            <a:endParaRPr lang="zh-CN" altLang="en-US"/>
          </a:p>
        </p:txBody>
      </p:sp>
      <p:sp>
        <p:nvSpPr>
          <p:cNvPr id="26" name="Ellipse 26"/>
          <p:cNvSpPr/>
          <p:nvPr/>
        </p:nvSpPr>
        <p:spPr>
          <a:xfrm>
            <a:off x="5410200" y="3267075"/>
            <a:ext cx="419100" cy="419100"/>
          </a:xfrm>
          <a:prstGeom prst="ellipse">
            <a:avLst/>
          </a:prstGeom>
          <a:solidFill>
            <a:srgbClr val="28A745"/>
          </a:solidFill>
          <a:ln>
            <a:noFill/>
          </a:ln>
        </p:spPr>
        <p:txBody>
          <a:bodyPr/>
          <a:lstStyle/>
          <a:p>
            <a:endParaRPr lang="zh-CN" altLang="en-US"/>
          </a:p>
        </p:txBody>
      </p:sp>
      <p:sp>
        <p:nvSpPr>
          <p:cNvPr id="27" name="TextBox 27"/>
          <p:cNvSpPr txBox="1"/>
          <p:nvPr/>
        </p:nvSpPr>
        <p:spPr>
          <a:xfrm>
            <a:off x="5570365" y="3436620"/>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28" name="Freeform 28"/>
          <p:cNvSpPr/>
          <p:nvPr/>
        </p:nvSpPr>
        <p:spPr>
          <a:xfrm>
            <a:off x="4714875" y="1571625"/>
            <a:ext cx="1809750" cy="1047750"/>
          </a:xfrm>
          <a:custGeom>
            <a:avLst/>
            <a:gdLst/>
            <a:ahLst/>
            <a:cxnLst/>
            <a:rect l="l" t="t" r="r" b="b"/>
            <a:pathLst>
              <a:path w="1809750" h="1047750">
                <a:moveTo>
                  <a:pt x="95250" y="0"/>
                </a:moveTo>
                <a:lnTo>
                  <a:pt x="1714500" y="0"/>
                </a:lnTo>
                <a:cubicBezTo>
                  <a:pt x="1767105" y="0"/>
                  <a:pt x="1809750" y="42645"/>
                  <a:pt x="1809750" y="95250"/>
                </a:cubicBezTo>
                <a:lnTo>
                  <a:pt x="1809750" y="952500"/>
                </a:lnTo>
                <a:cubicBezTo>
                  <a:pt x="1809750" y="1005105"/>
                  <a:pt x="1767105" y="1047750"/>
                  <a:pt x="1714500" y="1047750"/>
                </a:cubicBezTo>
                <a:lnTo>
                  <a:pt x="95250" y="1047750"/>
                </a:lnTo>
                <a:cubicBezTo>
                  <a:pt x="42645" y="1047750"/>
                  <a:pt x="0" y="1005105"/>
                  <a:pt x="0" y="952500"/>
                </a:cubicBezTo>
                <a:lnTo>
                  <a:pt x="0" y="95250"/>
                </a:lnTo>
                <a:cubicBezTo>
                  <a:pt x="0" y="42645"/>
                  <a:pt x="42645" y="0"/>
                  <a:pt x="95250" y="0"/>
                </a:cubicBezTo>
                <a:close/>
              </a:path>
            </a:pathLst>
          </a:custGeom>
          <a:solidFill>
            <a:srgbClr val="FFFFFF"/>
          </a:solidFill>
          <a:ln w="9525">
            <a:solidFill>
              <a:srgbClr val="28A745"/>
            </a:solidFill>
          </a:ln>
        </p:spPr>
        <p:txBody>
          <a:bodyPr/>
          <a:lstStyle/>
          <a:p>
            <a:endParaRPr lang="zh-CN" altLang="en-US"/>
          </a:p>
        </p:txBody>
      </p:sp>
      <p:sp>
        <p:nvSpPr>
          <p:cNvPr id="29" name="TextBox 29"/>
          <p:cNvSpPr txBox="1"/>
          <p:nvPr/>
        </p:nvSpPr>
        <p:spPr>
          <a:xfrm>
            <a:off x="5172056" y="1775460"/>
            <a:ext cx="895388" cy="243840"/>
          </a:xfrm>
          <a:prstGeom prst="rect">
            <a:avLst/>
          </a:prstGeom>
          <a:noFill/>
          <a:ln>
            <a:noFill/>
          </a:ln>
        </p:spPr>
        <p:txBody>
          <a:bodyPr wrap="none" lIns="0" tIns="0" rIns="0" bIns="0" anchor="t" anchorCtr="0">
            <a:spAutoFit/>
          </a:bodyPr>
          <a:lstStyle/>
          <a:p>
            <a:pPr algn="ctr"/>
            <a:r>
              <a:rPr lang="zh-CN" sz="1200" b="1" dirty="0">
                <a:solidFill>
                  <a:srgbClr val="28A745"/>
                </a:solidFill>
                <a:latin typeface="Arial"/>
                <a:ea typeface="Microsoft YaHei"/>
                <a:cs typeface="Arial"/>
              </a:rPr>
              <a:t>1960s-70s</a:t>
            </a:r>
          </a:p>
        </p:txBody>
      </p:sp>
      <p:sp>
        <p:nvSpPr>
          <p:cNvPr id="30" name="TextBox 30"/>
          <p:cNvSpPr txBox="1"/>
          <p:nvPr/>
        </p:nvSpPr>
        <p:spPr>
          <a:xfrm>
            <a:off x="4880117" y="2015014"/>
            <a:ext cx="1479266" cy="259080"/>
          </a:xfrm>
          <a:prstGeom prst="rect">
            <a:avLst/>
          </a:prstGeom>
          <a:noFill/>
          <a:ln>
            <a:noFill/>
          </a:ln>
        </p:spPr>
        <p:txBody>
          <a:bodyPr wrap="none" lIns="0" tIns="0" rIns="0" bIns="0" anchor="t" anchorCtr="0">
            <a:spAutoFit/>
          </a:bodyPr>
          <a:lstStyle/>
          <a:p>
            <a:pPr algn="ctr"/>
            <a:r>
              <a:rPr lang="zh-CN" sz="1275" b="1" dirty="0">
                <a:solidFill>
                  <a:srgbClr val="333333"/>
                </a:solidFill>
                <a:latin typeface="Arial"/>
                <a:ea typeface="Microsoft YaHei"/>
                <a:cs typeface="Arial"/>
              </a:rPr>
              <a:t>Meyberg / Loos</a:t>
            </a:r>
          </a:p>
        </p:txBody>
      </p:sp>
      <p:sp>
        <p:nvSpPr>
          <p:cNvPr id="31" name="Line 31"/>
          <p:cNvSpPr/>
          <p:nvPr/>
        </p:nvSpPr>
        <p:spPr>
          <a:xfrm>
            <a:off x="5619750" y="2571750"/>
            <a:ext cx="9525" cy="695325"/>
          </a:xfrm>
          <a:custGeom>
            <a:avLst/>
            <a:gdLst/>
            <a:ahLst/>
            <a:cxnLst/>
            <a:rect l="l" t="t" r="r" b="b"/>
            <a:pathLst>
              <a:path w="9525" h="695325">
                <a:moveTo>
                  <a:pt x="0" y="695325"/>
                </a:moveTo>
                <a:lnTo>
                  <a:pt x="0" y="0"/>
                </a:lnTo>
              </a:path>
            </a:pathLst>
          </a:custGeom>
          <a:noFill/>
          <a:ln w="19050">
            <a:solidFill>
              <a:srgbClr val="28A745"/>
            </a:solidFill>
            <a:custDash>
              <a:ds d="250000" sp="200000"/>
            </a:custDash>
          </a:ln>
        </p:spPr>
        <p:txBody>
          <a:bodyPr/>
          <a:lstStyle/>
          <a:p>
            <a:endParaRPr lang="zh-CN" altLang="en-US"/>
          </a:p>
        </p:txBody>
      </p:sp>
      <p:sp>
        <p:nvSpPr>
          <p:cNvPr id="32" name="Ellipse 32"/>
          <p:cNvSpPr/>
          <p:nvPr/>
        </p:nvSpPr>
        <p:spPr>
          <a:xfrm>
            <a:off x="7600950" y="3267075"/>
            <a:ext cx="419100" cy="419100"/>
          </a:xfrm>
          <a:prstGeom prst="ellipse">
            <a:avLst/>
          </a:prstGeom>
          <a:solidFill>
            <a:srgbClr val="B8860B"/>
          </a:solidFill>
          <a:ln>
            <a:noFill/>
          </a:ln>
        </p:spPr>
        <p:txBody>
          <a:bodyPr/>
          <a:lstStyle/>
          <a:p>
            <a:endParaRPr lang="zh-CN" altLang="en-US"/>
          </a:p>
        </p:txBody>
      </p:sp>
      <p:sp>
        <p:nvSpPr>
          <p:cNvPr id="33" name="TextBox 33"/>
          <p:cNvSpPr txBox="1"/>
          <p:nvPr/>
        </p:nvSpPr>
        <p:spPr>
          <a:xfrm>
            <a:off x="7761115" y="3436620"/>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4</a:t>
            </a:r>
          </a:p>
        </p:txBody>
      </p:sp>
      <p:sp>
        <p:nvSpPr>
          <p:cNvPr id="34" name="Freeform 34"/>
          <p:cNvSpPr/>
          <p:nvPr/>
        </p:nvSpPr>
        <p:spPr>
          <a:xfrm>
            <a:off x="6905625" y="4048125"/>
            <a:ext cx="1809750" cy="1047750"/>
          </a:xfrm>
          <a:custGeom>
            <a:avLst/>
            <a:gdLst/>
            <a:ahLst/>
            <a:cxnLst/>
            <a:rect l="l" t="t" r="r" b="b"/>
            <a:pathLst>
              <a:path w="1809750" h="1047750">
                <a:moveTo>
                  <a:pt x="95250" y="0"/>
                </a:moveTo>
                <a:lnTo>
                  <a:pt x="1714500" y="0"/>
                </a:lnTo>
                <a:cubicBezTo>
                  <a:pt x="1767105" y="0"/>
                  <a:pt x="1809750" y="42645"/>
                  <a:pt x="1809750" y="95250"/>
                </a:cubicBezTo>
                <a:lnTo>
                  <a:pt x="1809750" y="952500"/>
                </a:lnTo>
                <a:cubicBezTo>
                  <a:pt x="1809750" y="1005105"/>
                  <a:pt x="1767105" y="1047750"/>
                  <a:pt x="1714500" y="1047750"/>
                </a:cubicBezTo>
                <a:lnTo>
                  <a:pt x="95250" y="1047750"/>
                </a:lnTo>
                <a:cubicBezTo>
                  <a:pt x="42645" y="1047750"/>
                  <a:pt x="0" y="1005105"/>
                  <a:pt x="0" y="952500"/>
                </a:cubicBezTo>
                <a:lnTo>
                  <a:pt x="0" y="95250"/>
                </a:lnTo>
                <a:cubicBezTo>
                  <a:pt x="0" y="42645"/>
                  <a:pt x="42645" y="0"/>
                  <a:pt x="95250" y="0"/>
                </a:cubicBezTo>
                <a:close/>
              </a:path>
            </a:pathLst>
          </a:custGeom>
          <a:solidFill>
            <a:srgbClr val="FFFFFF"/>
          </a:solidFill>
          <a:ln w="9525">
            <a:solidFill>
              <a:srgbClr val="B8860B"/>
            </a:solidFill>
          </a:ln>
        </p:spPr>
        <p:txBody>
          <a:bodyPr/>
          <a:lstStyle/>
          <a:p>
            <a:endParaRPr lang="zh-CN" altLang="en-US"/>
          </a:p>
        </p:txBody>
      </p:sp>
      <p:sp>
        <p:nvSpPr>
          <p:cNvPr id="35" name="TextBox 35"/>
          <p:cNvSpPr txBox="1"/>
          <p:nvPr/>
        </p:nvSpPr>
        <p:spPr>
          <a:xfrm>
            <a:off x="7615838" y="4251960"/>
            <a:ext cx="389325" cy="243840"/>
          </a:xfrm>
          <a:prstGeom prst="rect">
            <a:avLst/>
          </a:prstGeom>
          <a:noFill/>
          <a:ln>
            <a:noFill/>
          </a:ln>
        </p:spPr>
        <p:txBody>
          <a:bodyPr wrap="none" lIns="0" tIns="0" rIns="0" bIns="0" anchor="t" anchorCtr="0">
            <a:spAutoFit/>
          </a:bodyPr>
          <a:lstStyle/>
          <a:p>
            <a:pPr algn="ctr"/>
            <a:r>
              <a:rPr lang="zh-CN" sz="1200" b="1" dirty="0">
                <a:solidFill>
                  <a:srgbClr val="B8860B"/>
                </a:solidFill>
                <a:latin typeface="Arial"/>
                <a:ea typeface="Microsoft YaHei"/>
                <a:cs typeface="Arial"/>
              </a:rPr>
              <a:t>1978</a:t>
            </a:r>
          </a:p>
        </p:txBody>
      </p:sp>
      <p:sp>
        <p:nvSpPr>
          <p:cNvPr id="36" name="TextBox 36"/>
          <p:cNvSpPr txBox="1"/>
          <p:nvPr/>
        </p:nvSpPr>
        <p:spPr>
          <a:xfrm>
            <a:off x="7276168" y="4491514"/>
            <a:ext cx="1068665" cy="259080"/>
          </a:xfrm>
          <a:prstGeom prst="rect">
            <a:avLst/>
          </a:prstGeom>
          <a:noFill/>
          <a:ln>
            <a:noFill/>
          </a:ln>
        </p:spPr>
        <p:txBody>
          <a:bodyPr wrap="none" lIns="0" tIns="0" rIns="0" bIns="0" anchor="t" anchorCtr="0">
            <a:spAutoFit/>
          </a:bodyPr>
          <a:lstStyle/>
          <a:p>
            <a:pPr algn="ctr"/>
            <a:r>
              <a:rPr lang="zh-CN" sz="1275" b="1" dirty="0">
                <a:solidFill>
                  <a:srgbClr val="333333"/>
                </a:solidFill>
                <a:latin typeface="Arial"/>
                <a:ea typeface="Microsoft YaHei"/>
                <a:cs typeface="Arial"/>
              </a:rPr>
              <a:t>McCrimmon</a:t>
            </a:r>
          </a:p>
        </p:txBody>
      </p:sp>
      <p:sp>
        <p:nvSpPr>
          <p:cNvPr id="37" name="Line 37"/>
          <p:cNvSpPr/>
          <p:nvPr/>
        </p:nvSpPr>
        <p:spPr>
          <a:xfrm>
            <a:off x="7810500" y="3686175"/>
            <a:ext cx="9525" cy="371475"/>
          </a:xfrm>
          <a:custGeom>
            <a:avLst/>
            <a:gdLst/>
            <a:ahLst/>
            <a:cxnLst/>
            <a:rect l="l" t="t" r="r" b="b"/>
            <a:pathLst>
              <a:path w="9525" h="371475">
                <a:moveTo>
                  <a:pt x="0" y="0"/>
                </a:moveTo>
                <a:lnTo>
                  <a:pt x="0" y="371475"/>
                </a:lnTo>
              </a:path>
            </a:pathLst>
          </a:custGeom>
          <a:noFill/>
          <a:ln w="19050">
            <a:solidFill>
              <a:srgbClr val="B8860B"/>
            </a:solidFill>
            <a:custDash>
              <a:ds d="250000" sp="200000"/>
            </a:custDash>
          </a:ln>
        </p:spPr>
        <p:txBody>
          <a:bodyPr/>
          <a:lstStyle/>
          <a:p>
            <a:endParaRPr lang="zh-CN" altLang="en-US"/>
          </a:p>
        </p:txBody>
      </p:sp>
      <p:sp>
        <p:nvSpPr>
          <p:cNvPr id="38" name="Ellipse 38"/>
          <p:cNvSpPr/>
          <p:nvPr/>
        </p:nvSpPr>
        <p:spPr>
          <a:xfrm>
            <a:off x="9791700" y="3267075"/>
            <a:ext cx="419100" cy="419100"/>
          </a:xfrm>
          <a:prstGeom prst="ellipse">
            <a:avLst/>
          </a:prstGeom>
          <a:solidFill>
            <a:srgbClr val="CC0000"/>
          </a:solidFill>
          <a:ln>
            <a:noFill/>
          </a:ln>
        </p:spPr>
        <p:txBody>
          <a:bodyPr/>
          <a:lstStyle/>
          <a:p>
            <a:endParaRPr lang="zh-CN" altLang="en-US"/>
          </a:p>
        </p:txBody>
      </p:sp>
      <p:sp>
        <p:nvSpPr>
          <p:cNvPr id="39" name="TextBox 39"/>
          <p:cNvSpPr txBox="1"/>
          <p:nvPr/>
        </p:nvSpPr>
        <p:spPr>
          <a:xfrm>
            <a:off x="9951865" y="3436620"/>
            <a:ext cx="987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5</a:t>
            </a:r>
          </a:p>
        </p:txBody>
      </p:sp>
      <p:sp>
        <p:nvSpPr>
          <p:cNvPr id="40" name="Freeform 40"/>
          <p:cNvSpPr/>
          <p:nvPr/>
        </p:nvSpPr>
        <p:spPr>
          <a:xfrm>
            <a:off x="9096375" y="1571625"/>
            <a:ext cx="1809750" cy="1047750"/>
          </a:xfrm>
          <a:custGeom>
            <a:avLst/>
            <a:gdLst/>
            <a:ahLst/>
            <a:cxnLst/>
            <a:rect l="l" t="t" r="r" b="b"/>
            <a:pathLst>
              <a:path w="1809750" h="1047750">
                <a:moveTo>
                  <a:pt x="95250" y="0"/>
                </a:moveTo>
                <a:lnTo>
                  <a:pt x="1714500" y="0"/>
                </a:lnTo>
                <a:cubicBezTo>
                  <a:pt x="1767105" y="0"/>
                  <a:pt x="1809750" y="42645"/>
                  <a:pt x="1809750" y="95250"/>
                </a:cubicBezTo>
                <a:lnTo>
                  <a:pt x="1809750" y="952500"/>
                </a:lnTo>
                <a:cubicBezTo>
                  <a:pt x="1809750" y="1005105"/>
                  <a:pt x="1767105" y="1047750"/>
                  <a:pt x="1714500" y="1047750"/>
                </a:cubicBezTo>
                <a:lnTo>
                  <a:pt x="95250" y="1047750"/>
                </a:lnTo>
                <a:cubicBezTo>
                  <a:pt x="42645" y="1047750"/>
                  <a:pt x="0" y="1005105"/>
                  <a:pt x="0" y="952500"/>
                </a:cubicBezTo>
                <a:lnTo>
                  <a:pt x="0" y="95250"/>
                </a:lnTo>
                <a:cubicBezTo>
                  <a:pt x="0" y="42645"/>
                  <a:pt x="42645" y="0"/>
                  <a:pt x="95250" y="0"/>
                </a:cubicBezTo>
                <a:close/>
              </a:path>
            </a:pathLst>
          </a:custGeom>
          <a:solidFill>
            <a:srgbClr val="FFFFFF"/>
          </a:solidFill>
          <a:ln w="9525">
            <a:solidFill>
              <a:srgbClr val="CC0000"/>
            </a:solidFill>
          </a:ln>
        </p:spPr>
        <p:txBody>
          <a:bodyPr/>
          <a:lstStyle/>
          <a:p>
            <a:endParaRPr lang="zh-CN" altLang="en-US"/>
          </a:p>
        </p:txBody>
      </p:sp>
      <p:sp>
        <p:nvSpPr>
          <p:cNvPr id="41" name="TextBox 41"/>
          <p:cNvSpPr txBox="1"/>
          <p:nvPr/>
        </p:nvSpPr>
        <p:spPr>
          <a:xfrm>
            <a:off x="9806588" y="1775460"/>
            <a:ext cx="389325" cy="243840"/>
          </a:xfrm>
          <a:prstGeom prst="rect">
            <a:avLst/>
          </a:prstGeom>
          <a:noFill/>
          <a:ln>
            <a:noFill/>
          </a:ln>
        </p:spPr>
        <p:txBody>
          <a:bodyPr wrap="none" lIns="0" tIns="0" rIns="0" bIns="0" anchor="t" anchorCtr="0">
            <a:spAutoFit/>
          </a:bodyPr>
          <a:lstStyle/>
          <a:p>
            <a:pPr algn="ctr"/>
            <a:r>
              <a:rPr lang="zh-CN" sz="1200" b="1" dirty="0">
                <a:solidFill>
                  <a:srgbClr val="CC0000"/>
                </a:solidFill>
                <a:latin typeface="Arial"/>
                <a:ea typeface="Microsoft YaHei"/>
                <a:cs typeface="Arial"/>
              </a:rPr>
              <a:t>1983</a:t>
            </a:r>
          </a:p>
        </p:txBody>
      </p:sp>
      <p:sp>
        <p:nvSpPr>
          <p:cNvPr id="42" name="TextBox 42"/>
          <p:cNvSpPr txBox="1"/>
          <p:nvPr/>
        </p:nvSpPr>
        <p:spPr>
          <a:xfrm>
            <a:off x="9559792" y="2015014"/>
            <a:ext cx="882916" cy="259080"/>
          </a:xfrm>
          <a:prstGeom prst="rect">
            <a:avLst/>
          </a:prstGeom>
          <a:noFill/>
          <a:ln>
            <a:noFill/>
          </a:ln>
        </p:spPr>
        <p:txBody>
          <a:bodyPr wrap="none" lIns="0" tIns="0" rIns="0" bIns="0" anchor="t" anchorCtr="0">
            <a:spAutoFit/>
          </a:bodyPr>
          <a:lstStyle/>
          <a:p>
            <a:pPr algn="ctr"/>
            <a:r>
              <a:rPr lang="zh-CN" sz="1275" b="1" dirty="0">
                <a:solidFill>
                  <a:srgbClr val="333333"/>
                </a:solidFill>
                <a:latin typeface="Arial"/>
                <a:ea typeface="Microsoft YaHei"/>
                <a:cs typeface="Arial"/>
              </a:rPr>
              <a:t>Zelmanov</a:t>
            </a:r>
          </a:p>
        </p:txBody>
      </p:sp>
      <p:sp>
        <p:nvSpPr>
          <p:cNvPr id="43" name="Line 43"/>
          <p:cNvSpPr/>
          <p:nvPr/>
        </p:nvSpPr>
        <p:spPr>
          <a:xfrm>
            <a:off x="10001250" y="2571750"/>
            <a:ext cx="9525" cy="695325"/>
          </a:xfrm>
          <a:custGeom>
            <a:avLst/>
            <a:gdLst/>
            <a:ahLst/>
            <a:cxnLst/>
            <a:rect l="l" t="t" r="r" b="b"/>
            <a:pathLst>
              <a:path w="9525" h="695325">
                <a:moveTo>
                  <a:pt x="0" y="695325"/>
                </a:moveTo>
                <a:lnTo>
                  <a:pt x="0" y="0"/>
                </a:lnTo>
              </a:path>
            </a:pathLst>
          </a:custGeom>
          <a:noFill/>
          <a:ln w="19050">
            <a:solidFill>
              <a:srgbClr val="CC0000"/>
            </a:solidFill>
            <a:custDash>
              <a:ds d="250000" sp="200000"/>
            </a:custDash>
          </a:ln>
        </p:spPr>
        <p:txBody>
          <a:bodyPr/>
          <a:lstStyle/>
          <a:p>
            <a:endParaRPr lang="zh-CN" altLang="en-US"/>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3563579"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11 Beyond the Real Case</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710274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theory becomes richer over algebraically closed and arbitrary fields.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515153" y="6506528"/>
            <a:ext cx="118682"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11</a:t>
            </a:r>
          </a:p>
        </p:txBody>
      </p:sp>
      <p:sp>
        <p:nvSpPr>
          <p:cNvPr id="13" name="Freeform 13"/>
          <p:cNvSpPr/>
          <p:nvPr/>
        </p:nvSpPr>
        <p:spPr>
          <a:xfrm>
            <a:off x="666750" y="1762125"/>
            <a:ext cx="3048000" cy="3619500"/>
          </a:xfrm>
          <a:custGeom>
            <a:avLst/>
            <a:gdLst/>
            <a:ahLst/>
            <a:cxnLst/>
            <a:rect l="l" t="t" r="r" b="b"/>
            <a:pathLst>
              <a:path w="3048000" h="3619500">
                <a:moveTo>
                  <a:pt x="95250" y="0"/>
                </a:moveTo>
                <a:lnTo>
                  <a:pt x="2952750" y="0"/>
                </a:lnTo>
                <a:cubicBezTo>
                  <a:pt x="3005355" y="0"/>
                  <a:pt x="3048000" y="42645"/>
                  <a:pt x="3048000" y="95250"/>
                </a:cubicBezTo>
                <a:lnTo>
                  <a:pt x="3048000" y="3524250"/>
                </a:lnTo>
                <a:cubicBezTo>
                  <a:pt x="3048000" y="3576855"/>
                  <a:pt x="3005355" y="3619500"/>
                  <a:pt x="2952750" y="3619500"/>
                </a:cubicBezTo>
                <a:lnTo>
                  <a:pt x="95250" y="3619500"/>
                </a:lnTo>
                <a:cubicBezTo>
                  <a:pt x="42645" y="3619500"/>
                  <a:pt x="0" y="3576855"/>
                  <a:pt x="0" y="3524250"/>
                </a:cubicBezTo>
                <a:lnTo>
                  <a:pt x="0" y="95250"/>
                </a:lnTo>
                <a:cubicBezTo>
                  <a:pt x="0" y="42645"/>
                  <a:pt x="42645" y="0"/>
                  <a:pt x="95250" y="0"/>
                </a:cubicBezTo>
                <a:close/>
              </a:path>
            </a:pathLst>
          </a:custGeom>
          <a:solidFill>
            <a:srgbClr val="FFFFFF"/>
          </a:solidFill>
          <a:ln w="19050">
            <a:solidFill>
              <a:srgbClr val="003366"/>
            </a:solidFill>
          </a:ln>
        </p:spPr>
        <p:txBody>
          <a:bodyPr/>
          <a:lstStyle/>
          <a:p>
            <a:endParaRPr lang="zh-CN" altLang="en-US"/>
          </a:p>
        </p:txBody>
      </p:sp>
      <p:sp>
        <p:nvSpPr>
          <p:cNvPr id="14" name="Freeform 14"/>
          <p:cNvSpPr/>
          <p:nvPr/>
        </p:nvSpPr>
        <p:spPr>
          <a:xfrm>
            <a:off x="666750" y="1762125"/>
            <a:ext cx="3048000" cy="666750"/>
          </a:xfrm>
          <a:custGeom>
            <a:avLst/>
            <a:gdLst/>
            <a:ahLst/>
            <a:cxnLst/>
            <a:rect l="l" t="t" r="r" b="b"/>
            <a:pathLst>
              <a:path w="3048000" h="666750">
                <a:moveTo>
                  <a:pt x="95250" y="0"/>
                </a:moveTo>
                <a:lnTo>
                  <a:pt x="2952750" y="0"/>
                </a:lnTo>
                <a:cubicBezTo>
                  <a:pt x="3005355" y="0"/>
                  <a:pt x="3048000" y="42645"/>
                  <a:pt x="3048000" y="95250"/>
                </a:cubicBezTo>
                <a:lnTo>
                  <a:pt x="3048000" y="571500"/>
                </a:lnTo>
                <a:cubicBezTo>
                  <a:pt x="3048000" y="624105"/>
                  <a:pt x="3005355" y="666750"/>
                  <a:pt x="2952750" y="666750"/>
                </a:cubicBezTo>
                <a:lnTo>
                  <a:pt x="95250" y="666750"/>
                </a:lnTo>
                <a:cubicBezTo>
                  <a:pt x="42645" y="666750"/>
                  <a:pt x="0" y="624105"/>
                  <a:pt x="0" y="571500"/>
                </a:cubicBezTo>
                <a:lnTo>
                  <a:pt x="0" y="95250"/>
                </a:lnTo>
                <a:cubicBezTo>
                  <a:pt x="0" y="42645"/>
                  <a:pt x="42645" y="0"/>
                  <a:pt x="95250" y="0"/>
                </a:cubicBezTo>
                <a:close/>
              </a:path>
            </a:pathLst>
          </a:custGeom>
          <a:solidFill>
            <a:srgbClr val="003366">
              <a:alpha val="8000"/>
            </a:srgbClr>
          </a:solidFill>
          <a:ln>
            <a:noFill/>
          </a:ln>
        </p:spPr>
        <p:txBody>
          <a:bodyPr/>
          <a:lstStyle/>
          <a:p>
            <a:endParaRPr lang="zh-CN" altLang="en-US"/>
          </a:p>
        </p:txBody>
      </p:sp>
      <p:sp>
        <p:nvSpPr>
          <p:cNvPr id="15" name="TextBox 15"/>
          <p:cNvSpPr txBox="1"/>
          <p:nvPr/>
        </p:nvSpPr>
        <p:spPr>
          <a:xfrm>
            <a:off x="1164210" y="1961198"/>
            <a:ext cx="2053080" cy="396240"/>
          </a:xfrm>
          <a:prstGeom prst="rect">
            <a:avLst/>
          </a:prstGeom>
          <a:noFill/>
          <a:ln>
            <a:noFill/>
          </a:ln>
        </p:spPr>
        <p:txBody>
          <a:bodyPr wrap="none" lIns="0" tIns="0" rIns="0" bIns="0" anchor="t" anchorCtr="0">
            <a:spAutoFit/>
          </a:bodyPr>
          <a:lstStyle/>
          <a:p>
            <a:pPr algn="ctr"/>
            <a:r>
              <a:rPr lang="zh-CN" sz="1950" b="1" dirty="0">
                <a:solidFill>
                  <a:srgbClr val="003366"/>
                </a:solidFill>
                <a:latin typeface="Arial"/>
                <a:ea typeface="Microsoft YaHei"/>
                <a:cs typeface="Arial"/>
              </a:rPr>
              <a:t>General fields</a:t>
            </a:r>
          </a:p>
        </p:txBody>
      </p:sp>
      <p:sp>
        <p:nvSpPr>
          <p:cNvPr id="16" name="TextBox 16"/>
          <p:cNvSpPr txBox="1"/>
          <p:nvPr/>
        </p:nvSpPr>
        <p:spPr>
          <a:xfrm>
            <a:off x="1030605" y="2997518"/>
            <a:ext cx="106941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Study over</a:t>
            </a:r>
          </a:p>
        </p:txBody>
      </p:sp>
      <p:sp>
        <p:nvSpPr>
          <p:cNvPr id="17" name="TextBox 17"/>
          <p:cNvSpPr txBox="1"/>
          <p:nvPr/>
        </p:nvSpPr>
        <p:spPr>
          <a:xfrm>
            <a:off x="1030605" y="3245168"/>
            <a:ext cx="1907381"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algebraically closed</a:t>
            </a:r>
          </a:p>
        </p:txBody>
      </p:sp>
      <p:sp>
        <p:nvSpPr>
          <p:cNvPr id="18" name="TextBox 18"/>
          <p:cNvSpPr txBox="1"/>
          <p:nvPr/>
        </p:nvSpPr>
        <p:spPr>
          <a:xfrm>
            <a:off x="1030605" y="3492818"/>
            <a:ext cx="173978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fields and general</a:t>
            </a:r>
          </a:p>
        </p:txBody>
      </p:sp>
      <p:sp>
        <p:nvSpPr>
          <p:cNvPr id="19" name="TextBox 19"/>
          <p:cNvSpPr txBox="1"/>
          <p:nvPr/>
        </p:nvSpPr>
        <p:spPr>
          <a:xfrm>
            <a:off x="1030605" y="3740468"/>
            <a:ext cx="58635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fields</a:t>
            </a:r>
          </a:p>
        </p:txBody>
      </p:sp>
      <p:sp>
        <p:nvSpPr>
          <p:cNvPr id="20" name="Freeform 20"/>
          <p:cNvSpPr/>
          <p:nvPr/>
        </p:nvSpPr>
        <p:spPr>
          <a:xfrm>
            <a:off x="4333875" y="1762125"/>
            <a:ext cx="3048000" cy="3619500"/>
          </a:xfrm>
          <a:custGeom>
            <a:avLst/>
            <a:gdLst/>
            <a:ahLst/>
            <a:cxnLst/>
            <a:rect l="l" t="t" r="r" b="b"/>
            <a:pathLst>
              <a:path w="3048000" h="3619500">
                <a:moveTo>
                  <a:pt x="95250" y="0"/>
                </a:moveTo>
                <a:lnTo>
                  <a:pt x="2952750" y="0"/>
                </a:lnTo>
                <a:cubicBezTo>
                  <a:pt x="3005355" y="0"/>
                  <a:pt x="3048000" y="42645"/>
                  <a:pt x="3048000" y="95250"/>
                </a:cubicBezTo>
                <a:lnTo>
                  <a:pt x="3048000" y="3524250"/>
                </a:lnTo>
                <a:cubicBezTo>
                  <a:pt x="3048000" y="3576855"/>
                  <a:pt x="3005355" y="3619500"/>
                  <a:pt x="2952750" y="3619500"/>
                </a:cubicBezTo>
                <a:lnTo>
                  <a:pt x="95250" y="3619500"/>
                </a:lnTo>
                <a:cubicBezTo>
                  <a:pt x="42645" y="3619500"/>
                  <a:pt x="0" y="3576855"/>
                  <a:pt x="0" y="3524250"/>
                </a:cubicBezTo>
                <a:lnTo>
                  <a:pt x="0" y="95250"/>
                </a:lnTo>
                <a:cubicBezTo>
                  <a:pt x="0" y="42645"/>
                  <a:pt x="42645" y="0"/>
                  <a:pt x="95250" y="0"/>
                </a:cubicBezTo>
                <a:close/>
              </a:path>
            </a:pathLst>
          </a:custGeom>
          <a:solidFill>
            <a:srgbClr val="FFFFFF"/>
          </a:solidFill>
          <a:ln w="19050">
            <a:solidFill>
              <a:srgbClr val="0066CC"/>
            </a:solidFill>
          </a:ln>
        </p:spPr>
        <p:txBody>
          <a:bodyPr/>
          <a:lstStyle/>
          <a:p>
            <a:endParaRPr lang="zh-CN" altLang="en-US"/>
          </a:p>
        </p:txBody>
      </p:sp>
      <p:sp>
        <p:nvSpPr>
          <p:cNvPr id="21" name="Freeform 21"/>
          <p:cNvSpPr/>
          <p:nvPr/>
        </p:nvSpPr>
        <p:spPr>
          <a:xfrm>
            <a:off x="4333875" y="1762125"/>
            <a:ext cx="3048000" cy="666750"/>
          </a:xfrm>
          <a:custGeom>
            <a:avLst/>
            <a:gdLst/>
            <a:ahLst/>
            <a:cxnLst/>
            <a:rect l="l" t="t" r="r" b="b"/>
            <a:pathLst>
              <a:path w="3048000" h="666750">
                <a:moveTo>
                  <a:pt x="95250" y="0"/>
                </a:moveTo>
                <a:lnTo>
                  <a:pt x="2952750" y="0"/>
                </a:lnTo>
                <a:cubicBezTo>
                  <a:pt x="3005355" y="0"/>
                  <a:pt x="3048000" y="42645"/>
                  <a:pt x="3048000" y="95250"/>
                </a:cubicBezTo>
                <a:lnTo>
                  <a:pt x="3048000" y="571500"/>
                </a:lnTo>
                <a:cubicBezTo>
                  <a:pt x="3048000" y="624105"/>
                  <a:pt x="3005355" y="666750"/>
                  <a:pt x="2952750" y="666750"/>
                </a:cubicBezTo>
                <a:lnTo>
                  <a:pt x="95250" y="666750"/>
                </a:lnTo>
                <a:cubicBezTo>
                  <a:pt x="42645" y="666750"/>
                  <a:pt x="0" y="624105"/>
                  <a:pt x="0" y="571500"/>
                </a:cubicBezTo>
                <a:lnTo>
                  <a:pt x="0" y="95250"/>
                </a:lnTo>
                <a:cubicBezTo>
                  <a:pt x="0" y="42645"/>
                  <a:pt x="42645" y="0"/>
                  <a:pt x="95250" y="0"/>
                </a:cubicBezTo>
                <a:close/>
              </a:path>
            </a:pathLst>
          </a:custGeom>
          <a:solidFill>
            <a:srgbClr val="0066CC">
              <a:alpha val="8000"/>
            </a:srgbClr>
          </a:solidFill>
          <a:ln>
            <a:noFill/>
          </a:ln>
        </p:spPr>
        <p:txBody>
          <a:bodyPr/>
          <a:lstStyle/>
          <a:p>
            <a:endParaRPr lang="zh-CN" altLang="en-US"/>
          </a:p>
        </p:txBody>
      </p:sp>
      <p:sp>
        <p:nvSpPr>
          <p:cNvPr id="22" name="TextBox 22"/>
          <p:cNvSpPr txBox="1"/>
          <p:nvPr/>
        </p:nvSpPr>
        <p:spPr>
          <a:xfrm>
            <a:off x="4935998" y="1961198"/>
            <a:ext cx="1843754" cy="396240"/>
          </a:xfrm>
          <a:prstGeom prst="rect">
            <a:avLst/>
          </a:prstGeom>
          <a:noFill/>
          <a:ln>
            <a:noFill/>
          </a:ln>
        </p:spPr>
        <p:txBody>
          <a:bodyPr wrap="none" lIns="0" tIns="0" rIns="0" bIns="0" anchor="t" anchorCtr="0">
            <a:spAutoFit/>
          </a:bodyPr>
          <a:lstStyle/>
          <a:p>
            <a:pPr algn="ctr"/>
            <a:r>
              <a:rPr lang="zh-CN" sz="1950" b="1" dirty="0">
                <a:solidFill>
                  <a:srgbClr val="0066CC"/>
                </a:solidFill>
                <a:latin typeface="Arial"/>
                <a:ea typeface="Microsoft YaHei"/>
                <a:cs typeface="Arial"/>
              </a:rPr>
              <a:t>Three forms</a:t>
            </a:r>
          </a:p>
        </p:txBody>
      </p:sp>
      <p:sp>
        <p:nvSpPr>
          <p:cNvPr id="23" name="TextBox 23"/>
          <p:cNvSpPr txBox="1"/>
          <p:nvPr/>
        </p:nvSpPr>
        <p:spPr>
          <a:xfrm>
            <a:off x="4697730" y="2997518"/>
            <a:ext cx="189752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Split, reduced, and</a:t>
            </a:r>
          </a:p>
        </p:txBody>
      </p:sp>
      <p:sp>
        <p:nvSpPr>
          <p:cNvPr id="24" name="TextBox 24"/>
          <p:cNvSpPr txBox="1"/>
          <p:nvPr/>
        </p:nvSpPr>
        <p:spPr>
          <a:xfrm>
            <a:off x="4697730" y="3245168"/>
            <a:ext cx="1394746"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division forms</a:t>
            </a:r>
          </a:p>
        </p:txBody>
      </p:sp>
      <p:sp>
        <p:nvSpPr>
          <p:cNvPr id="25" name="Freeform 25"/>
          <p:cNvSpPr/>
          <p:nvPr/>
        </p:nvSpPr>
        <p:spPr>
          <a:xfrm>
            <a:off x="8001000" y="1762125"/>
            <a:ext cx="3048000" cy="3619500"/>
          </a:xfrm>
          <a:custGeom>
            <a:avLst/>
            <a:gdLst/>
            <a:ahLst/>
            <a:cxnLst/>
            <a:rect l="l" t="t" r="r" b="b"/>
            <a:pathLst>
              <a:path w="3048000" h="3619500">
                <a:moveTo>
                  <a:pt x="95250" y="0"/>
                </a:moveTo>
                <a:lnTo>
                  <a:pt x="2952750" y="0"/>
                </a:lnTo>
                <a:cubicBezTo>
                  <a:pt x="3005355" y="0"/>
                  <a:pt x="3048000" y="42645"/>
                  <a:pt x="3048000" y="95250"/>
                </a:cubicBezTo>
                <a:lnTo>
                  <a:pt x="3048000" y="3524250"/>
                </a:lnTo>
                <a:cubicBezTo>
                  <a:pt x="3048000" y="3576855"/>
                  <a:pt x="3005355" y="3619500"/>
                  <a:pt x="2952750" y="3619500"/>
                </a:cubicBezTo>
                <a:lnTo>
                  <a:pt x="95250" y="3619500"/>
                </a:lnTo>
                <a:cubicBezTo>
                  <a:pt x="42645" y="3619500"/>
                  <a:pt x="0" y="3576855"/>
                  <a:pt x="0" y="3524250"/>
                </a:cubicBezTo>
                <a:lnTo>
                  <a:pt x="0" y="95250"/>
                </a:lnTo>
                <a:cubicBezTo>
                  <a:pt x="0" y="42645"/>
                  <a:pt x="42645" y="0"/>
                  <a:pt x="95250" y="0"/>
                </a:cubicBezTo>
                <a:close/>
              </a:path>
            </a:pathLst>
          </a:custGeom>
          <a:solidFill>
            <a:srgbClr val="FFFFFF"/>
          </a:solidFill>
          <a:ln w="19050">
            <a:solidFill>
              <a:srgbClr val="28A745"/>
            </a:solidFill>
          </a:ln>
        </p:spPr>
        <p:txBody>
          <a:bodyPr/>
          <a:lstStyle/>
          <a:p>
            <a:endParaRPr lang="zh-CN" altLang="en-US"/>
          </a:p>
        </p:txBody>
      </p:sp>
      <p:sp>
        <p:nvSpPr>
          <p:cNvPr id="26" name="Freeform 26"/>
          <p:cNvSpPr/>
          <p:nvPr/>
        </p:nvSpPr>
        <p:spPr>
          <a:xfrm>
            <a:off x="8001000" y="1762125"/>
            <a:ext cx="3048000" cy="666750"/>
          </a:xfrm>
          <a:custGeom>
            <a:avLst/>
            <a:gdLst/>
            <a:ahLst/>
            <a:cxnLst/>
            <a:rect l="l" t="t" r="r" b="b"/>
            <a:pathLst>
              <a:path w="3048000" h="666750">
                <a:moveTo>
                  <a:pt x="95250" y="0"/>
                </a:moveTo>
                <a:lnTo>
                  <a:pt x="2952750" y="0"/>
                </a:lnTo>
                <a:cubicBezTo>
                  <a:pt x="3005355" y="0"/>
                  <a:pt x="3048000" y="42645"/>
                  <a:pt x="3048000" y="95250"/>
                </a:cubicBezTo>
                <a:lnTo>
                  <a:pt x="3048000" y="571500"/>
                </a:lnTo>
                <a:cubicBezTo>
                  <a:pt x="3048000" y="624105"/>
                  <a:pt x="3005355" y="666750"/>
                  <a:pt x="2952750" y="666750"/>
                </a:cubicBezTo>
                <a:lnTo>
                  <a:pt x="95250" y="666750"/>
                </a:lnTo>
                <a:cubicBezTo>
                  <a:pt x="42645" y="666750"/>
                  <a:pt x="0" y="624105"/>
                  <a:pt x="0" y="571500"/>
                </a:cubicBezTo>
                <a:lnTo>
                  <a:pt x="0" y="95250"/>
                </a:lnTo>
                <a:cubicBezTo>
                  <a:pt x="0" y="42645"/>
                  <a:pt x="42645" y="0"/>
                  <a:pt x="95250" y="0"/>
                </a:cubicBezTo>
                <a:close/>
              </a:path>
            </a:pathLst>
          </a:custGeom>
          <a:solidFill>
            <a:srgbClr val="28A745">
              <a:alpha val="8000"/>
            </a:srgbClr>
          </a:solidFill>
          <a:ln>
            <a:noFill/>
          </a:ln>
        </p:spPr>
        <p:txBody>
          <a:bodyPr/>
          <a:lstStyle/>
          <a:p>
            <a:endParaRPr lang="zh-CN" altLang="en-US"/>
          </a:p>
        </p:txBody>
      </p:sp>
      <p:sp>
        <p:nvSpPr>
          <p:cNvPr id="27" name="TextBox 27"/>
          <p:cNvSpPr txBox="1"/>
          <p:nvPr/>
        </p:nvSpPr>
        <p:spPr>
          <a:xfrm>
            <a:off x="8206898" y="1961198"/>
            <a:ext cx="2636203" cy="396240"/>
          </a:xfrm>
          <a:prstGeom prst="rect">
            <a:avLst/>
          </a:prstGeom>
          <a:noFill/>
          <a:ln>
            <a:noFill/>
          </a:ln>
        </p:spPr>
        <p:txBody>
          <a:bodyPr wrap="none" lIns="0" tIns="0" rIns="0" bIns="0" anchor="t" anchorCtr="0">
            <a:spAutoFit/>
          </a:bodyPr>
          <a:lstStyle/>
          <a:p>
            <a:pPr algn="ctr"/>
            <a:r>
              <a:rPr lang="zh-CN" sz="1950" b="1" dirty="0">
                <a:solidFill>
                  <a:srgbClr val="28A745"/>
                </a:solidFill>
                <a:latin typeface="Arial"/>
                <a:ea typeface="Microsoft YaHei"/>
                <a:cs typeface="Arial"/>
              </a:rPr>
              <a:t>Albert over fields</a:t>
            </a:r>
          </a:p>
        </p:txBody>
      </p:sp>
      <p:sp>
        <p:nvSpPr>
          <p:cNvPr id="28" name="TextBox 28"/>
          <p:cNvSpPr txBox="1"/>
          <p:nvPr/>
        </p:nvSpPr>
        <p:spPr>
          <a:xfrm>
            <a:off x="8364855" y="2997518"/>
            <a:ext cx="200596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Albert algebras over</a:t>
            </a:r>
          </a:p>
        </p:txBody>
      </p:sp>
      <p:sp>
        <p:nvSpPr>
          <p:cNvPr id="29" name="TextBox 29"/>
          <p:cNvSpPr txBox="1"/>
          <p:nvPr/>
        </p:nvSpPr>
        <p:spPr>
          <a:xfrm>
            <a:off x="8364855" y="3245168"/>
            <a:ext cx="1355312"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general fields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22376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12 The Quadratic Viewpoint</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656053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U_x(y) packages structure more effectively than the raw product.</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12</a:t>
            </a:r>
          </a:p>
        </p:txBody>
      </p:sp>
      <p:sp>
        <p:nvSpPr>
          <p:cNvPr id="13" name="Freeform 13"/>
          <p:cNvSpPr/>
          <p:nvPr/>
        </p:nvSpPr>
        <p:spPr>
          <a:xfrm>
            <a:off x="666750" y="1714500"/>
            <a:ext cx="5143500" cy="3429000"/>
          </a:xfrm>
          <a:custGeom>
            <a:avLst/>
            <a:gdLst/>
            <a:ahLst/>
            <a:cxnLst/>
            <a:rect l="l" t="t" r="r" b="b"/>
            <a:pathLst>
              <a:path w="5143500" h="3429000">
                <a:moveTo>
                  <a:pt x="95250" y="0"/>
                </a:moveTo>
                <a:lnTo>
                  <a:pt x="5048250" y="0"/>
                </a:lnTo>
                <a:cubicBezTo>
                  <a:pt x="5100855" y="0"/>
                  <a:pt x="5143500" y="42645"/>
                  <a:pt x="5143500" y="95250"/>
                </a:cubicBezTo>
                <a:lnTo>
                  <a:pt x="5143500" y="3333750"/>
                </a:lnTo>
                <a:cubicBezTo>
                  <a:pt x="5143500" y="3386355"/>
                  <a:pt x="5100855" y="3429000"/>
                  <a:pt x="5048250" y="3429000"/>
                </a:cubicBezTo>
                <a:lnTo>
                  <a:pt x="95250" y="3429000"/>
                </a:lnTo>
                <a:cubicBezTo>
                  <a:pt x="42645" y="3429000"/>
                  <a:pt x="0" y="3386355"/>
                  <a:pt x="0" y="333375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4" name="TextBox 14"/>
          <p:cNvSpPr txBox="1"/>
          <p:nvPr/>
        </p:nvSpPr>
        <p:spPr>
          <a:xfrm>
            <a:off x="2139105" y="1948815"/>
            <a:ext cx="2198789" cy="365760"/>
          </a:xfrm>
          <a:prstGeom prst="rect">
            <a:avLst/>
          </a:prstGeom>
          <a:noFill/>
          <a:ln>
            <a:noFill/>
          </a:ln>
        </p:spPr>
        <p:txBody>
          <a:bodyPr wrap="none" lIns="0" tIns="0" rIns="0" bIns="0" anchor="t" anchorCtr="0">
            <a:spAutoFit/>
          </a:bodyPr>
          <a:lstStyle/>
          <a:p>
            <a:pPr algn="ctr"/>
            <a:r>
              <a:rPr lang="zh-CN" sz="1800" b="1" dirty="0">
                <a:solidFill>
                  <a:srgbClr val="003366"/>
                </a:solidFill>
                <a:latin typeface="Arial"/>
                <a:ea typeface="Microsoft YaHei"/>
                <a:cs typeface="Arial"/>
              </a:rPr>
              <a:t>Bilinear product</a:t>
            </a:r>
          </a:p>
        </p:txBody>
      </p:sp>
      <p:sp>
        <p:nvSpPr>
          <p:cNvPr id="15" name="TextBox 15"/>
          <p:cNvSpPr txBox="1"/>
          <p:nvPr/>
        </p:nvSpPr>
        <p:spPr>
          <a:xfrm>
            <a:off x="2710619" y="2311718"/>
            <a:ext cx="1055763" cy="579120"/>
          </a:xfrm>
          <a:prstGeom prst="rect">
            <a:avLst/>
          </a:prstGeom>
          <a:noFill/>
          <a:ln>
            <a:noFill/>
          </a:ln>
        </p:spPr>
        <p:txBody>
          <a:bodyPr wrap="none" lIns="0" tIns="0" rIns="0" bIns="0" anchor="t" anchorCtr="0">
            <a:spAutoFit/>
          </a:bodyPr>
          <a:lstStyle/>
          <a:p>
            <a:pPr algn="ctr"/>
            <a:r>
              <a:rPr lang="zh-CN" sz="2850" b="1" dirty="0">
                <a:solidFill>
                  <a:srgbClr val="CC0000"/>
                </a:solidFill>
                <a:latin typeface="Arial"/>
                <a:ea typeface="Microsoft YaHei"/>
                <a:cs typeface="Arial"/>
              </a:rPr>
              <a:t>x o y</a:t>
            </a:r>
          </a:p>
        </p:txBody>
      </p:sp>
      <p:sp>
        <p:nvSpPr>
          <p:cNvPr id="16" name="Ellipse 16"/>
          <p:cNvSpPr/>
          <p:nvPr/>
        </p:nvSpPr>
        <p:spPr>
          <a:xfrm>
            <a:off x="909638" y="3100388"/>
            <a:ext cx="85725" cy="85725"/>
          </a:xfrm>
          <a:prstGeom prst="ellipse">
            <a:avLst/>
          </a:prstGeom>
          <a:solidFill>
            <a:srgbClr val="0066CC"/>
          </a:solidFill>
          <a:ln>
            <a:noFill/>
          </a:ln>
        </p:spPr>
        <p:txBody>
          <a:bodyPr/>
          <a:lstStyle/>
          <a:p>
            <a:endParaRPr lang="zh-CN" altLang="en-US"/>
          </a:p>
        </p:txBody>
      </p:sp>
      <p:sp>
        <p:nvSpPr>
          <p:cNvPr id="17" name="TextBox 17"/>
          <p:cNvSpPr txBox="1"/>
          <p:nvPr/>
        </p:nvSpPr>
        <p:spPr>
          <a:xfrm>
            <a:off x="1087755" y="3045142"/>
            <a:ext cx="238058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quadratic operator:</a:t>
            </a:r>
          </a:p>
        </p:txBody>
      </p:sp>
      <p:sp>
        <p:nvSpPr>
          <p:cNvPr id="19" name="TextBox 19"/>
          <p:cNvSpPr txBox="1"/>
          <p:nvPr/>
        </p:nvSpPr>
        <p:spPr>
          <a:xfrm>
            <a:off x="2949924" y="3055882"/>
            <a:ext cx="3128304" cy="207749"/>
          </a:xfrm>
          <a:prstGeom prst="rect">
            <a:avLst/>
          </a:prstGeom>
          <a:noFill/>
          <a:ln>
            <a:noFill/>
          </a:ln>
        </p:spPr>
        <p:txBody>
          <a:bodyPr wrap="square" lIns="0" tIns="0" rIns="0" bIns="0" anchor="t" anchorCtr="0">
            <a:spAutoFit/>
          </a:bodyPr>
          <a:lstStyle/>
          <a:p>
            <a:pPr algn="l"/>
            <a:r>
              <a:rPr lang="zh-CN" sz="1350" dirty="0">
                <a:solidFill>
                  <a:srgbClr val="333333"/>
                </a:solidFill>
                <a:latin typeface="Arial"/>
                <a:ea typeface="Microsoft YaHei"/>
                <a:cs typeface="Arial"/>
              </a:rPr>
              <a:t>U_x(y) = 2x o (x o y) - x^2</a:t>
            </a:r>
          </a:p>
        </p:txBody>
      </p:sp>
      <p:sp>
        <p:nvSpPr>
          <p:cNvPr id="20" name="TextBox 20"/>
          <p:cNvSpPr txBox="1"/>
          <p:nvPr/>
        </p:nvSpPr>
        <p:spPr>
          <a:xfrm>
            <a:off x="4972334" y="3045142"/>
            <a:ext cx="31032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o y</a:t>
            </a:r>
          </a:p>
        </p:txBody>
      </p:sp>
      <p:sp>
        <p:nvSpPr>
          <p:cNvPr id="21" name="Ellipse 21"/>
          <p:cNvSpPr/>
          <p:nvPr/>
        </p:nvSpPr>
        <p:spPr>
          <a:xfrm>
            <a:off x="909638" y="3642309"/>
            <a:ext cx="85725" cy="85725"/>
          </a:xfrm>
          <a:prstGeom prst="ellipse">
            <a:avLst/>
          </a:prstGeom>
          <a:solidFill>
            <a:srgbClr val="0066CC"/>
          </a:solidFill>
          <a:ln>
            <a:noFill/>
          </a:ln>
        </p:spPr>
        <p:txBody>
          <a:bodyPr/>
          <a:lstStyle/>
          <a:p>
            <a:endParaRPr lang="zh-CN" altLang="en-US"/>
          </a:p>
        </p:txBody>
      </p:sp>
      <p:sp>
        <p:nvSpPr>
          <p:cNvPr id="22" name="TextBox 22"/>
          <p:cNvSpPr txBox="1"/>
          <p:nvPr/>
        </p:nvSpPr>
        <p:spPr>
          <a:xfrm>
            <a:off x="1087755" y="3587063"/>
            <a:ext cx="1952458" cy="207749"/>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In spcial algebras: U_x(y)</a:t>
            </a:r>
          </a:p>
        </p:txBody>
      </p:sp>
      <p:sp>
        <p:nvSpPr>
          <p:cNvPr id="23" name="TextBox 23"/>
          <p:cNvSpPr txBox="1"/>
          <p:nvPr/>
        </p:nvSpPr>
        <p:spPr>
          <a:xfrm>
            <a:off x="3177730" y="3590874"/>
            <a:ext cx="52720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 xyx</a:t>
            </a:r>
          </a:p>
        </p:txBody>
      </p:sp>
      <p:sp>
        <p:nvSpPr>
          <p:cNvPr id="24" name="Freeform 24"/>
          <p:cNvSpPr/>
          <p:nvPr/>
        </p:nvSpPr>
        <p:spPr>
          <a:xfrm>
            <a:off x="6381750" y="1714500"/>
            <a:ext cx="5143500" cy="3429000"/>
          </a:xfrm>
          <a:custGeom>
            <a:avLst/>
            <a:gdLst/>
            <a:ahLst/>
            <a:cxnLst/>
            <a:rect l="l" t="t" r="r" b="b"/>
            <a:pathLst>
              <a:path w="5143500" h="3429000">
                <a:moveTo>
                  <a:pt x="95250" y="0"/>
                </a:moveTo>
                <a:lnTo>
                  <a:pt x="5048250" y="0"/>
                </a:lnTo>
                <a:cubicBezTo>
                  <a:pt x="5100855" y="0"/>
                  <a:pt x="5143500" y="42645"/>
                  <a:pt x="5143500" y="95250"/>
                </a:cubicBezTo>
                <a:lnTo>
                  <a:pt x="5143500" y="3333750"/>
                </a:lnTo>
                <a:cubicBezTo>
                  <a:pt x="5143500" y="3386355"/>
                  <a:pt x="5100855" y="3429000"/>
                  <a:pt x="5048250" y="3429000"/>
                </a:cubicBezTo>
                <a:lnTo>
                  <a:pt x="95250" y="3429000"/>
                </a:lnTo>
                <a:cubicBezTo>
                  <a:pt x="42645" y="3429000"/>
                  <a:pt x="0" y="3386355"/>
                  <a:pt x="0" y="333375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5" name="TextBox 25"/>
          <p:cNvSpPr txBox="1"/>
          <p:nvPr/>
        </p:nvSpPr>
        <p:spPr>
          <a:xfrm>
            <a:off x="7605674" y="1948815"/>
            <a:ext cx="2695651" cy="365760"/>
          </a:xfrm>
          <a:prstGeom prst="rect">
            <a:avLst/>
          </a:prstGeom>
          <a:noFill/>
          <a:ln>
            <a:noFill/>
          </a:ln>
        </p:spPr>
        <p:txBody>
          <a:bodyPr wrap="none" lIns="0" tIns="0" rIns="0" bIns="0" anchor="t" anchorCtr="0">
            <a:spAutoFit/>
          </a:bodyPr>
          <a:lstStyle/>
          <a:p>
            <a:pPr algn="ctr"/>
            <a:r>
              <a:rPr lang="zh-CN" sz="1800" b="1" dirty="0">
                <a:solidFill>
                  <a:srgbClr val="003366"/>
                </a:solidFill>
                <a:latin typeface="Arial"/>
                <a:ea typeface="Microsoft YaHei"/>
                <a:cs typeface="Arial"/>
              </a:rPr>
              <a:t>Quadratic operator</a:t>
            </a:r>
          </a:p>
        </p:txBody>
      </p:sp>
      <p:sp>
        <p:nvSpPr>
          <p:cNvPr id="26" name="TextBox 26"/>
          <p:cNvSpPr txBox="1"/>
          <p:nvPr/>
        </p:nvSpPr>
        <p:spPr>
          <a:xfrm>
            <a:off x="6922489" y="2425065"/>
            <a:ext cx="4062022" cy="365760"/>
          </a:xfrm>
          <a:prstGeom prst="rect">
            <a:avLst/>
          </a:prstGeom>
          <a:noFill/>
          <a:ln>
            <a:noFill/>
          </a:ln>
        </p:spPr>
        <p:txBody>
          <a:bodyPr wrap="none" lIns="0" tIns="0" rIns="0" bIns="0" anchor="t" anchorCtr="0">
            <a:spAutoFit/>
          </a:bodyPr>
          <a:lstStyle/>
          <a:p>
            <a:pPr algn="ctr"/>
            <a:r>
              <a:rPr lang="zh-CN" sz="1800" b="1" dirty="0">
                <a:solidFill>
                  <a:srgbClr val="CC0000"/>
                </a:solidFill>
                <a:latin typeface="Arial"/>
                <a:ea typeface="Microsoft YaHei"/>
                <a:cs typeface="Arial"/>
              </a:rPr>
              <a:t>U_x(y) = 2x o (x o y) - x^2 o y</a:t>
            </a:r>
          </a:p>
        </p:txBody>
      </p:sp>
      <p:sp>
        <p:nvSpPr>
          <p:cNvPr id="27" name="Ellipse 27"/>
          <p:cNvSpPr/>
          <p:nvPr/>
        </p:nvSpPr>
        <p:spPr>
          <a:xfrm>
            <a:off x="6624638" y="3100388"/>
            <a:ext cx="85725" cy="85725"/>
          </a:xfrm>
          <a:prstGeom prst="ellipse">
            <a:avLst/>
          </a:prstGeom>
          <a:solidFill>
            <a:srgbClr val="0066CC"/>
          </a:solidFill>
          <a:ln>
            <a:noFill/>
          </a:ln>
        </p:spPr>
        <p:txBody>
          <a:bodyPr/>
          <a:lstStyle/>
          <a:p>
            <a:endParaRPr lang="zh-CN" altLang="en-US"/>
          </a:p>
        </p:txBody>
      </p:sp>
      <p:sp>
        <p:nvSpPr>
          <p:cNvPr id="28" name="TextBox 28"/>
          <p:cNvSpPr txBox="1"/>
          <p:nvPr/>
        </p:nvSpPr>
        <p:spPr>
          <a:xfrm>
            <a:off x="6803708" y="3053239"/>
            <a:ext cx="2630067"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In special algebras: U_x(y) =</a:t>
            </a:r>
          </a:p>
        </p:txBody>
      </p:sp>
      <p:sp>
        <p:nvSpPr>
          <p:cNvPr id="29" name="TextBox 29"/>
          <p:cNvSpPr txBox="1"/>
          <p:nvPr/>
        </p:nvSpPr>
        <p:spPr>
          <a:xfrm>
            <a:off x="8890258" y="3045142"/>
            <a:ext cx="339638"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xyx</a:t>
            </a:r>
          </a:p>
        </p:txBody>
      </p:sp>
      <p:sp>
        <p:nvSpPr>
          <p:cNvPr id="30" name="Ellipse 30"/>
          <p:cNvSpPr/>
          <p:nvPr/>
        </p:nvSpPr>
        <p:spPr>
          <a:xfrm>
            <a:off x="6624638" y="3690938"/>
            <a:ext cx="85725" cy="85725"/>
          </a:xfrm>
          <a:prstGeom prst="ellipse">
            <a:avLst/>
          </a:prstGeom>
          <a:solidFill>
            <a:srgbClr val="0066CC"/>
          </a:solidFill>
          <a:ln>
            <a:noFill/>
          </a:ln>
        </p:spPr>
        <p:txBody>
          <a:bodyPr/>
          <a:lstStyle/>
          <a:p>
            <a:endParaRPr lang="zh-CN" altLang="en-US"/>
          </a:p>
        </p:txBody>
      </p:sp>
      <p:sp>
        <p:nvSpPr>
          <p:cNvPr id="31" name="TextBox 31"/>
          <p:cNvSpPr txBox="1"/>
          <p:nvPr/>
        </p:nvSpPr>
        <p:spPr>
          <a:xfrm>
            <a:off x="6803708" y="3643789"/>
            <a:ext cx="2015561"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Fundamental Formula:</a:t>
            </a:r>
          </a:p>
        </p:txBody>
      </p:sp>
      <p:sp>
        <p:nvSpPr>
          <p:cNvPr id="33" name="TextBox 33"/>
          <p:cNvSpPr txBox="1"/>
          <p:nvPr/>
        </p:nvSpPr>
        <p:spPr>
          <a:xfrm>
            <a:off x="8540454" y="3634027"/>
            <a:ext cx="2304193" cy="259080"/>
          </a:xfrm>
          <a:prstGeom prst="rect">
            <a:avLst/>
          </a:prstGeom>
          <a:noFill/>
          <a:ln>
            <a:noFill/>
          </a:ln>
        </p:spPr>
        <p:txBody>
          <a:bodyPr wrap="none" lIns="0" tIns="0" rIns="0" bIns="0" anchor="t" anchorCtr="0">
            <a:spAutoFit/>
          </a:bodyPr>
          <a:lstStyle/>
          <a:p>
            <a:pPr algn="l"/>
            <a:r>
              <a:rPr lang="zh-CN" sz="1275" dirty="0">
                <a:solidFill>
                  <a:srgbClr val="333333"/>
                </a:solidFill>
                <a:latin typeface="Arial"/>
                <a:ea typeface="Microsoft YaHei"/>
                <a:cs typeface="Arial"/>
              </a:rPr>
              <a:t>U_(U_x(y)) = U_x U_y U_x</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143251"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13 The Wider Jordan Family</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695486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algebras become one node in a much larger family of structures.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13</a:t>
            </a:r>
          </a:p>
        </p:txBody>
      </p:sp>
      <p:sp>
        <p:nvSpPr>
          <p:cNvPr id="13" name="Ellipse 13"/>
          <p:cNvSpPr/>
          <p:nvPr/>
        </p:nvSpPr>
        <p:spPr>
          <a:xfrm>
            <a:off x="5372100" y="2990850"/>
            <a:ext cx="1447800" cy="1447800"/>
          </a:xfrm>
          <a:prstGeom prst="ellipse">
            <a:avLst/>
          </a:prstGeom>
          <a:solidFill>
            <a:srgbClr val="003366">
              <a:alpha val="94000"/>
            </a:srgbClr>
          </a:solidFill>
          <a:ln>
            <a:noFill/>
          </a:ln>
        </p:spPr>
        <p:txBody>
          <a:bodyPr/>
          <a:lstStyle/>
          <a:p>
            <a:endParaRPr lang="zh-CN" altLang="en-US"/>
          </a:p>
        </p:txBody>
      </p:sp>
      <p:sp>
        <p:nvSpPr>
          <p:cNvPr id="14" name="TextBox 14"/>
          <p:cNvSpPr txBox="1"/>
          <p:nvPr/>
        </p:nvSpPr>
        <p:spPr>
          <a:xfrm>
            <a:off x="5657543" y="3441382"/>
            <a:ext cx="87691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Jordan</a:t>
            </a:r>
          </a:p>
        </p:txBody>
      </p:sp>
      <p:sp>
        <p:nvSpPr>
          <p:cNvPr id="15" name="TextBox 15"/>
          <p:cNvSpPr txBox="1"/>
          <p:nvPr/>
        </p:nvSpPr>
        <p:spPr>
          <a:xfrm>
            <a:off x="5379208" y="3689032"/>
            <a:ext cx="1433584"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structures</a:t>
            </a:r>
          </a:p>
        </p:txBody>
      </p:sp>
      <p:sp>
        <p:nvSpPr>
          <p:cNvPr id="16" name="Line 16"/>
          <p:cNvSpPr/>
          <p:nvPr/>
        </p:nvSpPr>
        <p:spPr>
          <a:xfrm>
            <a:off x="6096000" y="1619250"/>
            <a:ext cx="9525" cy="2095500"/>
          </a:xfrm>
          <a:custGeom>
            <a:avLst/>
            <a:gdLst/>
            <a:ahLst/>
            <a:cxnLst/>
            <a:rect l="l" t="t" r="r" b="b"/>
            <a:pathLst>
              <a:path w="9525" h="2095500">
                <a:moveTo>
                  <a:pt x="0" y="2095500"/>
                </a:moveTo>
                <a:lnTo>
                  <a:pt x="0" y="0"/>
                </a:lnTo>
              </a:path>
            </a:pathLst>
          </a:custGeom>
          <a:noFill/>
          <a:ln w="19050">
            <a:solidFill>
              <a:srgbClr val="003366">
                <a:alpha val="35000"/>
              </a:srgbClr>
            </a:solidFill>
          </a:ln>
        </p:spPr>
        <p:txBody>
          <a:bodyPr/>
          <a:lstStyle/>
          <a:p>
            <a:endParaRPr lang="zh-CN" altLang="en-US"/>
          </a:p>
        </p:txBody>
      </p:sp>
      <p:sp>
        <p:nvSpPr>
          <p:cNvPr id="17" name="Freeform 17"/>
          <p:cNvSpPr/>
          <p:nvPr/>
        </p:nvSpPr>
        <p:spPr>
          <a:xfrm>
            <a:off x="5048250" y="12001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003366"/>
            </a:solidFill>
          </a:ln>
        </p:spPr>
        <p:txBody>
          <a:bodyPr/>
          <a:lstStyle/>
          <a:p>
            <a:endParaRPr lang="zh-CN" altLang="en-US"/>
          </a:p>
        </p:txBody>
      </p:sp>
      <p:sp>
        <p:nvSpPr>
          <p:cNvPr id="18" name="TextBox 18"/>
          <p:cNvSpPr txBox="1"/>
          <p:nvPr/>
        </p:nvSpPr>
        <p:spPr>
          <a:xfrm>
            <a:off x="5737262" y="1425892"/>
            <a:ext cx="717475"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Jordan</a:t>
            </a:r>
          </a:p>
        </p:txBody>
      </p:sp>
      <p:sp>
        <p:nvSpPr>
          <p:cNvPr id="19" name="TextBox 19"/>
          <p:cNvSpPr txBox="1"/>
          <p:nvPr/>
        </p:nvSpPr>
        <p:spPr>
          <a:xfrm>
            <a:off x="5649276" y="1616392"/>
            <a:ext cx="893447"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algebras</a:t>
            </a:r>
          </a:p>
        </p:txBody>
      </p:sp>
      <p:sp>
        <p:nvSpPr>
          <p:cNvPr id="20" name="Line 20"/>
          <p:cNvSpPr/>
          <p:nvPr/>
        </p:nvSpPr>
        <p:spPr>
          <a:xfrm>
            <a:off x="6096000" y="3714750"/>
            <a:ext cx="2095500" cy="9525"/>
          </a:xfrm>
          <a:custGeom>
            <a:avLst/>
            <a:gdLst/>
            <a:ahLst/>
            <a:cxnLst/>
            <a:rect l="l" t="t" r="r" b="b"/>
            <a:pathLst>
              <a:path w="2095500" h="9525">
                <a:moveTo>
                  <a:pt x="0" y="0"/>
                </a:moveTo>
                <a:lnTo>
                  <a:pt x="2095500" y="0"/>
                </a:lnTo>
              </a:path>
            </a:pathLst>
          </a:custGeom>
          <a:noFill/>
          <a:ln w="19050">
            <a:solidFill>
              <a:srgbClr val="0066CC">
                <a:alpha val="35000"/>
              </a:srgbClr>
            </a:solidFill>
          </a:ln>
        </p:spPr>
        <p:txBody>
          <a:bodyPr/>
          <a:lstStyle/>
          <a:p>
            <a:endParaRPr lang="zh-CN" altLang="en-US"/>
          </a:p>
        </p:txBody>
      </p:sp>
      <p:sp>
        <p:nvSpPr>
          <p:cNvPr id="21" name="Freeform 21"/>
          <p:cNvSpPr/>
          <p:nvPr/>
        </p:nvSpPr>
        <p:spPr>
          <a:xfrm>
            <a:off x="7143750" y="32956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2" name="TextBox 22"/>
          <p:cNvSpPr txBox="1"/>
          <p:nvPr/>
        </p:nvSpPr>
        <p:spPr>
          <a:xfrm>
            <a:off x="7454940" y="3521392"/>
            <a:ext cx="1473120" cy="274320"/>
          </a:xfrm>
          <a:prstGeom prst="rect">
            <a:avLst/>
          </a:prstGeom>
          <a:noFill/>
          <a:ln>
            <a:noFill/>
          </a:ln>
        </p:spPr>
        <p:txBody>
          <a:bodyPr wrap="none" lIns="0" tIns="0" rIns="0" bIns="0" anchor="t" anchorCtr="0">
            <a:spAutoFit/>
          </a:bodyPr>
          <a:lstStyle/>
          <a:p>
            <a:pPr algn="ctr"/>
            <a:r>
              <a:rPr lang="zh-CN" sz="1350" b="1" dirty="0">
                <a:solidFill>
                  <a:srgbClr val="0066CC"/>
                </a:solidFill>
                <a:latin typeface="Arial"/>
                <a:ea typeface="Microsoft YaHei"/>
                <a:cs typeface="Arial"/>
              </a:rPr>
              <a:t>Jordan triples</a:t>
            </a:r>
          </a:p>
        </p:txBody>
      </p:sp>
      <p:sp>
        <p:nvSpPr>
          <p:cNvPr id="23" name="Line 23"/>
          <p:cNvSpPr/>
          <p:nvPr/>
        </p:nvSpPr>
        <p:spPr>
          <a:xfrm>
            <a:off x="6096000" y="3714750"/>
            <a:ext cx="9525" cy="2095500"/>
          </a:xfrm>
          <a:custGeom>
            <a:avLst/>
            <a:gdLst/>
            <a:ahLst/>
            <a:cxnLst/>
            <a:rect l="l" t="t" r="r" b="b"/>
            <a:pathLst>
              <a:path w="9525" h="2095500">
                <a:moveTo>
                  <a:pt x="0" y="0"/>
                </a:moveTo>
                <a:lnTo>
                  <a:pt x="0" y="2095500"/>
                </a:lnTo>
              </a:path>
            </a:pathLst>
          </a:custGeom>
          <a:noFill/>
          <a:ln w="19050">
            <a:solidFill>
              <a:srgbClr val="28A745">
                <a:alpha val="35000"/>
              </a:srgbClr>
            </a:solidFill>
          </a:ln>
        </p:spPr>
        <p:txBody>
          <a:bodyPr/>
          <a:lstStyle/>
          <a:p>
            <a:endParaRPr lang="zh-CN" altLang="en-US"/>
          </a:p>
        </p:txBody>
      </p:sp>
      <p:sp>
        <p:nvSpPr>
          <p:cNvPr id="24" name="Freeform 24"/>
          <p:cNvSpPr/>
          <p:nvPr/>
        </p:nvSpPr>
        <p:spPr>
          <a:xfrm>
            <a:off x="5048250" y="53911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28A745"/>
            </a:solidFill>
          </a:ln>
        </p:spPr>
        <p:txBody>
          <a:bodyPr/>
          <a:lstStyle/>
          <a:p>
            <a:endParaRPr lang="zh-CN" altLang="en-US"/>
          </a:p>
        </p:txBody>
      </p:sp>
      <p:sp>
        <p:nvSpPr>
          <p:cNvPr id="25" name="TextBox 25"/>
          <p:cNvSpPr txBox="1"/>
          <p:nvPr/>
        </p:nvSpPr>
        <p:spPr>
          <a:xfrm>
            <a:off x="5447426" y="5616892"/>
            <a:ext cx="1297148" cy="274320"/>
          </a:xfrm>
          <a:prstGeom prst="rect">
            <a:avLst/>
          </a:prstGeom>
          <a:noFill/>
          <a:ln>
            <a:noFill/>
          </a:ln>
        </p:spPr>
        <p:txBody>
          <a:bodyPr wrap="none" lIns="0" tIns="0" rIns="0" bIns="0" anchor="t" anchorCtr="0">
            <a:spAutoFit/>
          </a:bodyPr>
          <a:lstStyle/>
          <a:p>
            <a:pPr algn="ctr"/>
            <a:r>
              <a:rPr lang="zh-CN" sz="1350" b="1" dirty="0">
                <a:solidFill>
                  <a:srgbClr val="28A745"/>
                </a:solidFill>
                <a:latin typeface="Arial"/>
                <a:ea typeface="Microsoft YaHei"/>
                <a:cs typeface="Arial"/>
              </a:rPr>
              <a:t>Jordan pairs</a:t>
            </a:r>
          </a:p>
        </p:txBody>
      </p:sp>
      <p:sp>
        <p:nvSpPr>
          <p:cNvPr id="26" name="Line 26"/>
          <p:cNvSpPr/>
          <p:nvPr/>
        </p:nvSpPr>
        <p:spPr>
          <a:xfrm>
            <a:off x="4000500" y="3714750"/>
            <a:ext cx="2095500" cy="9525"/>
          </a:xfrm>
          <a:custGeom>
            <a:avLst/>
            <a:gdLst/>
            <a:ahLst/>
            <a:cxnLst/>
            <a:rect l="l" t="t" r="r" b="b"/>
            <a:pathLst>
              <a:path w="2095500" h="9525">
                <a:moveTo>
                  <a:pt x="2095500" y="0"/>
                </a:moveTo>
                <a:lnTo>
                  <a:pt x="0" y="0"/>
                </a:lnTo>
              </a:path>
            </a:pathLst>
          </a:custGeom>
          <a:noFill/>
          <a:ln w="19050">
            <a:solidFill>
              <a:srgbClr val="B8860B">
                <a:alpha val="35000"/>
              </a:srgbClr>
            </a:solidFill>
          </a:ln>
        </p:spPr>
        <p:txBody>
          <a:bodyPr/>
          <a:lstStyle/>
          <a:p>
            <a:endParaRPr lang="zh-CN" altLang="en-US"/>
          </a:p>
        </p:txBody>
      </p:sp>
      <p:sp>
        <p:nvSpPr>
          <p:cNvPr id="27" name="Freeform 27"/>
          <p:cNvSpPr/>
          <p:nvPr/>
        </p:nvSpPr>
        <p:spPr>
          <a:xfrm>
            <a:off x="2952750" y="32956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B8860B"/>
            </a:solidFill>
          </a:ln>
        </p:spPr>
        <p:txBody>
          <a:bodyPr/>
          <a:lstStyle/>
          <a:p>
            <a:endParaRPr lang="zh-CN" altLang="en-US"/>
          </a:p>
        </p:txBody>
      </p:sp>
      <p:sp>
        <p:nvSpPr>
          <p:cNvPr id="28" name="TextBox 28"/>
          <p:cNvSpPr txBox="1"/>
          <p:nvPr/>
        </p:nvSpPr>
        <p:spPr>
          <a:xfrm>
            <a:off x="3641762" y="3521392"/>
            <a:ext cx="717475" cy="274320"/>
          </a:xfrm>
          <a:prstGeom prst="rect">
            <a:avLst/>
          </a:prstGeom>
          <a:noFill/>
          <a:ln>
            <a:noFill/>
          </a:ln>
        </p:spPr>
        <p:txBody>
          <a:bodyPr wrap="none" lIns="0" tIns="0" rIns="0" bIns="0" anchor="t" anchorCtr="0">
            <a:spAutoFit/>
          </a:bodyPr>
          <a:lstStyle/>
          <a:p>
            <a:pPr algn="ctr"/>
            <a:r>
              <a:rPr lang="zh-CN" sz="1350" b="1" dirty="0">
                <a:solidFill>
                  <a:srgbClr val="B8860B"/>
                </a:solidFill>
                <a:latin typeface="Arial"/>
                <a:ea typeface="Microsoft YaHei"/>
                <a:cs typeface="Arial"/>
              </a:rPr>
              <a:t>Jordan</a:t>
            </a:r>
          </a:p>
        </p:txBody>
      </p:sp>
      <p:sp>
        <p:nvSpPr>
          <p:cNvPr id="29" name="TextBox 29"/>
          <p:cNvSpPr txBox="1"/>
          <p:nvPr/>
        </p:nvSpPr>
        <p:spPr>
          <a:xfrm>
            <a:off x="3269116" y="3711892"/>
            <a:ext cx="1462769" cy="274320"/>
          </a:xfrm>
          <a:prstGeom prst="rect">
            <a:avLst/>
          </a:prstGeom>
          <a:noFill/>
          <a:ln>
            <a:noFill/>
          </a:ln>
        </p:spPr>
        <p:txBody>
          <a:bodyPr wrap="none" lIns="0" tIns="0" rIns="0" bIns="0" anchor="t" anchorCtr="0">
            <a:spAutoFit/>
          </a:bodyPr>
          <a:lstStyle/>
          <a:p>
            <a:pPr algn="ctr"/>
            <a:r>
              <a:rPr lang="zh-CN" sz="1350" b="1" dirty="0">
                <a:solidFill>
                  <a:srgbClr val="B8860B"/>
                </a:solidFill>
                <a:latin typeface="Arial"/>
                <a:ea typeface="Microsoft YaHei"/>
                <a:cs typeface="Arial"/>
              </a:rPr>
              <a:t>superalgebras</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3724599"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14 Links with Lie Theory</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6915436"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systems feed directly into graded Lie-theoretic constructions.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14</a:t>
            </a:r>
          </a:p>
        </p:txBody>
      </p:sp>
      <p:sp>
        <p:nvSpPr>
          <p:cNvPr id="13" name="Ellipse 13"/>
          <p:cNvSpPr/>
          <p:nvPr/>
        </p:nvSpPr>
        <p:spPr>
          <a:xfrm>
            <a:off x="5372100" y="2990850"/>
            <a:ext cx="1447800" cy="1447800"/>
          </a:xfrm>
          <a:prstGeom prst="ellipse">
            <a:avLst/>
          </a:prstGeom>
          <a:solidFill>
            <a:srgbClr val="003366">
              <a:alpha val="94000"/>
            </a:srgbClr>
          </a:solidFill>
          <a:ln>
            <a:noFill/>
          </a:ln>
        </p:spPr>
        <p:txBody>
          <a:bodyPr/>
          <a:lstStyle/>
          <a:p>
            <a:endParaRPr lang="zh-CN" altLang="en-US"/>
          </a:p>
        </p:txBody>
      </p:sp>
      <p:sp>
        <p:nvSpPr>
          <p:cNvPr id="14" name="TextBox 14"/>
          <p:cNvSpPr txBox="1"/>
          <p:nvPr/>
        </p:nvSpPr>
        <p:spPr>
          <a:xfrm>
            <a:off x="5442466" y="3441382"/>
            <a:ext cx="1307068"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TKK bridge</a:t>
            </a:r>
          </a:p>
        </p:txBody>
      </p:sp>
      <p:sp>
        <p:nvSpPr>
          <p:cNvPr id="15" name="Line 15"/>
          <p:cNvSpPr/>
          <p:nvPr/>
        </p:nvSpPr>
        <p:spPr>
          <a:xfrm>
            <a:off x="6096000" y="1619250"/>
            <a:ext cx="9525" cy="2095500"/>
          </a:xfrm>
          <a:custGeom>
            <a:avLst/>
            <a:gdLst/>
            <a:ahLst/>
            <a:cxnLst/>
            <a:rect l="l" t="t" r="r" b="b"/>
            <a:pathLst>
              <a:path w="9525" h="2095500">
                <a:moveTo>
                  <a:pt x="0" y="2095500"/>
                </a:moveTo>
                <a:lnTo>
                  <a:pt x="0" y="0"/>
                </a:lnTo>
              </a:path>
            </a:pathLst>
          </a:custGeom>
          <a:noFill/>
          <a:ln w="19050">
            <a:solidFill>
              <a:srgbClr val="003366">
                <a:alpha val="35000"/>
              </a:srgbClr>
            </a:solidFill>
          </a:ln>
        </p:spPr>
        <p:txBody>
          <a:bodyPr/>
          <a:lstStyle/>
          <a:p>
            <a:endParaRPr lang="zh-CN" altLang="en-US"/>
          </a:p>
        </p:txBody>
      </p:sp>
      <p:sp>
        <p:nvSpPr>
          <p:cNvPr id="16" name="Freeform 16"/>
          <p:cNvSpPr/>
          <p:nvPr/>
        </p:nvSpPr>
        <p:spPr>
          <a:xfrm>
            <a:off x="5048250" y="12001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003366"/>
            </a:solidFill>
          </a:ln>
        </p:spPr>
        <p:txBody>
          <a:bodyPr/>
          <a:lstStyle/>
          <a:p>
            <a:endParaRPr lang="zh-CN" altLang="en-US"/>
          </a:p>
        </p:txBody>
      </p:sp>
      <p:sp>
        <p:nvSpPr>
          <p:cNvPr id="17" name="TextBox 17"/>
          <p:cNvSpPr txBox="1"/>
          <p:nvPr/>
        </p:nvSpPr>
        <p:spPr>
          <a:xfrm>
            <a:off x="5561290" y="1425892"/>
            <a:ext cx="1069419"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Graded Lie</a:t>
            </a:r>
          </a:p>
        </p:txBody>
      </p:sp>
      <p:sp>
        <p:nvSpPr>
          <p:cNvPr id="18" name="TextBox 18"/>
          <p:cNvSpPr txBox="1"/>
          <p:nvPr/>
        </p:nvSpPr>
        <p:spPr>
          <a:xfrm>
            <a:off x="5649276" y="1616392"/>
            <a:ext cx="893447"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algebras</a:t>
            </a:r>
          </a:p>
        </p:txBody>
      </p:sp>
      <p:sp>
        <p:nvSpPr>
          <p:cNvPr id="19" name="Line 19"/>
          <p:cNvSpPr/>
          <p:nvPr/>
        </p:nvSpPr>
        <p:spPr>
          <a:xfrm>
            <a:off x="6096000" y="3714750"/>
            <a:ext cx="2095500" cy="9525"/>
          </a:xfrm>
          <a:custGeom>
            <a:avLst/>
            <a:gdLst/>
            <a:ahLst/>
            <a:cxnLst/>
            <a:rect l="l" t="t" r="r" b="b"/>
            <a:pathLst>
              <a:path w="2095500" h="9525">
                <a:moveTo>
                  <a:pt x="0" y="0"/>
                </a:moveTo>
                <a:lnTo>
                  <a:pt x="2095500" y="0"/>
                </a:lnTo>
              </a:path>
            </a:pathLst>
          </a:custGeom>
          <a:noFill/>
          <a:ln w="19050">
            <a:solidFill>
              <a:srgbClr val="0066CC">
                <a:alpha val="35000"/>
              </a:srgbClr>
            </a:solidFill>
          </a:ln>
        </p:spPr>
        <p:txBody>
          <a:bodyPr/>
          <a:lstStyle/>
          <a:p>
            <a:endParaRPr lang="zh-CN" altLang="en-US"/>
          </a:p>
        </p:txBody>
      </p:sp>
      <p:sp>
        <p:nvSpPr>
          <p:cNvPr id="20" name="Freeform 20"/>
          <p:cNvSpPr/>
          <p:nvPr/>
        </p:nvSpPr>
        <p:spPr>
          <a:xfrm>
            <a:off x="7143750" y="32956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1" name="TextBox 21"/>
          <p:cNvSpPr txBox="1"/>
          <p:nvPr/>
        </p:nvSpPr>
        <p:spPr>
          <a:xfrm>
            <a:off x="7599858" y="3521392"/>
            <a:ext cx="1183284" cy="274320"/>
          </a:xfrm>
          <a:prstGeom prst="rect">
            <a:avLst/>
          </a:prstGeom>
          <a:noFill/>
          <a:ln>
            <a:noFill/>
          </a:ln>
        </p:spPr>
        <p:txBody>
          <a:bodyPr wrap="none" lIns="0" tIns="0" rIns="0" bIns="0" anchor="t" anchorCtr="0">
            <a:spAutoFit/>
          </a:bodyPr>
          <a:lstStyle/>
          <a:p>
            <a:pPr algn="ctr"/>
            <a:r>
              <a:rPr lang="zh-CN" sz="1350" b="1" dirty="0">
                <a:solidFill>
                  <a:srgbClr val="0066CC"/>
                </a:solidFill>
                <a:latin typeface="Arial"/>
                <a:ea typeface="Microsoft YaHei"/>
                <a:cs typeface="Arial"/>
              </a:rPr>
              <a:t>Exceptional</a:t>
            </a:r>
          </a:p>
        </p:txBody>
      </p:sp>
      <p:sp>
        <p:nvSpPr>
          <p:cNvPr id="22" name="TextBox 22"/>
          <p:cNvSpPr txBox="1"/>
          <p:nvPr/>
        </p:nvSpPr>
        <p:spPr>
          <a:xfrm>
            <a:off x="7832762" y="3711892"/>
            <a:ext cx="717475" cy="274320"/>
          </a:xfrm>
          <a:prstGeom prst="rect">
            <a:avLst/>
          </a:prstGeom>
          <a:noFill/>
          <a:ln>
            <a:noFill/>
          </a:ln>
        </p:spPr>
        <p:txBody>
          <a:bodyPr wrap="none" lIns="0" tIns="0" rIns="0" bIns="0" anchor="t" anchorCtr="0">
            <a:spAutoFit/>
          </a:bodyPr>
          <a:lstStyle/>
          <a:p>
            <a:pPr algn="ctr"/>
            <a:r>
              <a:rPr lang="zh-CN" sz="1350" b="1" dirty="0">
                <a:solidFill>
                  <a:srgbClr val="0066CC"/>
                </a:solidFill>
                <a:latin typeface="Arial"/>
                <a:ea typeface="Microsoft YaHei"/>
                <a:cs typeface="Arial"/>
              </a:rPr>
              <a:t>groups</a:t>
            </a:r>
          </a:p>
        </p:txBody>
      </p:sp>
      <p:sp>
        <p:nvSpPr>
          <p:cNvPr id="23" name="Line 23"/>
          <p:cNvSpPr/>
          <p:nvPr/>
        </p:nvSpPr>
        <p:spPr>
          <a:xfrm>
            <a:off x="6096000" y="3714750"/>
            <a:ext cx="9525" cy="2095500"/>
          </a:xfrm>
          <a:custGeom>
            <a:avLst/>
            <a:gdLst/>
            <a:ahLst/>
            <a:cxnLst/>
            <a:rect l="l" t="t" r="r" b="b"/>
            <a:pathLst>
              <a:path w="9525" h="2095500">
                <a:moveTo>
                  <a:pt x="0" y="0"/>
                </a:moveTo>
                <a:lnTo>
                  <a:pt x="0" y="2095500"/>
                </a:lnTo>
              </a:path>
            </a:pathLst>
          </a:custGeom>
          <a:noFill/>
          <a:ln w="19050">
            <a:solidFill>
              <a:srgbClr val="28A745">
                <a:alpha val="35000"/>
              </a:srgbClr>
            </a:solidFill>
          </a:ln>
        </p:spPr>
        <p:txBody>
          <a:bodyPr/>
          <a:lstStyle/>
          <a:p>
            <a:endParaRPr lang="zh-CN" altLang="en-US"/>
          </a:p>
        </p:txBody>
      </p:sp>
      <p:sp>
        <p:nvSpPr>
          <p:cNvPr id="24" name="Freeform 24"/>
          <p:cNvSpPr/>
          <p:nvPr/>
        </p:nvSpPr>
        <p:spPr>
          <a:xfrm>
            <a:off x="5048250" y="53911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28A745"/>
            </a:solidFill>
          </a:ln>
        </p:spPr>
        <p:txBody>
          <a:bodyPr/>
          <a:lstStyle/>
          <a:p>
            <a:endParaRPr lang="zh-CN" altLang="en-US"/>
          </a:p>
        </p:txBody>
      </p:sp>
      <p:sp>
        <p:nvSpPr>
          <p:cNvPr id="25" name="TextBox 25"/>
          <p:cNvSpPr txBox="1"/>
          <p:nvPr/>
        </p:nvSpPr>
        <p:spPr>
          <a:xfrm>
            <a:off x="5566466" y="5616892"/>
            <a:ext cx="1059068" cy="274320"/>
          </a:xfrm>
          <a:prstGeom prst="rect">
            <a:avLst/>
          </a:prstGeom>
          <a:noFill/>
          <a:ln>
            <a:noFill/>
          </a:ln>
        </p:spPr>
        <p:txBody>
          <a:bodyPr wrap="none" lIns="0" tIns="0" rIns="0" bIns="0" anchor="t" anchorCtr="0">
            <a:spAutoFit/>
          </a:bodyPr>
          <a:lstStyle/>
          <a:p>
            <a:pPr algn="ctr"/>
            <a:r>
              <a:rPr lang="zh-CN" sz="1350" b="1" dirty="0">
                <a:solidFill>
                  <a:srgbClr val="28A745"/>
                </a:solidFill>
                <a:latin typeface="Arial"/>
                <a:ea typeface="Microsoft YaHei"/>
                <a:cs typeface="Arial"/>
              </a:rPr>
              <a:t>Structure</a:t>
            </a:r>
          </a:p>
        </p:txBody>
      </p:sp>
      <p:sp>
        <p:nvSpPr>
          <p:cNvPr id="26" name="TextBox 26"/>
          <p:cNvSpPr txBox="1"/>
          <p:nvPr/>
        </p:nvSpPr>
        <p:spPr>
          <a:xfrm>
            <a:off x="5623398" y="5807392"/>
            <a:ext cx="945204" cy="274320"/>
          </a:xfrm>
          <a:prstGeom prst="rect">
            <a:avLst/>
          </a:prstGeom>
          <a:noFill/>
          <a:ln>
            <a:noFill/>
          </a:ln>
        </p:spPr>
        <p:txBody>
          <a:bodyPr wrap="none" lIns="0" tIns="0" rIns="0" bIns="0" anchor="t" anchorCtr="0">
            <a:spAutoFit/>
          </a:bodyPr>
          <a:lstStyle/>
          <a:p>
            <a:pPr algn="ctr"/>
            <a:r>
              <a:rPr lang="zh-CN" sz="1350" b="1" dirty="0">
                <a:solidFill>
                  <a:srgbClr val="28A745"/>
                </a:solidFill>
                <a:latin typeface="Arial"/>
                <a:ea typeface="Microsoft YaHei"/>
                <a:cs typeface="Arial"/>
              </a:rPr>
              <a:t>transfer</a:t>
            </a:r>
          </a:p>
        </p:txBody>
      </p:sp>
      <p:sp>
        <p:nvSpPr>
          <p:cNvPr id="27" name="Line 27"/>
          <p:cNvSpPr/>
          <p:nvPr/>
        </p:nvSpPr>
        <p:spPr>
          <a:xfrm>
            <a:off x="4000500" y="3714750"/>
            <a:ext cx="2095500" cy="9525"/>
          </a:xfrm>
          <a:custGeom>
            <a:avLst/>
            <a:gdLst/>
            <a:ahLst/>
            <a:cxnLst/>
            <a:rect l="l" t="t" r="r" b="b"/>
            <a:pathLst>
              <a:path w="2095500" h="9525">
                <a:moveTo>
                  <a:pt x="2095500" y="0"/>
                </a:moveTo>
                <a:lnTo>
                  <a:pt x="0" y="0"/>
                </a:lnTo>
              </a:path>
            </a:pathLst>
          </a:custGeom>
          <a:noFill/>
          <a:ln w="19050">
            <a:solidFill>
              <a:srgbClr val="B8860B">
                <a:alpha val="35000"/>
              </a:srgbClr>
            </a:solidFill>
          </a:ln>
        </p:spPr>
        <p:txBody>
          <a:bodyPr/>
          <a:lstStyle/>
          <a:p>
            <a:endParaRPr lang="zh-CN" altLang="en-US"/>
          </a:p>
        </p:txBody>
      </p:sp>
      <p:sp>
        <p:nvSpPr>
          <p:cNvPr id="28" name="Freeform 28"/>
          <p:cNvSpPr/>
          <p:nvPr/>
        </p:nvSpPr>
        <p:spPr>
          <a:xfrm>
            <a:off x="2952750" y="32956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B8860B"/>
            </a:solidFill>
          </a:ln>
        </p:spPr>
        <p:txBody>
          <a:bodyPr/>
          <a:lstStyle/>
          <a:p>
            <a:endParaRPr lang="zh-CN" altLang="en-US"/>
          </a:p>
        </p:txBody>
      </p:sp>
      <p:sp>
        <p:nvSpPr>
          <p:cNvPr id="29" name="TextBox 29"/>
          <p:cNvSpPr txBox="1"/>
          <p:nvPr/>
        </p:nvSpPr>
        <p:spPr>
          <a:xfrm>
            <a:off x="3486493" y="3521392"/>
            <a:ext cx="1028014" cy="274320"/>
          </a:xfrm>
          <a:prstGeom prst="rect">
            <a:avLst/>
          </a:prstGeom>
          <a:noFill/>
          <a:ln>
            <a:noFill/>
          </a:ln>
        </p:spPr>
        <p:txBody>
          <a:bodyPr wrap="none" lIns="0" tIns="0" rIns="0" bIns="0" anchor="t" anchorCtr="0">
            <a:spAutoFit/>
          </a:bodyPr>
          <a:lstStyle/>
          <a:p>
            <a:pPr algn="ctr"/>
            <a:r>
              <a:rPr lang="zh-CN" sz="1350" b="1" dirty="0">
                <a:solidFill>
                  <a:srgbClr val="B8860B"/>
                </a:solidFill>
                <a:latin typeface="Arial"/>
                <a:ea typeface="Microsoft YaHei"/>
                <a:cs typeface="Arial"/>
              </a:rPr>
              <a:t>Symmetry</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557633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15 Links with Geometry and Analysis</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751679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theory continues into geometry, analysis, and projective structures.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15</a:t>
            </a:r>
          </a:p>
        </p:txBody>
      </p:sp>
      <p:sp>
        <p:nvSpPr>
          <p:cNvPr id="13" name="Ellipse 13"/>
          <p:cNvSpPr/>
          <p:nvPr/>
        </p:nvSpPr>
        <p:spPr>
          <a:xfrm>
            <a:off x="5372100" y="2990850"/>
            <a:ext cx="1447800" cy="1447800"/>
          </a:xfrm>
          <a:prstGeom prst="ellipse">
            <a:avLst/>
          </a:prstGeom>
          <a:solidFill>
            <a:srgbClr val="003366">
              <a:alpha val="94000"/>
            </a:srgbClr>
          </a:solidFill>
          <a:ln>
            <a:noFill/>
          </a:ln>
        </p:spPr>
        <p:txBody>
          <a:bodyPr/>
          <a:lstStyle/>
          <a:p>
            <a:endParaRPr lang="zh-CN" altLang="en-US"/>
          </a:p>
        </p:txBody>
      </p:sp>
      <p:sp>
        <p:nvSpPr>
          <p:cNvPr id="14" name="TextBox 14"/>
          <p:cNvSpPr txBox="1"/>
          <p:nvPr/>
        </p:nvSpPr>
        <p:spPr>
          <a:xfrm>
            <a:off x="5385534" y="3441382"/>
            <a:ext cx="142093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Geometry &amp;</a:t>
            </a:r>
          </a:p>
        </p:txBody>
      </p:sp>
      <p:sp>
        <p:nvSpPr>
          <p:cNvPr id="15" name="TextBox 15"/>
          <p:cNvSpPr txBox="1"/>
          <p:nvPr/>
        </p:nvSpPr>
        <p:spPr>
          <a:xfrm>
            <a:off x="5581633" y="3689032"/>
            <a:ext cx="1028733"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Arial"/>
                <a:ea typeface="Microsoft YaHei"/>
                <a:cs typeface="Arial"/>
              </a:rPr>
              <a:t>analysis</a:t>
            </a:r>
          </a:p>
        </p:txBody>
      </p:sp>
      <p:sp>
        <p:nvSpPr>
          <p:cNvPr id="16" name="Line 16"/>
          <p:cNvSpPr/>
          <p:nvPr/>
        </p:nvSpPr>
        <p:spPr>
          <a:xfrm>
            <a:off x="6096000" y="1619250"/>
            <a:ext cx="9525" cy="2095500"/>
          </a:xfrm>
          <a:custGeom>
            <a:avLst/>
            <a:gdLst/>
            <a:ahLst/>
            <a:cxnLst/>
            <a:rect l="l" t="t" r="r" b="b"/>
            <a:pathLst>
              <a:path w="9525" h="2095500">
                <a:moveTo>
                  <a:pt x="0" y="2095500"/>
                </a:moveTo>
                <a:lnTo>
                  <a:pt x="0" y="0"/>
                </a:lnTo>
              </a:path>
            </a:pathLst>
          </a:custGeom>
          <a:noFill/>
          <a:ln w="19050">
            <a:solidFill>
              <a:srgbClr val="003366">
                <a:alpha val="35000"/>
              </a:srgbClr>
            </a:solidFill>
          </a:ln>
        </p:spPr>
        <p:txBody>
          <a:bodyPr/>
          <a:lstStyle/>
          <a:p>
            <a:endParaRPr lang="zh-CN" altLang="en-US"/>
          </a:p>
        </p:txBody>
      </p:sp>
      <p:sp>
        <p:nvSpPr>
          <p:cNvPr id="17" name="Freeform 17"/>
          <p:cNvSpPr/>
          <p:nvPr/>
        </p:nvSpPr>
        <p:spPr>
          <a:xfrm>
            <a:off x="5048250" y="12001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003366"/>
            </a:solidFill>
          </a:ln>
        </p:spPr>
        <p:txBody>
          <a:bodyPr/>
          <a:lstStyle/>
          <a:p>
            <a:endParaRPr lang="zh-CN" altLang="en-US"/>
          </a:p>
        </p:txBody>
      </p:sp>
      <p:sp>
        <p:nvSpPr>
          <p:cNvPr id="18" name="TextBox 18"/>
          <p:cNvSpPr txBox="1"/>
          <p:nvPr/>
        </p:nvSpPr>
        <p:spPr>
          <a:xfrm>
            <a:off x="5550939" y="1425892"/>
            <a:ext cx="1090122"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Symmetric</a:t>
            </a:r>
          </a:p>
        </p:txBody>
      </p:sp>
      <p:sp>
        <p:nvSpPr>
          <p:cNvPr id="19" name="TextBox 19"/>
          <p:cNvSpPr txBox="1"/>
          <p:nvPr/>
        </p:nvSpPr>
        <p:spPr>
          <a:xfrm>
            <a:off x="5794194" y="1616392"/>
            <a:ext cx="603611" cy="274320"/>
          </a:xfrm>
          <a:prstGeom prst="rect">
            <a:avLst/>
          </a:prstGeom>
          <a:noFill/>
          <a:ln>
            <a:noFill/>
          </a:ln>
        </p:spPr>
        <p:txBody>
          <a:bodyPr wrap="none" lIns="0" tIns="0" rIns="0" bIns="0" anchor="t" anchorCtr="0">
            <a:spAutoFit/>
          </a:bodyPr>
          <a:lstStyle/>
          <a:p>
            <a:pPr algn="ctr"/>
            <a:r>
              <a:rPr lang="zh-CN" sz="1350" b="1" dirty="0">
                <a:solidFill>
                  <a:srgbClr val="003366"/>
                </a:solidFill>
                <a:latin typeface="Arial"/>
                <a:ea typeface="Microsoft YaHei"/>
                <a:cs typeface="Arial"/>
              </a:rPr>
              <a:t>cones</a:t>
            </a:r>
          </a:p>
        </p:txBody>
      </p:sp>
      <p:sp>
        <p:nvSpPr>
          <p:cNvPr id="20" name="Line 20"/>
          <p:cNvSpPr/>
          <p:nvPr/>
        </p:nvSpPr>
        <p:spPr>
          <a:xfrm>
            <a:off x="6096000" y="3714750"/>
            <a:ext cx="2095500" cy="9525"/>
          </a:xfrm>
          <a:custGeom>
            <a:avLst/>
            <a:gdLst/>
            <a:ahLst/>
            <a:cxnLst/>
            <a:rect l="l" t="t" r="r" b="b"/>
            <a:pathLst>
              <a:path w="2095500" h="9525">
                <a:moveTo>
                  <a:pt x="0" y="0"/>
                </a:moveTo>
                <a:lnTo>
                  <a:pt x="2095500" y="0"/>
                </a:lnTo>
              </a:path>
            </a:pathLst>
          </a:custGeom>
          <a:noFill/>
          <a:ln w="19050">
            <a:solidFill>
              <a:srgbClr val="0066CC">
                <a:alpha val="35000"/>
              </a:srgbClr>
            </a:solidFill>
          </a:ln>
        </p:spPr>
        <p:txBody>
          <a:bodyPr/>
          <a:lstStyle/>
          <a:p>
            <a:endParaRPr lang="zh-CN" altLang="en-US"/>
          </a:p>
        </p:txBody>
      </p:sp>
      <p:sp>
        <p:nvSpPr>
          <p:cNvPr id="21" name="Freeform 21"/>
          <p:cNvSpPr/>
          <p:nvPr/>
        </p:nvSpPr>
        <p:spPr>
          <a:xfrm>
            <a:off x="7143750" y="32956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22" name="TextBox 22"/>
          <p:cNvSpPr txBox="1"/>
          <p:nvPr/>
        </p:nvSpPr>
        <p:spPr>
          <a:xfrm>
            <a:off x="7775830" y="3521392"/>
            <a:ext cx="831340" cy="274320"/>
          </a:xfrm>
          <a:prstGeom prst="rect">
            <a:avLst/>
          </a:prstGeom>
          <a:noFill/>
          <a:ln>
            <a:noFill/>
          </a:ln>
        </p:spPr>
        <p:txBody>
          <a:bodyPr wrap="none" lIns="0" tIns="0" rIns="0" bIns="0" anchor="t" anchorCtr="0">
            <a:spAutoFit/>
          </a:bodyPr>
          <a:lstStyle/>
          <a:p>
            <a:pPr algn="ctr"/>
            <a:r>
              <a:rPr lang="zh-CN" sz="1350" b="1" dirty="0">
                <a:solidFill>
                  <a:srgbClr val="0066CC"/>
                </a:solidFill>
                <a:latin typeface="Arial"/>
                <a:ea typeface="Microsoft YaHei"/>
                <a:cs typeface="Arial"/>
              </a:rPr>
              <a:t>Bounded</a:t>
            </a:r>
          </a:p>
        </p:txBody>
      </p:sp>
      <p:sp>
        <p:nvSpPr>
          <p:cNvPr id="23" name="TextBox 23"/>
          <p:cNvSpPr txBox="1"/>
          <p:nvPr/>
        </p:nvSpPr>
        <p:spPr>
          <a:xfrm>
            <a:off x="7781006" y="3711892"/>
            <a:ext cx="820988" cy="274320"/>
          </a:xfrm>
          <a:prstGeom prst="rect">
            <a:avLst/>
          </a:prstGeom>
          <a:noFill/>
          <a:ln>
            <a:noFill/>
          </a:ln>
        </p:spPr>
        <p:txBody>
          <a:bodyPr wrap="none" lIns="0" tIns="0" rIns="0" bIns="0" anchor="t" anchorCtr="0">
            <a:spAutoFit/>
          </a:bodyPr>
          <a:lstStyle/>
          <a:p>
            <a:pPr algn="ctr"/>
            <a:r>
              <a:rPr lang="zh-CN" sz="1350" b="1" dirty="0">
                <a:solidFill>
                  <a:srgbClr val="0066CC"/>
                </a:solidFill>
                <a:latin typeface="Arial"/>
                <a:ea typeface="Microsoft YaHei"/>
                <a:cs typeface="Arial"/>
              </a:rPr>
              <a:t>domains</a:t>
            </a:r>
          </a:p>
        </p:txBody>
      </p:sp>
      <p:sp>
        <p:nvSpPr>
          <p:cNvPr id="24" name="Line 24"/>
          <p:cNvSpPr/>
          <p:nvPr/>
        </p:nvSpPr>
        <p:spPr>
          <a:xfrm>
            <a:off x="6096000" y="3714750"/>
            <a:ext cx="9525" cy="2095500"/>
          </a:xfrm>
          <a:custGeom>
            <a:avLst/>
            <a:gdLst/>
            <a:ahLst/>
            <a:cxnLst/>
            <a:rect l="l" t="t" r="r" b="b"/>
            <a:pathLst>
              <a:path w="9525" h="2095500">
                <a:moveTo>
                  <a:pt x="0" y="0"/>
                </a:moveTo>
                <a:lnTo>
                  <a:pt x="0" y="2095500"/>
                </a:lnTo>
              </a:path>
            </a:pathLst>
          </a:custGeom>
          <a:noFill/>
          <a:ln w="19050">
            <a:solidFill>
              <a:srgbClr val="28A745">
                <a:alpha val="35000"/>
              </a:srgbClr>
            </a:solidFill>
          </a:ln>
        </p:spPr>
        <p:txBody>
          <a:bodyPr/>
          <a:lstStyle/>
          <a:p>
            <a:endParaRPr lang="zh-CN" altLang="en-US"/>
          </a:p>
        </p:txBody>
      </p:sp>
      <p:sp>
        <p:nvSpPr>
          <p:cNvPr id="25" name="Freeform 25"/>
          <p:cNvSpPr/>
          <p:nvPr/>
        </p:nvSpPr>
        <p:spPr>
          <a:xfrm>
            <a:off x="5048250" y="53911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28A745"/>
            </a:solidFill>
          </a:ln>
        </p:spPr>
        <p:txBody>
          <a:bodyPr/>
          <a:lstStyle/>
          <a:p>
            <a:endParaRPr lang="zh-CN" altLang="en-US"/>
          </a:p>
        </p:txBody>
      </p:sp>
      <p:sp>
        <p:nvSpPr>
          <p:cNvPr id="26" name="TextBox 26"/>
          <p:cNvSpPr txBox="1"/>
          <p:nvPr/>
        </p:nvSpPr>
        <p:spPr>
          <a:xfrm>
            <a:off x="5478480" y="5616892"/>
            <a:ext cx="1235040" cy="274320"/>
          </a:xfrm>
          <a:prstGeom prst="rect">
            <a:avLst/>
          </a:prstGeom>
          <a:noFill/>
          <a:ln>
            <a:noFill/>
          </a:ln>
        </p:spPr>
        <p:txBody>
          <a:bodyPr wrap="none" lIns="0" tIns="0" rIns="0" bIns="0" anchor="t" anchorCtr="0">
            <a:spAutoFit/>
          </a:bodyPr>
          <a:lstStyle/>
          <a:p>
            <a:pPr algn="ctr"/>
            <a:r>
              <a:rPr lang="zh-CN" sz="1350" b="1" dirty="0">
                <a:solidFill>
                  <a:srgbClr val="28A745"/>
                </a:solidFill>
                <a:latin typeface="Arial"/>
                <a:ea typeface="Microsoft YaHei"/>
                <a:cs typeface="Arial"/>
              </a:rPr>
              <a:t>JB-algebras</a:t>
            </a:r>
          </a:p>
        </p:txBody>
      </p:sp>
      <p:sp>
        <p:nvSpPr>
          <p:cNvPr id="27" name="Line 27"/>
          <p:cNvSpPr/>
          <p:nvPr/>
        </p:nvSpPr>
        <p:spPr>
          <a:xfrm>
            <a:off x="4000500" y="3714750"/>
            <a:ext cx="2095500" cy="9525"/>
          </a:xfrm>
          <a:custGeom>
            <a:avLst/>
            <a:gdLst/>
            <a:ahLst/>
            <a:cxnLst/>
            <a:rect l="l" t="t" r="r" b="b"/>
            <a:pathLst>
              <a:path w="2095500" h="9525">
                <a:moveTo>
                  <a:pt x="2095500" y="0"/>
                </a:moveTo>
                <a:lnTo>
                  <a:pt x="0" y="0"/>
                </a:lnTo>
              </a:path>
            </a:pathLst>
          </a:custGeom>
          <a:noFill/>
          <a:ln w="19050">
            <a:solidFill>
              <a:srgbClr val="B8860B">
                <a:alpha val="35000"/>
              </a:srgbClr>
            </a:solidFill>
          </a:ln>
        </p:spPr>
        <p:txBody>
          <a:bodyPr/>
          <a:lstStyle/>
          <a:p>
            <a:endParaRPr lang="zh-CN" altLang="en-US"/>
          </a:p>
        </p:txBody>
      </p:sp>
      <p:sp>
        <p:nvSpPr>
          <p:cNvPr id="28" name="Freeform 28"/>
          <p:cNvSpPr/>
          <p:nvPr/>
        </p:nvSpPr>
        <p:spPr>
          <a:xfrm>
            <a:off x="2952750" y="3295650"/>
            <a:ext cx="2095500" cy="838200"/>
          </a:xfrm>
          <a:custGeom>
            <a:avLst/>
            <a:gdLst/>
            <a:ahLst/>
            <a:cxnLst/>
            <a:rect l="l" t="t" r="r" b="b"/>
            <a:pathLst>
              <a:path w="2095500" h="838200">
                <a:moveTo>
                  <a:pt x="95250" y="0"/>
                </a:moveTo>
                <a:lnTo>
                  <a:pt x="2000250" y="0"/>
                </a:lnTo>
                <a:cubicBezTo>
                  <a:pt x="2052855" y="0"/>
                  <a:pt x="2095500" y="42645"/>
                  <a:pt x="2095500" y="95250"/>
                </a:cubicBezTo>
                <a:lnTo>
                  <a:pt x="2095500" y="742950"/>
                </a:lnTo>
                <a:cubicBezTo>
                  <a:pt x="2095500" y="795555"/>
                  <a:pt x="2052855" y="838200"/>
                  <a:pt x="2000250" y="838200"/>
                </a:cubicBezTo>
                <a:lnTo>
                  <a:pt x="95250" y="838200"/>
                </a:lnTo>
                <a:cubicBezTo>
                  <a:pt x="42645" y="838200"/>
                  <a:pt x="0" y="795555"/>
                  <a:pt x="0" y="742950"/>
                </a:cubicBezTo>
                <a:lnTo>
                  <a:pt x="0" y="95250"/>
                </a:lnTo>
                <a:cubicBezTo>
                  <a:pt x="0" y="42645"/>
                  <a:pt x="42645" y="0"/>
                  <a:pt x="95250" y="0"/>
                </a:cubicBezTo>
                <a:close/>
              </a:path>
            </a:pathLst>
          </a:custGeom>
          <a:solidFill>
            <a:srgbClr val="FFFFFF"/>
          </a:solidFill>
          <a:ln w="9525">
            <a:solidFill>
              <a:srgbClr val="B8860B"/>
            </a:solidFill>
          </a:ln>
        </p:spPr>
        <p:txBody>
          <a:bodyPr/>
          <a:lstStyle/>
          <a:p>
            <a:endParaRPr lang="zh-CN" altLang="en-US"/>
          </a:p>
        </p:txBody>
      </p:sp>
      <p:sp>
        <p:nvSpPr>
          <p:cNvPr id="29" name="TextBox 29"/>
          <p:cNvSpPr txBox="1"/>
          <p:nvPr/>
        </p:nvSpPr>
        <p:spPr>
          <a:xfrm>
            <a:off x="3533074" y="3521392"/>
            <a:ext cx="934853" cy="274320"/>
          </a:xfrm>
          <a:prstGeom prst="rect">
            <a:avLst/>
          </a:prstGeom>
          <a:noFill/>
          <a:ln>
            <a:noFill/>
          </a:ln>
        </p:spPr>
        <p:txBody>
          <a:bodyPr wrap="none" lIns="0" tIns="0" rIns="0" bIns="0" anchor="t" anchorCtr="0">
            <a:spAutoFit/>
          </a:bodyPr>
          <a:lstStyle/>
          <a:p>
            <a:pPr algn="ctr"/>
            <a:r>
              <a:rPr lang="zh-CN" sz="1350" b="1" dirty="0">
                <a:solidFill>
                  <a:srgbClr val="B8860B"/>
                </a:solidFill>
                <a:latin typeface="Arial"/>
                <a:ea typeface="Microsoft YaHei"/>
                <a:cs typeface="Arial"/>
              </a:rPr>
              <a:t>Octonion</a:t>
            </a:r>
          </a:p>
        </p:txBody>
      </p:sp>
      <p:sp>
        <p:nvSpPr>
          <p:cNvPr id="30" name="TextBox 30"/>
          <p:cNvSpPr txBox="1"/>
          <p:nvPr/>
        </p:nvSpPr>
        <p:spPr>
          <a:xfrm>
            <a:off x="3667641" y="3711892"/>
            <a:ext cx="665719" cy="274320"/>
          </a:xfrm>
          <a:prstGeom prst="rect">
            <a:avLst/>
          </a:prstGeom>
          <a:noFill/>
          <a:ln>
            <a:noFill/>
          </a:ln>
        </p:spPr>
        <p:txBody>
          <a:bodyPr wrap="none" lIns="0" tIns="0" rIns="0" bIns="0" anchor="t" anchorCtr="0">
            <a:spAutoFit/>
          </a:bodyPr>
          <a:lstStyle/>
          <a:p>
            <a:pPr algn="ctr"/>
            <a:r>
              <a:rPr lang="zh-CN" sz="1350" b="1" dirty="0">
                <a:solidFill>
                  <a:srgbClr val="B8860B"/>
                </a:solidFill>
                <a:latin typeface="Arial"/>
                <a:ea typeface="Microsoft YaHei"/>
                <a:cs typeface="Arial"/>
              </a:rPr>
              <a:t>planes</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3950027"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16 The Long Open Problem</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8699802"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For decades, the subject revolved around the possibility of further exceptional algebras.</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16</a:t>
            </a:r>
          </a:p>
        </p:txBody>
      </p:sp>
      <p:sp>
        <p:nvSpPr>
          <p:cNvPr id="13" name="Freeform 13"/>
          <p:cNvSpPr/>
          <p:nvPr/>
        </p:nvSpPr>
        <p:spPr>
          <a:xfrm>
            <a:off x="857250" y="2333625"/>
            <a:ext cx="2857500" cy="2190750"/>
          </a:xfrm>
          <a:custGeom>
            <a:avLst/>
            <a:gdLst/>
            <a:ahLst/>
            <a:cxnLst/>
            <a:rect l="l" t="t" r="r" b="b"/>
            <a:pathLst>
              <a:path w="2857500" h="2190750">
                <a:moveTo>
                  <a:pt x="95250" y="0"/>
                </a:moveTo>
                <a:lnTo>
                  <a:pt x="2762250" y="0"/>
                </a:lnTo>
                <a:cubicBezTo>
                  <a:pt x="2814855" y="0"/>
                  <a:pt x="2857500" y="42645"/>
                  <a:pt x="2857500" y="95250"/>
                </a:cubicBezTo>
                <a:lnTo>
                  <a:pt x="2857500" y="2095500"/>
                </a:lnTo>
                <a:cubicBezTo>
                  <a:pt x="2857500" y="2148105"/>
                  <a:pt x="2814855" y="2190750"/>
                  <a:pt x="2762250" y="2190750"/>
                </a:cubicBezTo>
                <a:lnTo>
                  <a:pt x="95250" y="2190750"/>
                </a:lnTo>
                <a:cubicBezTo>
                  <a:pt x="42645" y="2190750"/>
                  <a:pt x="0" y="2148105"/>
                  <a:pt x="0" y="2095500"/>
                </a:cubicBezTo>
                <a:lnTo>
                  <a:pt x="0" y="95250"/>
                </a:lnTo>
                <a:cubicBezTo>
                  <a:pt x="0" y="42645"/>
                  <a:pt x="42645" y="0"/>
                  <a:pt x="95250" y="0"/>
                </a:cubicBezTo>
                <a:close/>
              </a:path>
            </a:pathLst>
          </a:custGeom>
          <a:solidFill>
            <a:srgbClr val="FFFFFF"/>
          </a:solidFill>
          <a:ln w="19050">
            <a:solidFill>
              <a:srgbClr val="CC0000"/>
            </a:solidFill>
          </a:ln>
        </p:spPr>
        <p:txBody>
          <a:bodyPr/>
          <a:lstStyle/>
          <a:p>
            <a:endParaRPr lang="zh-CN" altLang="en-US"/>
          </a:p>
        </p:txBody>
      </p:sp>
      <p:sp>
        <p:nvSpPr>
          <p:cNvPr id="14" name="TextBox 14"/>
          <p:cNvSpPr txBox="1"/>
          <p:nvPr/>
        </p:nvSpPr>
        <p:spPr>
          <a:xfrm>
            <a:off x="2030845" y="2403158"/>
            <a:ext cx="510309" cy="944880"/>
          </a:xfrm>
          <a:prstGeom prst="rect">
            <a:avLst/>
          </a:prstGeom>
          <a:noFill/>
          <a:ln>
            <a:noFill/>
          </a:ln>
        </p:spPr>
        <p:txBody>
          <a:bodyPr wrap="none" lIns="0" tIns="0" rIns="0" bIns="0" anchor="t" anchorCtr="0">
            <a:spAutoFit/>
          </a:bodyPr>
          <a:lstStyle/>
          <a:p>
            <a:pPr algn="ctr"/>
            <a:r>
              <a:rPr lang="zh-CN" sz="4650" b="1" dirty="0">
                <a:solidFill>
                  <a:srgbClr val="CC0000"/>
                </a:solidFill>
                <a:latin typeface="Arial"/>
                <a:ea typeface="Microsoft YaHei"/>
                <a:cs typeface="Arial"/>
              </a:rPr>
              <a:t>?</a:t>
            </a:r>
          </a:p>
        </p:txBody>
      </p:sp>
      <p:sp>
        <p:nvSpPr>
          <p:cNvPr id="15" name="TextBox 15"/>
          <p:cNvSpPr txBox="1"/>
          <p:nvPr/>
        </p:nvSpPr>
        <p:spPr>
          <a:xfrm>
            <a:off x="1179505" y="3283268"/>
            <a:ext cx="2212991"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Was the Albert algebra</a:t>
            </a:r>
          </a:p>
        </p:txBody>
      </p:sp>
      <p:sp>
        <p:nvSpPr>
          <p:cNvPr id="16" name="TextBox 16"/>
          <p:cNvSpPr txBox="1"/>
          <p:nvPr/>
        </p:nvSpPr>
        <p:spPr>
          <a:xfrm>
            <a:off x="1307663" y="3511868"/>
            <a:ext cx="1956673"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the only exceptional</a:t>
            </a:r>
          </a:p>
        </p:txBody>
      </p:sp>
      <p:sp>
        <p:nvSpPr>
          <p:cNvPr id="17" name="TextBox 17"/>
          <p:cNvSpPr txBox="1"/>
          <p:nvPr/>
        </p:nvSpPr>
        <p:spPr>
          <a:xfrm>
            <a:off x="1514689" y="3740468"/>
            <a:ext cx="1542621"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simple example?</a:t>
            </a:r>
          </a:p>
        </p:txBody>
      </p:sp>
      <p:sp>
        <p:nvSpPr>
          <p:cNvPr id="18" name="Freeform 18"/>
          <p:cNvSpPr/>
          <p:nvPr/>
        </p:nvSpPr>
        <p:spPr>
          <a:xfrm>
            <a:off x="4191000" y="2333625"/>
            <a:ext cx="2857500" cy="2190750"/>
          </a:xfrm>
          <a:custGeom>
            <a:avLst/>
            <a:gdLst/>
            <a:ahLst/>
            <a:cxnLst/>
            <a:rect l="l" t="t" r="r" b="b"/>
            <a:pathLst>
              <a:path w="2857500" h="2190750">
                <a:moveTo>
                  <a:pt x="95250" y="0"/>
                </a:moveTo>
                <a:lnTo>
                  <a:pt x="2762250" y="0"/>
                </a:lnTo>
                <a:cubicBezTo>
                  <a:pt x="2814855" y="0"/>
                  <a:pt x="2857500" y="42645"/>
                  <a:pt x="2857500" y="95250"/>
                </a:cubicBezTo>
                <a:lnTo>
                  <a:pt x="2857500" y="2095500"/>
                </a:lnTo>
                <a:cubicBezTo>
                  <a:pt x="2857500" y="2148105"/>
                  <a:pt x="2814855" y="2190750"/>
                  <a:pt x="2762250" y="2190750"/>
                </a:cubicBezTo>
                <a:lnTo>
                  <a:pt x="95250" y="2190750"/>
                </a:lnTo>
                <a:cubicBezTo>
                  <a:pt x="42645" y="2190750"/>
                  <a:pt x="0" y="2148105"/>
                  <a:pt x="0" y="2095500"/>
                </a:cubicBezTo>
                <a:lnTo>
                  <a:pt x="0" y="95250"/>
                </a:lnTo>
                <a:cubicBezTo>
                  <a:pt x="0" y="42645"/>
                  <a:pt x="42645" y="0"/>
                  <a:pt x="95250" y="0"/>
                </a:cubicBezTo>
                <a:close/>
              </a:path>
            </a:pathLst>
          </a:custGeom>
          <a:solidFill>
            <a:srgbClr val="FFFFFF"/>
          </a:solidFill>
          <a:ln w="19050">
            <a:solidFill>
              <a:srgbClr val="CC0000"/>
            </a:solidFill>
          </a:ln>
        </p:spPr>
        <p:txBody>
          <a:bodyPr/>
          <a:lstStyle/>
          <a:p>
            <a:endParaRPr lang="zh-CN" altLang="en-US"/>
          </a:p>
        </p:txBody>
      </p:sp>
      <p:sp>
        <p:nvSpPr>
          <p:cNvPr id="19" name="TextBox 19"/>
          <p:cNvSpPr txBox="1"/>
          <p:nvPr/>
        </p:nvSpPr>
        <p:spPr>
          <a:xfrm>
            <a:off x="5364595" y="2403158"/>
            <a:ext cx="510309" cy="944880"/>
          </a:xfrm>
          <a:prstGeom prst="rect">
            <a:avLst/>
          </a:prstGeom>
          <a:noFill/>
          <a:ln>
            <a:noFill/>
          </a:ln>
        </p:spPr>
        <p:txBody>
          <a:bodyPr wrap="none" lIns="0" tIns="0" rIns="0" bIns="0" anchor="t" anchorCtr="0">
            <a:spAutoFit/>
          </a:bodyPr>
          <a:lstStyle/>
          <a:p>
            <a:pPr algn="ctr"/>
            <a:r>
              <a:rPr lang="zh-CN" sz="4650" b="1" dirty="0">
                <a:solidFill>
                  <a:srgbClr val="CC0000"/>
                </a:solidFill>
                <a:latin typeface="Arial"/>
                <a:ea typeface="Microsoft YaHei"/>
                <a:cs typeface="Arial"/>
              </a:rPr>
              <a:t>?</a:t>
            </a:r>
          </a:p>
        </p:txBody>
      </p:sp>
      <p:sp>
        <p:nvSpPr>
          <p:cNvPr id="20" name="TextBox 20"/>
          <p:cNvSpPr txBox="1"/>
          <p:nvPr/>
        </p:nvSpPr>
        <p:spPr>
          <a:xfrm>
            <a:off x="4917448" y="3283268"/>
            <a:ext cx="1404604"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Could there be</a:t>
            </a:r>
          </a:p>
        </p:txBody>
      </p:sp>
      <p:sp>
        <p:nvSpPr>
          <p:cNvPr id="21" name="TextBox 21"/>
          <p:cNvSpPr txBox="1"/>
          <p:nvPr/>
        </p:nvSpPr>
        <p:spPr>
          <a:xfrm>
            <a:off x="4646343" y="3511868"/>
            <a:ext cx="1946815"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infinite-dimensional</a:t>
            </a:r>
          </a:p>
        </p:txBody>
      </p:sp>
      <p:sp>
        <p:nvSpPr>
          <p:cNvPr id="22" name="TextBox 22"/>
          <p:cNvSpPr txBox="1"/>
          <p:nvPr/>
        </p:nvSpPr>
        <p:spPr>
          <a:xfrm>
            <a:off x="4700564" y="3740468"/>
            <a:ext cx="1838373"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exceptional Jordan</a:t>
            </a:r>
          </a:p>
        </p:txBody>
      </p:sp>
      <p:sp>
        <p:nvSpPr>
          <p:cNvPr id="23" name="TextBox 23"/>
          <p:cNvSpPr txBox="1"/>
          <p:nvPr/>
        </p:nvSpPr>
        <p:spPr>
          <a:xfrm>
            <a:off x="5139261" y="3969068"/>
            <a:ext cx="960977"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algebras?</a:t>
            </a:r>
          </a:p>
        </p:txBody>
      </p:sp>
      <p:sp>
        <p:nvSpPr>
          <p:cNvPr id="24" name="Freeform 24"/>
          <p:cNvSpPr/>
          <p:nvPr/>
        </p:nvSpPr>
        <p:spPr>
          <a:xfrm>
            <a:off x="7524750" y="2333625"/>
            <a:ext cx="2857500" cy="2190750"/>
          </a:xfrm>
          <a:custGeom>
            <a:avLst/>
            <a:gdLst/>
            <a:ahLst/>
            <a:cxnLst/>
            <a:rect l="l" t="t" r="r" b="b"/>
            <a:pathLst>
              <a:path w="2857500" h="2190750">
                <a:moveTo>
                  <a:pt x="95250" y="0"/>
                </a:moveTo>
                <a:lnTo>
                  <a:pt x="2762250" y="0"/>
                </a:lnTo>
                <a:cubicBezTo>
                  <a:pt x="2814855" y="0"/>
                  <a:pt x="2857500" y="42645"/>
                  <a:pt x="2857500" y="95250"/>
                </a:cubicBezTo>
                <a:lnTo>
                  <a:pt x="2857500" y="2095500"/>
                </a:lnTo>
                <a:cubicBezTo>
                  <a:pt x="2857500" y="2148105"/>
                  <a:pt x="2814855" y="2190750"/>
                  <a:pt x="2762250" y="2190750"/>
                </a:cubicBezTo>
                <a:lnTo>
                  <a:pt x="95250" y="2190750"/>
                </a:lnTo>
                <a:cubicBezTo>
                  <a:pt x="42645" y="2190750"/>
                  <a:pt x="0" y="2148105"/>
                  <a:pt x="0" y="2095500"/>
                </a:cubicBezTo>
                <a:lnTo>
                  <a:pt x="0" y="95250"/>
                </a:lnTo>
                <a:cubicBezTo>
                  <a:pt x="0" y="42645"/>
                  <a:pt x="42645" y="0"/>
                  <a:pt x="95250" y="0"/>
                </a:cubicBezTo>
                <a:close/>
              </a:path>
            </a:pathLst>
          </a:custGeom>
          <a:solidFill>
            <a:srgbClr val="FFFFFF"/>
          </a:solidFill>
          <a:ln w="19050">
            <a:solidFill>
              <a:srgbClr val="CC0000"/>
            </a:solidFill>
          </a:ln>
        </p:spPr>
        <p:txBody>
          <a:bodyPr/>
          <a:lstStyle/>
          <a:p>
            <a:endParaRPr lang="zh-CN" altLang="en-US"/>
          </a:p>
        </p:txBody>
      </p:sp>
      <p:sp>
        <p:nvSpPr>
          <p:cNvPr id="25" name="TextBox 25"/>
          <p:cNvSpPr txBox="1"/>
          <p:nvPr/>
        </p:nvSpPr>
        <p:spPr>
          <a:xfrm>
            <a:off x="8698345" y="2403158"/>
            <a:ext cx="510309" cy="944880"/>
          </a:xfrm>
          <a:prstGeom prst="rect">
            <a:avLst/>
          </a:prstGeom>
          <a:noFill/>
          <a:ln>
            <a:noFill/>
          </a:ln>
        </p:spPr>
        <p:txBody>
          <a:bodyPr wrap="none" lIns="0" tIns="0" rIns="0" bIns="0" anchor="t" anchorCtr="0">
            <a:spAutoFit/>
          </a:bodyPr>
          <a:lstStyle/>
          <a:p>
            <a:pPr algn="ctr"/>
            <a:r>
              <a:rPr lang="zh-CN" sz="4650" b="1" dirty="0">
                <a:solidFill>
                  <a:srgbClr val="CC0000"/>
                </a:solidFill>
                <a:latin typeface="Arial"/>
                <a:ea typeface="Microsoft YaHei"/>
                <a:cs typeface="Arial"/>
              </a:rPr>
              <a:t>?</a:t>
            </a:r>
          </a:p>
        </p:txBody>
      </p:sp>
      <p:sp>
        <p:nvSpPr>
          <p:cNvPr id="26" name="TextBox 26"/>
          <p:cNvSpPr txBox="1"/>
          <p:nvPr/>
        </p:nvSpPr>
        <p:spPr>
          <a:xfrm>
            <a:off x="7847005" y="3283268"/>
            <a:ext cx="2212991"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This question remained</a:t>
            </a:r>
          </a:p>
        </p:txBody>
      </p:sp>
      <p:sp>
        <p:nvSpPr>
          <p:cNvPr id="27" name="TextBox 27"/>
          <p:cNvSpPr txBox="1"/>
          <p:nvPr/>
        </p:nvSpPr>
        <p:spPr>
          <a:xfrm>
            <a:off x="8118110" y="3511868"/>
            <a:ext cx="1670780" cy="274320"/>
          </a:xfrm>
          <a:prstGeom prst="rect">
            <a:avLst/>
          </a:prstGeom>
          <a:noFill/>
          <a:ln>
            <a:noFill/>
          </a:ln>
        </p:spPr>
        <p:txBody>
          <a:bodyPr wrap="none" lIns="0" tIns="0" rIns="0" bIns="0" anchor="t" anchorCtr="0">
            <a:spAutoFit/>
          </a:bodyPr>
          <a:lstStyle/>
          <a:p>
            <a:pPr algn="ctr"/>
            <a:r>
              <a:rPr lang="zh-CN" sz="1350" dirty="0">
                <a:solidFill>
                  <a:srgbClr val="333333"/>
                </a:solidFill>
                <a:latin typeface="Arial"/>
                <a:ea typeface="Microsoft YaHei"/>
                <a:cs typeface="Arial"/>
              </a:rPr>
              <a:t>open for decades</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4400883"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17 Zelmanov's Breakthrough</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794070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Zelmanov's 1983 theorem closes the classification problem in arbitrary dimension.</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17</a:t>
            </a:r>
          </a:p>
        </p:txBody>
      </p:sp>
      <p:sp>
        <p:nvSpPr>
          <p:cNvPr id="13" name="Freeform 13"/>
          <p:cNvSpPr/>
          <p:nvPr/>
        </p:nvSpPr>
        <p:spPr>
          <a:xfrm>
            <a:off x="666750" y="1762125"/>
            <a:ext cx="7239000" cy="3714750"/>
          </a:xfrm>
          <a:custGeom>
            <a:avLst/>
            <a:gdLst/>
            <a:ahLst/>
            <a:cxnLst/>
            <a:rect l="l" t="t" r="r" b="b"/>
            <a:pathLst>
              <a:path w="7239000" h="3714750">
                <a:moveTo>
                  <a:pt x="95250" y="0"/>
                </a:moveTo>
                <a:lnTo>
                  <a:pt x="7143750" y="0"/>
                </a:lnTo>
                <a:cubicBezTo>
                  <a:pt x="7196355" y="0"/>
                  <a:pt x="7239000" y="42645"/>
                  <a:pt x="7239000" y="95250"/>
                </a:cubicBezTo>
                <a:lnTo>
                  <a:pt x="7239000" y="3619500"/>
                </a:lnTo>
                <a:cubicBezTo>
                  <a:pt x="7239000" y="3672105"/>
                  <a:pt x="7196355" y="3714750"/>
                  <a:pt x="7143750" y="3714750"/>
                </a:cubicBezTo>
                <a:lnTo>
                  <a:pt x="95250" y="3714750"/>
                </a:lnTo>
                <a:cubicBezTo>
                  <a:pt x="42645" y="3714750"/>
                  <a:pt x="0" y="3672105"/>
                  <a:pt x="0" y="36195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4" name="TextBox 14"/>
          <p:cNvSpPr txBox="1"/>
          <p:nvPr/>
        </p:nvSpPr>
        <p:spPr>
          <a:xfrm>
            <a:off x="2230726" y="2011680"/>
            <a:ext cx="4111047" cy="426720"/>
          </a:xfrm>
          <a:prstGeom prst="rect">
            <a:avLst/>
          </a:prstGeom>
          <a:noFill/>
          <a:ln>
            <a:noFill/>
          </a:ln>
        </p:spPr>
        <p:txBody>
          <a:bodyPr wrap="none" lIns="0" tIns="0" rIns="0" bIns="0" anchor="t" anchorCtr="0">
            <a:spAutoFit/>
          </a:bodyPr>
          <a:lstStyle/>
          <a:p>
            <a:pPr algn="ctr"/>
            <a:r>
              <a:rPr lang="zh-CN" sz="2100" b="1" dirty="0">
                <a:solidFill>
                  <a:srgbClr val="003366"/>
                </a:solidFill>
                <a:latin typeface="Arial"/>
                <a:ea typeface="Microsoft YaHei"/>
                <a:cs typeface="Arial"/>
              </a:rPr>
              <a:t>Theorem (Zelmanov, 1983)</a:t>
            </a:r>
          </a:p>
        </p:txBody>
      </p:sp>
      <p:sp>
        <p:nvSpPr>
          <p:cNvPr id="15" name="Ellipse 15"/>
          <p:cNvSpPr/>
          <p:nvPr/>
        </p:nvSpPr>
        <p:spPr>
          <a:xfrm>
            <a:off x="1123950" y="2647950"/>
            <a:ext cx="419100" cy="419100"/>
          </a:xfrm>
          <a:prstGeom prst="ellipse">
            <a:avLst/>
          </a:prstGeom>
          <a:solidFill>
            <a:srgbClr val="0066CC"/>
          </a:solidFill>
          <a:ln>
            <a:noFill/>
          </a:ln>
        </p:spPr>
        <p:txBody>
          <a:bodyPr/>
          <a:lstStyle/>
          <a:p>
            <a:endParaRPr lang="zh-CN" altLang="en-US"/>
          </a:p>
        </p:txBody>
      </p:sp>
      <p:sp>
        <p:nvSpPr>
          <p:cNvPr id="16" name="TextBox 16"/>
          <p:cNvSpPr txBox="1"/>
          <p:nvPr/>
        </p:nvSpPr>
        <p:spPr>
          <a:xfrm>
            <a:off x="1296012" y="2801302"/>
            <a:ext cx="749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17" name="Freeform 17"/>
          <p:cNvSpPr/>
          <p:nvPr/>
        </p:nvSpPr>
        <p:spPr>
          <a:xfrm>
            <a:off x="1714500" y="2590800"/>
            <a:ext cx="5619750" cy="533400"/>
          </a:xfrm>
          <a:custGeom>
            <a:avLst/>
            <a:gdLst/>
            <a:ahLst/>
            <a:cxnLst/>
            <a:rect l="l" t="t" r="r" b="b"/>
            <a:pathLst>
              <a:path w="5619750" h="533400">
                <a:moveTo>
                  <a:pt x="95250" y="0"/>
                </a:moveTo>
                <a:lnTo>
                  <a:pt x="5524500" y="0"/>
                </a:lnTo>
                <a:cubicBezTo>
                  <a:pt x="5577105" y="0"/>
                  <a:pt x="5619750" y="42645"/>
                  <a:pt x="5619750" y="95250"/>
                </a:cubicBezTo>
                <a:lnTo>
                  <a:pt x="5619750" y="438150"/>
                </a:lnTo>
                <a:cubicBezTo>
                  <a:pt x="5619750" y="490755"/>
                  <a:pt x="5577105" y="533400"/>
                  <a:pt x="5524500" y="533400"/>
                </a:cubicBezTo>
                <a:lnTo>
                  <a:pt x="95250" y="533400"/>
                </a:lnTo>
                <a:cubicBezTo>
                  <a:pt x="42645" y="533400"/>
                  <a:pt x="0" y="490755"/>
                  <a:pt x="0" y="43815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sp>
        <p:nvSpPr>
          <p:cNvPr id="18" name="TextBox 18"/>
          <p:cNvSpPr txBox="1"/>
          <p:nvPr/>
        </p:nvSpPr>
        <p:spPr>
          <a:xfrm>
            <a:off x="1981200" y="2752725"/>
            <a:ext cx="1682806" cy="304800"/>
          </a:xfrm>
          <a:prstGeom prst="rect">
            <a:avLst/>
          </a:prstGeom>
          <a:noFill/>
          <a:ln>
            <a:noFill/>
          </a:ln>
        </p:spPr>
        <p:txBody>
          <a:bodyPr wrap="none" lIns="0" tIns="0" rIns="0" bIns="0" anchor="t" anchorCtr="0">
            <a:spAutoFit/>
          </a:bodyPr>
          <a:lstStyle/>
          <a:p>
            <a:pPr algn="l"/>
            <a:r>
              <a:rPr lang="zh-CN" sz="1500" b="1" dirty="0">
                <a:solidFill>
                  <a:srgbClr val="333333"/>
                </a:solidFill>
                <a:latin typeface="Arial"/>
                <a:ea typeface="Microsoft YaHei"/>
                <a:cs typeface="Arial"/>
              </a:rPr>
              <a:t>Hermitian type</a:t>
            </a:r>
          </a:p>
        </p:txBody>
      </p:sp>
      <p:sp>
        <p:nvSpPr>
          <p:cNvPr id="19" name="Ellipse 19"/>
          <p:cNvSpPr/>
          <p:nvPr/>
        </p:nvSpPr>
        <p:spPr>
          <a:xfrm>
            <a:off x="1123950" y="3314700"/>
            <a:ext cx="419100" cy="419100"/>
          </a:xfrm>
          <a:prstGeom prst="ellipse">
            <a:avLst/>
          </a:prstGeom>
          <a:solidFill>
            <a:srgbClr val="0066CC"/>
          </a:solidFill>
          <a:ln>
            <a:noFill/>
          </a:ln>
        </p:spPr>
        <p:txBody>
          <a:bodyPr/>
          <a:lstStyle/>
          <a:p>
            <a:endParaRPr lang="zh-CN" altLang="en-US"/>
          </a:p>
        </p:txBody>
      </p:sp>
      <p:sp>
        <p:nvSpPr>
          <p:cNvPr id="20" name="TextBox 20"/>
          <p:cNvSpPr txBox="1"/>
          <p:nvPr/>
        </p:nvSpPr>
        <p:spPr>
          <a:xfrm>
            <a:off x="1275884" y="346805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21" name="Freeform 21"/>
          <p:cNvSpPr/>
          <p:nvPr/>
        </p:nvSpPr>
        <p:spPr>
          <a:xfrm>
            <a:off x="1714500" y="3257550"/>
            <a:ext cx="5619750" cy="533400"/>
          </a:xfrm>
          <a:custGeom>
            <a:avLst/>
            <a:gdLst/>
            <a:ahLst/>
            <a:cxnLst/>
            <a:rect l="l" t="t" r="r" b="b"/>
            <a:pathLst>
              <a:path w="5619750" h="533400">
                <a:moveTo>
                  <a:pt x="95250" y="0"/>
                </a:moveTo>
                <a:lnTo>
                  <a:pt x="5524500" y="0"/>
                </a:lnTo>
                <a:cubicBezTo>
                  <a:pt x="5577105" y="0"/>
                  <a:pt x="5619750" y="42645"/>
                  <a:pt x="5619750" y="95250"/>
                </a:cubicBezTo>
                <a:lnTo>
                  <a:pt x="5619750" y="438150"/>
                </a:lnTo>
                <a:cubicBezTo>
                  <a:pt x="5619750" y="490755"/>
                  <a:pt x="5577105" y="533400"/>
                  <a:pt x="5524500" y="533400"/>
                </a:cubicBezTo>
                <a:lnTo>
                  <a:pt x="95250" y="533400"/>
                </a:lnTo>
                <a:cubicBezTo>
                  <a:pt x="42645" y="533400"/>
                  <a:pt x="0" y="490755"/>
                  <a:pt x="0" y="43815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sp>
        <p:nvSpPr>
          <p:cNvPr id="22" name="TextBox 22"/>
          <p:cNvSpPr txBox="1"/>
          <p:nvPr/>
        </p:nvSpPr>
        <p:spPr>
          <a:xfrm>
            <a:off x="1981200" y="3419475"/>
            <a:ext cx="2223373" cy="304800"/>
          </a:xfrm>
          <a:prstGeom prst="rect">
            <a:avLst/>
          </a:prstGeom>
          <a:noFill/>
          <a:ln>
            <a:noFill/>
          </a:ln>
        </p:spPr>
        <p:txBody>
          <a:bodyPr wrap="none" lIns="0" tIns="0" rIns="0" bIns="0" anchor="t" anchorCtr="0">
            <a:spAutoFit/>
          </a:bodyPr>
          <a:lstStyle/>
          <a:p>
            <a:pPr algn="l"/>
            <a:r>
              <a:rPr lang="zh-CN" sz="1500" b="1" dirty="0">
                <a:solidFill>
                  <a:srgbClr val="333333"/>
                </a:solidFill>
                <a:latin typeface="Arial"/>
                <a:ea typeface="Microsoft YaHei"/>
                <a:cs typeface="Arial"/>
              </a:rPr>
              <a:t>Spin / Clifford type</a:t>
            </a:r>
          </a:p>
        </p:txBody>
      </p:sp>
      <p:sp>
        <p:nvSpPr>
          <p:cNvPr id="23" name="Ellipse 23"/>
          <p:cNvSpPr/>
          <p:nvPr/>
        </p:nvSpPr>
        <p:spPr>
          <a:xfrm>
            <a:off x="1123950" y="3981450"/>
            <a:ext cx="419100" cy="419100"/>
          </a:xfrm>
          <a:prstGeom prst="ellipse">
            <a:avLst/>
          </a:prstGeom>
          <a:solidFill>
            <a:srgbClr val="0066CC"/>
          </a:solidFill>
          <a:ln>
            <a:noFill/>
          </a:ln>
        </p:spPr>
        <p:txBody>
          <a:bodyPr/>
          <a:lstStyle/>
          <a:p>
            <a:endParaRPr lang="zh-CN" altLang="en-US"/>
          </a:p>
        </p:txBody>
      </p:sp>
      <p:sp>
        <p:nvSpPr>
          <p:cNvPr id="24" name="TextBox 24"/>
          <p:cNvSpPr txBox="1"/>
          <p:nvPr/>
        </p:nvSpPr>
        <p:spPr>
          <a:xfrm>
            <a:off x="1275884" y="41348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25" name="Freeform 25"/>
          <p:cNvSpPr/>
          <p:nvPr/>
        </p:nvSpPr>
        <p:spPr>
          <a:xfrm>
            <a:off x="1714500" y="3924300"/>
            <a:ext cx="5619750" cy="533400"/>
          </a:xfrm>
          <a:custGeom>
            <a:avLst/>
            <a:gdLst/>
            <a:ahLst/>
            <a:cxnLst/>
            <a:rect l="l" t="t" r="r" b="b"/>
            <a:pathLst>
              <a:path w="5619750" h="533400">
                <a:moveTo>
                  <a:pt x="95250" y="0"/>
                </a:moveTo>
                <a:lnTo>
                  <a:pt x="5524500" y="0"/>
                </a:lnTo>
                <a:cubicBezTo>
                  <a:pt x="5577105" y="0"/>
                  <a:pt x="5619750" y="42645"/>
                  <a:pt x="5619750" y="95250"/>
                </a:cubicBezTo>
                <a:lnTo>
                  <a:pt x="5619750" y="438150"/>
                </a:lnTo>
                <a:cubicBezTo>
                  <a:pt x="5619750" y="490755"/>
                  <a:pt x="5577105" y="533400"/>
                  <a:pt x="5524500" y="533400"/>
                </a:cubicBezTo>
                <a:lnTo>
                  <a:pt x="95250" y="533400"/>
                </a:lnTo>
                <a:cubicBezTo>
                  <a:pt x="42645" y="533400"/>
                  <a:pt x="0" y="490755"/>
                  <a:pt x="0" y="438150"/>
                </a:cubicBezTo>
                <a:lnTo>
                  <a:pt x="0" y="95250"/>
                </a:lnTo>
                <a:cubicBezTo>
                  <a:pt x="0" y="42645"/>
                  <a:pt x="42645" y="0"/>
                  <a:pt x="95250" y="0"/>
                </a:cubicBezTo>
                <a:close/>
              </a:path>
            </a:pathLst>
          </a:custGeom>
          <a:solidFill>
            <a:srgbClr val="E8F4FC"/>
          </a:solidFill>
          <a:ln w="9525">
            <a:solidFill>
              <a:srgbClr val="0066CC"/>
            </a:solidFill>
          </a:ln>
        </p:spPr>
        <p:txBody>
          <a:bodyPr/>
          <a:lstStyle/>
          <a:p>
            <a:endParaRPr lang="zh-CN" altLang="en-US"/>
          </a:p>
        </p:txBody>
      </p:sp>
      <p:sp>
        <p:nvSpPr>
          <p:cNvPr id="26" name="TextBox 26"/>
          <p:cNvSpPr txBox="1"/>
          <p:nvPr/>
        </p:nvSpPr>
        <p:spPr>
          <a:xfrm>
            <a:off x="1981200" y="4086225"/>
            <a:ext cx="1314760" cy="304800"/>
          </a:xfrm>
          <a:prstGeom prst="rect">
            <a:avLst/>
          </a:prstGeom>
          <a:noFill/>
          <a:ln>
            <a:noFill/>
          </a:ln>
        </p:spPr>
        <p:txBody>
          <a:bodyPr wrap="none" lIns="0" tIns="0" rIns="0" bIns="0" anchor="t" anchorCtr="0">
            <a:spAutoFit/>
          </a:bodyPr>
          <a:lstStyle/>
          <a:p>
            <a:pPr algn="l"/>
            <a:r>
              <a:rPr lang="zh-CN" sz="1500" b="1" dirty="0">
                <a:solidFill>
                  <a:srgbClr val="333333"/>
                </a:solidFill>
                <a:latin typeface="Arial"/>
                <a:ea typeface="Microsoft YaHei"/>
                <a:cs typeface="Arial"/>
              </a:rPr>
              <a:t>Albert type</a:t>
            </a:r>
          </a:p>
        </p:txBody>
      </p:sp>
      <p:sp>
        <p:nvSpPr>
          <p:cNvPr id="27" name="Ellipse 27"/>
          <p:cNvSpPr/>
          <p:nvPr/>
        </p:nvSpPr>
        <p:spPr>
          <a:xfrm>
            <a:off x="1123950" y="4648200"/>
            <a:ext cx="419100" cy="419100"/>
          </a:xfrm>
          <a:prstGeom prst="ellipse">
            <a:avLst/>
          </a:prstGeom>
          <a:solidFill>
            <a:srgbClr val="CC0000"/>
          </a:solidFill>
          <a:ln>
            <a:noFill/>
          </a:ln>
        </p:spPr>
        <p:txBody>
          <a:bodyPr/>
          <a:lstStyle/>
          <a:p>
            <a:endParaRPr lang="zh-CN" altLang="en-US"/>
          </a:p>
        </p:txBody>
      </p:sp>
      <p:sp>
        <p:nvSpPr>
          <p:cNvPr id="28" name="TextBox 28"/>
          <p:cNvSpPr txBox="1"/>
          <p:nvPr/>
        </p:nvSpPr>
        <p:spPr>
          <a:xfrm>
            <a:off x="1275884" y="480155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4</a:t>
            </a:r>
          </a:p>
        </p:txBody>
      </p:sp>
      <p:sp>
        <p:nvSpPr>
          <p:cNvPr id="29" name="Freeform 29"/>
          <p:cNvSpPr/>
          <p:nvPr/>
        </p:nvSpPr>
        <p:spPr>
          <a:xfrm>
            <a:off x="1714500" y="4591050"/>
            <a:ext cx="5619750" cy="533400"/>
          </a:xfrm>
          <a:custGeom>
            <a:avLst/>
            <a:gdLst/>
            <a:ahLst/>
            <a:cxnLst/>
            <a:rect l="l" t="t" r="r" b="b"/>
            <a:pathLst>
              <a:path w="5619750" h="533400">
                <a:moveTo>
                  <a:pt x="95250" y="0"/>
                </a:moveTo>
                <a:lnTo>
                  <a:pt x="5524500" y="0"/>
                </a:lnTo>
                <a:cubicBezTo>
                  <a:pt x="5577105" y="0"/>
                  <a:pt x="5619750" y="42645"/>
                  <a:pt x="5619750" y="95250"/>
                </a:cubicBezTo>
                <a:lnTo>
                  <a:pt x="5619750" y="438150"/>
                </a:lnTo>
                <a:cubicBezTo>
                  <a:pt x="5619750" y="490755"/>
                  <a:pt x="5577105" y="533400"/>
                  <a:pt x="5524500" y="533400"/>
                </a:cubicBezTo>
                <a:lnTo>
                  <a:pt x="95250" y="533400"/>
                </a:lnTo>
                <a:cubicBezTo>
                  <a:pt x="42645" y="533400"/>
                  <a:pt x="0" y="490755"/>
                  <a:pt x="0" y="438150"/>
                </a:cubicBezTo>
                <a:lnTo>
                  <a:pt x="0" y="95250"/>
                </a:lnTo>
                <a:cubicBezTo>
                  <a:pt x="0" y="42645"/>
                  <a:pt x="42645" y="0"/>
                  <a:pt x="95250" y="0"/>
                </a:cubicBezTo>
                <a:close/>
              </a:path>
            </a:pathLst>
          </a:custGeom>
          <a:solidFill>
            <a:srgbClr val="FFF1F0"/>
          </a:solidFill>
          <a:ln w="9525">
            <a:solidFill>
              <a:srgbClr val="CC0000"/>
            </a:solidFill>
          </a:ln>
        </p:spPr>
        <p:txBody>
          <a:bodyPr/>
          <a:lstStyle/>
          <a:p>
            <a:endParaRPr lang="zh-CN" altLang="en-US"/>
          </a:p>
        </p:txBody>
      </p:sp>
      <p:sp>
        <p:nvSpPr>
          <p:cNvPr id="30" name="TextBox 30"/>
          <p:cNvSpPr txBox="1"/>
          <p:nvPr/>
        </p:nvSpPr>
        <p:spPr>
          <a:xfrm>
            <a:off x="1981200" y="4752975"/>
            <a:ext cx="3557540" cy="304800"/>
          </a:xfrm>
          <a:prstGeom prst="rect">
            <a:avLst/>
          </a:prstGeom>
          <a:noFill/>
          <a:ln>
            <a:noFill/>
          </a:ln>
        </p:spPr>
        <p:txBody>
          <a:bodyPr wrap="none" lIns="0" tIns="0" rIns="0" bIns="0" anchor="t" anchorCtr="0">
            <a:spAutoFit/>
          </a:bodyPr>
          <a:lstStyle/>
          <a:p>
            <a:pPr algn="l"/>
            <a:r>
              <a:rPr lang="zh-CN" sz="1500" b="1" dirty="0">
                <a:solidFill>
                  <a:srgbClr val="333333"/>
                </a:solidFill>
                <a:latin typeface="Arial"/>
                <a:ea typeface="Microsoft YaHei"/>
                <a:cs typeface="Arial"/>
              </a:rPr>
              <a:t>No additional simple exceptional</a:t>
            </a:r>
          </a:p>
        </p:txBody>
      </p:sp>
      <p:sp>
        <p:nvSpPr>
          <p:cNvPr id="31" name="TextBox 31"/>
          <p:cNvSpPr txBox="1"/>
          <p:nvPr/>
        </p:nvSpPr>
        <p:spPr>
          <a:xfrm>
            <a:off x="4996029" y="4748689"/>
            <a:ext cx="923711" cy="304800"/>
          </a:xfrm>
          <a:prstGeom prst="rect">
            <a:avLst/>
          </a:prstGeom>
          <a:noFill/>
          <a:ln>
            <a:noFill/>
          </a:ln>
        </p:spPr>
        <p:txBody>
          <a:bodyPr wrap="none" lIns="0" tIns="0" rIns="0" bIns="0" anchor="t" anchorCtr="0">
            <a:spAutoFit/>
          </a:bodyPr>
          <a:lstStyle/>
          <a:p>
            <a:pPr algn="l"/>
            <a:r>
              <a:rPr lang="zh-CN" sz="1500" b="1" dirty="0">
                <a:solidFill>
                  <a:srgbClr val="333333"/>
                </a:solidFill>
                <a:latin typeface="Arial"/>
                <a:ea typeface="Microsoft YaHei"/>
                <a:cs typeface="Arial"/>
              </a:rPr>
              <a:t>families</a:t>
            </a:r>
          </a:p>
        </p:txBody>
      </p:sp>
      <p:sp>
        <p:nvSpPr>
          <p:cNvPr id="32" name="Freeform 32"/>
          <p:cNvSpPr/>
          <p:nvPr/>
        </p:nvSpPr>
        <p:spPr>
          <a:xfrm>
            <a:off x="8286750" y="1762125"/>
            <a:ext cx="2857500" cy="3714750"/>
          </a:xfrm>
          <a:custGeom>
            <a:avLst/>
            <a:gdLst/>
            <a:ahLst/>
            <a:cxnLst/>
            <a:rect l="l" t="t" r="r" b="b"/>
            <a:pathLst>
              <a:path w="2857500" h="3714750">
                <a:moveTo>
                  <a:pt x="95250" y="0"/>
                </a:moveTo>
                <a:lnTo>
                  <a:pt x="2762250" y="0"/>
                </a:lnTo>
                <a:cubicBezTo>
                  <a:pt x="2814855" y="0"/>
                  <a:pt x="2857500" y="42645"/>
                  <a:pt x="2857500" y="95250"/>
                </a:cubicBezTo>
                <a:lnTo>
                  <a:pt x="2857500" y="3619500"/>
                </a:lnTo>
                <a:cubicBezTo>
                  <a:pt x="2857500" y="3672105"/>
                  <a:pt x="2814855" y="3714750"/>
                  <a:pt x="2762250" y="3714750"/>
                </a:cubicBezTo>
                <a:lnTo>
                  <a:pt x="95250" y="3714750"/>
                </a:lnTo>
                <a:cubicBezTo>
                  <a:pt x="42645" y="3714750"/>
                  <a:pt x="0" y="3672105"/>
                  <a:pt x="0" y="36195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pic>
        <p:nvPicPr>
          <p:cNvPr id="33" name="Image 33"/>
          <p:cNvPicPr>
            <a:picLocks noChangeAspect="1"/>
          </p:cNvPicPr>
          <p:nvPr/>
        </p:nvPicPr>
        <p:blipFill>
          <a:blip r:embed="rId3"/>
          <a:stretch>
            <a:fillRect/>
          </a:stretch>
        </p:blipFill>
        <p:spPr>
          <a:xfrm>
            <a:off x="8524875" y="2325052"/>
            <a:ext cx="2381250" cy="1161098"/>
          </a:xfrm>
          <a:prstGeom prst="rect">
            <a:avLst/>
          </a:prstGeom>
        </p:spPr>
      </p:pic>
      <p:sp>
        <p:nvSpPr>
          <p:cNvPr id="34" name="TextBox 34"/>
          <p:cNvSpPr txBox="1"/>
          <p:nvPr/>
        </p:nvSpPr>
        <p:spPr>
          <a:xfrm>
            <a:off x="8834237" y="3965258"/>
            <a:ext cx="1762525" cy="335280"/>
          </a:xfrm>
          <a:prstGeom prst="rect">
            <a:avLst/>
          </a:prstGeom>
          <a:noFill/>
          <a:ln>
            <a:noFill/>
          </a:ln>
        </p:spPr>
        <p:txBody>
          <a:bodyPr wrap="none" lIns="0" tIns="0" rIns="0" bIns="0" anchor="t" anchorCtr="0">
            <a:spAutoFit/>
          </a:bodyPr>
          <a:lstStyle/>
          <a:p>
            <a:pPr algn="ctr"/>
            <a:r>
              <a:rPr lang="zh-CN" sz="1650" b="1" dirty="0">
                <a:solidFill>
                  <a:srgbClr val="003366"/>
                </a:solidFill>
                <a:latin typeface="Arial"/>
                <a:ea typeface="Microsoft YaHei"/>
                <a:cs typeface="Arial"/>
              </a:rPr>
              <a:t>Efim Zelmanov</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5238188"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18 Why Zelmanov Matters So Much</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8551926"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theorem answers the founding historical question and clarifies the whole landscape.</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18</a:t>
            </a:r>
          </a:p>
        </p:txBody>
      </p:sp>
      <p:pic>
        <p:nvPicPr>
          <p:cNvPr id="13" name="Image 13"/>
          <p:cNvPicPr>
            <a:picLocks noChangeAspect="1"/>
          </p:cNvPicPr>
          <p:nvPr/>
        </p:nvPicPr>
        <p:blipFill>
          <a:blip r:embed="rId3"/>
          <a:stretch>
            <a:fillRect/>
          </a:stretch>
        </p:blipFill>
        <p:spPr>
          <a:xfrm>
            <a:off x="3667125" y="1412557"/>
            <a:ext cx="4286250" cy="2089785"/>
          </a:xfrm>
          <a:prstGeom prst="rect">
            <a:avLst/>
          </a:prstGeom>
        </p:spPr>
      </p:pic>
      <p:sp>
        <p:nvSpPr>
          <p:cNvPr id="15" name="Freeform 15"/>
          <p:cNvSpPr/>
          <p:nvPr/>
        </p:nvSpPr>
        <p:spPr>
          <a:xfrm>
            <a:off x="1924817" y="4095750"/>
            <a:ext cx="2381250" cy="1619250"/>
          </a:xfrm>
          <a:custGeom>
            <a:avLst/>
            <a:gdLst/>
            <a:ahLst/>
            <a:cxnLst/>
            <a:rect l="l" t="t" r="r" b="b"/>
            <a:pathLst>
              <a:path w="2381250" h="1619250">
                <a:moveTo>
                  <a:pt x="95250" y="0"/>
                </a:moveTo>
                <a:lnTo>
                  <a:pt x="2286000" y="0"/>
                </a:lnTo>
                <a:cubicBezTo>
                  <a:pt x="2338605" y="0"/>
                  <a:pt x="2381250" y="42645"/>
                  <a:pt x="2381250" y="95250"/>
                </a:cubicBezTo>
                <a:lnTo>
                  <a:pt x="2381250" y="1524000"/>
                </a:lnTo>
                <a:cubicBezTo>
                  <a:pt x="2381250" y="1576605"/>
                  <a:pt x="2338605" y="1619250"/>
                  <a:pt x="2286000" y="1619250"/>
                </a:cubicBezTo>
                <a:lnTo>
                  <a:pt x="95250" y="1619250"/>
                </a:lnTo>
                <a:cubicBezTo>
                  <a:pt x="42645" y="1619250"/>
                  <a:pt x="0" y="1576605"/>
                  <a:pt x="0" y="1524000"/>
                </a:cubicBezTo>
                <a:lnTo>
                  <a:pt x="0" y="95250"/>
                </a:lnTo>
                <a:cubicBezTo>
                  <a:pt x="0" y="42645"/>
                  <a:pt x="42645" y="0"/>
                  <a:pt x="95250" y="0"/>
                </a:cubicBezTo>
                <a:close/>
              </a:path>
            </a:pathLst>
          </a:custGeom>
          <a:solidFill>
            <a:srgbClr val="FFFFFF"/>
          </a:solidFill>
          <a:ln w="19050">
            <a:solidFill>
              <a:srgbClr val="003366"/>
            </a:solidFill>
          </a:ln>
        </p:spPr>
        <p:txBody>
          <a:bodyPr/>
          <a:lstStyle/>
          <a:p>
            <a:endParaRPr lang="zh-CN" altLang="en-US"/>
          </a:p>
        </p:txBody>
      </p:sp>
      <p:sp>
        <p:nvSpPr>
          <p:cNvPr id="16" name="Freeform 16"/>
          <p:cNvSpPr/>
          <p:nvPr/>
        </p:nvSpPr>
        <p:spPr>
          <a:xfrm>
            <a:off x="1924817" y="4095750"/>
            <a:ext cx="2381250" cy="419100"/>
          </a:xfrm>
          <a:custGeom>
            <a:avLst/>
            <a:gdLst/>
            <a:ahLst/>
            <a:cxnLst/>
            <a:rect l="l" t="t" r="r" b="b"/>
            <a:pathLst>
              <a:path w="2381250" h="419100">
                <a:moveTo>
                  <a:pt x="95250" y="0"/>
                </a:moveTo>
                <a:lnTo>
                  <a:pt x="2286000" y="0"/>
                </a:lnTo>
                <a:cubicBezTo>
                  <a:pt x="2338605" y="0"/>
                  <a:pt x="2381250" y="42645"/>
                  <a:pt x="2381250" y="95250"/>
                </a:cubicBezTo>
                <a:lnTo>
                  <a:pt x="2381250" y="323850"/>
                </a:lnTo>
                <a:cubicBezTo>
                  <a:pt x="2381250" y="376455"/>
                  <a:pt x="2338605" y="419100"/>
                  <a:pt x="2286000" y="419100"/>
                </a:cubicBezTo>
                <a:lnTo>
                  <a:pt x="95250" y="419100"/>
                </a:lnTo>
                <a:cubicBezTo>
                  <a:pt x="42645" y="419100"/>
                  <a:pt x="0" y="376455"/>
                  <a:pt x="0" y="323850"/>
                </a:cubicBezTo>
                <a:lnTo>
                  <a:pt x="0" y="95250"/>
                </a:lnTo>
                <a:cubicBezTo>
                  <a:pt x="0" y="42645"/>
                  <a:pt x="42645" y="0"/>
                  <a:pt x="95250" y="0"/>
                </a:cubicBezTo>
                <a:close/>
              </a:path>
            </a:pathLst>
          </a:custGeom>
          <a:solidFill>
            <a:srgbClr val="003366">
              <a:alpha val="8000"/>
            </a:srgbClr>
          </a:solidFill>
          <a:ln>
            <a:noFill/>
          </a:ln>
        </p:spPr>
        <p:txBody>
          <a:bodyPr/>
          <a:lstStyle/>
          <a:p>
            <a:endParaRPr lang="zh-CN" altLang="en-US"/>
          </a:p>
        </p:txBody>
      </p:sp>
      <p:sp>
        <p:nvSpPr>
          <p:cNvPr id="17" name="TextBox 17"/>
          <p:cNvSpPr txBox="1"/>
          <p:nvPr/>
        </p:nvSpPr>
        <p:spPr>
          <a:xfrm>
            <a:off x="2550074" y="4191000"/>
            <a:ext cx="1130737" cy="304800"/>
          </a:xfrm>
          <a:prstGeom prst="rect">
            <a:avLst/>
          </a:prstGeom>
          <a:noFill/>
          <a:ln>
            <a:noFill/>
          </a:ln>
        </p:spPr>
        <p:txBody>
          <a:bodyPr wrap="none" lIns="0" tIns="0" rIns="0" bIns="0" anchor="t" anchorCtr="0">
            <a:spAutoFit/>
          </a:bodyPr>
          <a:lstStyle/>
          <a:p>
            <a:pPr algn="ctr"/>
            <a:r>
              <a:rPr lang="zh-CN" sz="1500" b="1" dirty="0">
                <a:solidFill>
                  <a:srgbClr val="003366"/>
                </a:solidFill>
                <a:latin typeface="Arial"/>
                <a:ea typeface="Microsoft YaHei"/>
                <a:cs typeface="Arial"/>
              </a:rPr>
              <a:t>Historical</a:t>
            </a:r>
          </a:p>
        </p:txBody>
      </p:sp>
      <p:sp>
        <p:nvSpPr>
          <p:cNvPr id="18" name="TextBox 18"/>
          <p:cNvSpPr txBox="1"/>
          <p:nvPr/>
        </p:nvSpPr>
        <p:spPr>
          <a:xfrm>
            <a:off x="2682340" y="4400550"/>
            <a:ext cx="866204" cy="304800"/>
          </a:xfrm>
          <a:prstGeom prst="rect">
            <a:avLst/>
          </a:prstGeom>
          <a:noFill/>
          <a:ln>
            <a:noFill/>
          </a:ln>
        </p:spPr>
        <p:txBody>
          <a:bodyPr wrap="none" lIns="0" tIns="0" rIns="0" bIns="0" anchor="t" anchorCtr="0">
            <a:spAutoFit/>
          </a:bodyPr>
          <a:lstStyle/>
          <a:p>
            <a:pPr algn="ctr"/>
            <a:r>
              <a:rPr lang="zh-CN" sz="1500" b="1" dirty="0">
                <a:solidFill>
                  <a:srgbClr val="003366"/>
                </a:solidFill>
                <a:latin typeface="Arial"/>
                <a:ea typeface="Microsoft YaHei"/>
                <a:cs typeface="Arial"/>
              </a:rPr>
              <a:t>closure</a:t>
            </a:r>
          </a:p>
        </p:txBody>
      </p:sp>
      <p:sp>
        <p:nvSpPr>
          <p:cNvPr id="19" name="Freeform 19"/>
          <p:cNvSpPr/>
          <p:nvPr/>
        </p:nvSpPr>
        <p:spPr>
          <a:xfrm>
            <a:off x="4687067" y="4095750"/>
            <a:ext cx="2381250" cy="1619250"/>
          </a:xfrm>
          <a:custGeom>
            <a:avLst/>
            <a:gdLst/>
            <a:ahLst/>
            <a:cxnLst/>
            <a:rect l="l" t="t" r="r" b="b"/>
            <a:pathLst>
              <a:path w="2381250" h="1619250">
                <a:moveTo>
                  <a:pt x="95250" y="0"/>
                </a:moveTo>
                <a:lnTo>
                  <a:pt x="2286000" y="0"/>
                </a:lnTo>
                <a:cubicBezTo>
                  <a:pt x="2338605" y="0"/>
                  <a:pt x="2381250" y="42645"/>
                  <a:pt x="2381250" y="95250"/>
                </a:cubicBezTo>
                <a:lnTo>
                  <a:pt x="2381250" y="1524000"/>
                </a:lnTo>
                <a:cubicBezTo>
                  <a:pt x="2381250" y="1576605"/>
                  <a:pt x="2338605" y="1619250"/>
                  <a:pt x="2286000" y="1619250"/>
                </a:cubicBezTo>
                <a:lnTo>
                  <a:pt x="95250" y="1619250"/>
                </a:lnTo>
                <a:cubicBezTo>
                  <a:pt x="42645" y="1619250"/>
                  <a:pt x="0" y="1576605"/>
                  <a:pt x="0" y="1524000"/>
                </a:cubicBezTo>
                <a:lnTo>
                  <a:pt x="0" y="95250"/>
                </a:lnTo>
                <a:cubicBezTo>
                  <a:pt x="0" y="42645"/>
                  <a:pt x="42645" y="0"/>
                  <a:pt x="95250" y="0"/>
                </a:cubicBezTo>
                <a:close/>
              </a:path>
            </a:pathLst>
          </a:custGeom>
          <a:solidFill>
            <a:srgbClr val="FFFFFF"/>
          </a:solidFill>
          <a:ln w="19050">
            <a:solidFill>
              <a:srgbClr val="0066CC"/>
            </a:solidFill>
          </a:ln>
        </p:spPr>
        <p:txBody>
          <a:bodyPr/>
          <a:lstStyle/>
          <a:p>
            <a:endParaRPr lang="zh-CN" altLang="en-US"/>
          </a:p>
        </p:txBody>
      </p:sp>
      <p:sp>
        <p:nvSpPr>
          <p:cNvPr id="20" name="Freeform 20"/>
          <p:cNvSpPr/>
          <p:nvPr/>
        </p:nvSpPr>
        <p:spPr>
          <a:xfrm>
            <a:off x="4687067" y="4095750"/>
            <a:ext cx="2381250" cy="419100"/>
          </a:xfrm>
          <a:custGeom>
            <a:avLst/>
            <a:gdLst/>
            <a:ahLst/>
            <a:cxnLst/>
            <a:rect l="l" t="t" r="r" b="b"/>
            <a:pathLst>
              <a:path w="2381250" h="419100">
                <a:moveTo>
                  <a:pt x="95250" y="0"/>
                </a:moveTo>
                <a:lnTo>
                  <a:pt x="2286000" y="0"/>
                </a:lnTo>
                <a:cubicBezTo>
                  <a:pt x="2338605" y="0"/>
                  <a:pt x="2381250" y="42645"/>
                  <a:pt x="2381250" y="95250"/>
                </a:cubicBezTo>
                <a:lnTo>
                  <a:pt x="2381250" y="323850"/>
                </a:lnTo>
                <a:cubicBezTo>
                  <a:pt x="2381250" y="376455"/>
                  <a:pt x="2338605" y="419100"/>
                  <a:pt x="2286000" y="419100"/>
                </a:cubicBezTo>
                <a:lnTo>
                  <a:pt x="95250" y="419100"/>
                </a:lnTo>
                <a:cubicBezTo>
                  <a:pt x="42645" y="419100"/>
                  <a:pt x="0" y="376455"/>
                  <a:pt x="0" y="323850"/>
                </a:cubicBezTo>
                <a:lnTo>
                  <a:pt x="0" y="95250"/>
                </a:lnTo>
                <a:cubicBezTo>
                  <a:pt x="0" y="42645"/>
                  <a:pt x="42645" y="0"/>
                  <a:pt x="95250" y="0"/>
                </a:cubicBezTo>
                <a:close/>
              </a:path>
            </a:pathLst>
          </a:custGeom>
          <a:solidFill>
            <a:srgbClr val="0066CC">
              <a:alpha val="8000"/>
            </a:srgbClr>
          </a:solidFill>
          <a:ln>
            <a:noFill/>
          </a:ln>
        </p:spPr>
        <p:txBody>
          <a:bodyPr/>
          <a:lstStyle/>
          <a:p>
            <a:endParaRPr lang="zh-CN" altLang="en-US"/>
          </a:p>
        </p:txBody>
      </p:sp>
      <p:sp>
        <p:nvSpPr>
          <p:cNvPr id="21" name="TextBox 21"/>
          <p:cNvSpPr txBox="1"/>
          <p:nvPr/>
        </p:nvSpPr>
        <p:spPr>
          <a:xfrm>
            <a:off x="5220312" y="4191000"/>
            <a:ext cx="1314760" cy="304800"/>
          </a:xfrm>
          <a:prstGeom prst="rect">
            <a:avLst/>
          </a:prstGeom>
          <a:noFill/>
          <a:ln>
            <a:noFill/>
          </a:ln>
        </p:spPr>
        <p:txBody>
          <a:bodyPr wrap="none" lIns="0" tIns="0" rIns="0" bIns="0" anchor="t" anchorCtr="0">
            <a:spAutoFit/>
          </a:bodyPr>
          <a:lstStyle/>
          <a:p>
            <a:pPr algn="ctr"/>
            <a:r>
              <a:rPr lang="zh-CN" sz="1500" b="1" dirty="0">
                <a:solidFill>
                  <a:srgbClr val="0066CC"/>
                </a:solidFill>
                <a:latin typeface="Arial"/>
                <a:ea typeface="Microsoft YaHei"/>
                <a:cs typeface="Arial"/>
              </a:rPr>
              <a:t>Exceptional</a:t>
            </a:r>
          </a:p>
        </p:txBody>
      </p:sp>
      <p:sp>
        <p:nvSpPr>
          <p:cNvPr id="22" name="TextBox 22"/>
          <p:cNvSpPr txBox="1"/>
          <p:nvPr/>
        </p:nvSpPr>
        <p:spPr>
          <a:xfrm>
            <a:off x="5254817" y="4400550"/>
            <a:ext cx="1245751" cy="304800"/>
          </a:xfrm>
          <a:prstGeom prst="rect">
            <a:avLst/>
          </a:prstGeom>
          <a:noFill/>
          <a:ln>
            <a:noFill/>
          </a:ln>
        </p:spPr>
        <p:txBody>
          <a:bodyPr wrap="none" lIns="0" tIns="0" rIns="0" bIns="0" anchor="t" anchorCtr="0">
            <a:spAutoFit/>
          </a:bodyPr>
          <a:lstStyle/>
          <a:p>
            <a:pPr algn="ctr"/>
            <a:r>
              <a:rPr lang="zh-CN" sz="1500" b="1" dirty="0">
                <a:solidFill>
                  <a:srgbClr val="0066CC"/>
                </a:solidFill>
                <a:latin typeface="Arial"/>
                <a:ea typeface="Microsoft YaHei"/>
                <a:cs typeface="Arial"/>
              </a:rPr>
              <a:t>uniqueness</a:t>
            </a:r>
          </a:p>
        </p:txBody>
      </p:sp>
      <p:sp>
        <p:nvSpPr>
          <p:cNvPr id="23" name="Freeform 23"/>
          <p:cNvSpPr/>
          <p:nvPr/>
        </p:nvSpPr>
        <p:spPr>
          <a:xfrm>
            <a:off x="7449317" y="4095750"/>
            <a:ext cx="2381250" cy="1619250"/>
          </a:xfrm>
          <a:custGeom>
            <a:avLst/>
            <a:gdLst/>
            <a:ahLst/>
            <a:cxnLst/>
            <a:rect l="l" t="t" r="r" b="b"/>
            <a:pathLst>
              <a:path w="2381250" h="1619250">
                <a:moveTo>
                  <a:pt x="95250" y="0"/>
                </a:moveTo>
                <a:lnTo>
                  <a:pt x="2286000" y="0"/>
                </a:lnTo>
                <a:cubicBezTo>
                  <a:pt x="2338605" y="0"/>
                  <a:pt x="2381250" y="42645"/>
                  <a:pt x="2381250" y="95250"/>
                </a:cubicBezTo>
                <a:lnTo>
                  <a:pt x="2381250" y="1524000"/>
                </a:lnTo>
                <a:cubicBezTo>
                  <a:pt x="2381250" y="1576605"/>
                  <a:pt x="2338605" y="1619250"/>
                  <a:pt x="2286000" y="1619250"/>
                </a:cubicBezTo>
                <a:lnTo>
                  <a:pt x="95250" y="1619250"/>
                </a:lnTo>
                <a:cubicBezTo>
                  <a:pt x="42645" y="1619250"/>
                  <a:pt x="0" y="1576605"/>
                  <a:pt x="0" y="1524000"/>
                </a:cubicBezTo>
                <a:lnTo>
                  <a:pt x="0" y="95250"/>
                </a:lnTo>
                <a:cubicBezTo>
                  <a:pt x="0" y="42645"/>
                  <a:pt x="42645" y="0"/>
                  <a:pt x="95250" y="0"/>
                </a:cubicBezTo>
                <a:close/>
              </a:path>
            </a:pathLst>
          </a:custGeom>
          <a:solidFill>
            <a:srgbClr val="FFFFFF"/>
          </a:solidFill>
          <a:ln w="19050">
            <a:solidFill>
              <a:srgbClr val="CC0000"/>
            </a:solidFill>
          </a:ln>
        </p:spPr>
        <p:txBody>
          <a:bodyPr/>
          <a:lstStyle/>
          <a:p>
            <a:endParaRPr lang="zh-CN" altLang="en-US"/>
          </a:p>
        </p:txBody>
      </p:sp>
      <p:sp>
        <p:nvSpPr>
          <p:cNvPr id="24" name="Freeform 24"/>
          <p:cNvSpPr/>
          <p:nvPr/>
        </p:nvSpPr>
        <p:spPr>
          <a:xfrm>
            <a:off x="7449317" y="4095750"/>
            <a:ext cx="2381250" cy="419100"/>
          </a:xfrm>
          <a:custGeom>
            <a:avLst/>
            <a:gdLst/>
            <a:ahLst/>
            <a:cxnLst/>
            <a:rect l="l" t="t" r="r" b="b"/>
            <a:pathLst>
              <a:path w="2381250" h="419100">
                <a:moveTo>
                  <a:pt x="95250" y="0"/>
                </a:moveTo>
                <a:lnTo>
                  <a:pt x="2286000" y="0"/>
                </a:lnTo>
                <a:cubicBezTo>
                  <a:pt x="2338605" y="0"/>
                  <a:pt x="2381250" y="42645"/>
                  <a:pt x="2381250" y="95250"/>
                </a:cubicBezTo>
                <a:lnTo>
                  <a:pt x="2381250" y="323850"/>
                </a:lnTo>
                <a:cubicBezTo>
                  <a:pt x="2381250" y="376455"/>
                  <a:pt x="2338605" y="419100"/>
                  <a:pt x="2286000" y="419100"/>
                </a:cubicBezTo>
                <a:lnTo>
                  <a:pt x="95250" y="419100"/>
                </a:lnTo>
                <a:cubicBezTo>
                  <a:pt x="42645" y="419100"/>
                  <a:pt x="0" y="376455"/>
                  <a:pt x="0" y="323850"/>
                </a:cubicBezTo>
                <a:lnTo>
                  <a:pt x="0" y="95250"/>
                </a:lnTo>
                <a:cubicBezTo>
                  <a:pt x="0" y="42645"/>
                  <a:pt x="42645" y="0"/>
                  <a:pt x="95250" y="0"/>
                </a:cubicBezTo>
                <a:close/>
              </a:path>
            </a:pathLst>
          </a:custGeom>
          <a:solidFill>
            <a:srgbClr val="CC0000">
              <a:alpha val="8000"/>
            </a:srgbClr>
          </a:solidFill>
          <a:ln>
            <a:noFill/>
          </a:ln>
        </p:spPr>
        <p:txBody>
          <a:bodyPr/>
          <a:lstStyle/>
          <a:p>
            <a:endParaRPr lang="zh-CN" altLang="en-US"/>
          </a:p>
        </p:txBody>
      </p:sp>
      <p:sp>
        <p:nvSpPr>
          <p:cNvPr id="25" name="TextBox 25"/>
          <p:cNvSpPr txBox="1"/>
          <p:nvPr/>
        </p:nvSpPr>
        <p:spPr>
          <a:xfrm>
            <a:off x="8017067" y="4191000"/>
            <a:ext cx="1245751" cy="304800"/>
          </a:xfrm>
          <a:prstGeom prst="rect">
            <a:avLst/>
          </a:prstGeom>
          <a:noFill/>
          <a:ln>
            <a:noFill/>
          </a:ln>
        </p:spPr>
        <p:txBody>
          <a:bodyPr wrap="none" lIns="0" tIns="0" rIns="0" bIns="0" anchor="t" anchorCtr="0">
            <a:spAutoFit/>
          </a:bodyPr>
          <a:lstStyle/>
          <a:p>
            <a:pPr algn="ctr"/>
            <a:r>
              <a:rPr lang="zh-CN" sz="1500" b="1" dirty="0">
                <a:solidFill>
                  <a:srgbClr val="CC0000"/>
                </a:solidFill>
                <a:latin typeface="Arial"/>
                <a:ea typeface="Microsoft YaHei"/>
                <a:cs typeface="Arial"/>
              </a:rPr>
              <a:t>Structural</a:t>
            </a:r>
          </a:p>
        </p:txBody>
      </p:sp>
      <p:sp>
        <p:nvSpPr>
          <p:cNvPr id="26" name="TextBox 26"/>
          <p:cNvSpPr txBox="1"/>
          <p:nvPr/>
        </p:nvSpPr>
        <p:spPr>
          <a:xfrm>
            <a:off x="8235594" y="4400550"/>
            <a:ext cx="808696" cy="304800"/>
          </a:xfrm>
          <a:prstGeom prst="rect">
            <a:avLst/>
          </a:prstGeom>
          <a:noFill/>
          <a:ln>
            <a:noFill/>
          </a:ln>
        </p:spPr>
        <p:txBody>
          <a:bodyPr wrap="none" lIns="0" tIns="0" rIns="0" bIns="0" anchor="t" anchorCtr="0">
            <a:spAutoFit/>
          </a:bodyPr>
          <a:lstStyle/>
          <a:p>
            <a:pPr algn="ctr"/>
            <a:r>
              <a:rPr lang="zh-CN" sz="1500" b="1" dirty="0">
                <a:solidFill>
                  <a:srgbClr val="CC0000"/>
                </a:solidFill>
                <a:latin typeface="Arial"/>
                <a:ea typeface="Microsoft YaHei"/>
                <a:cs typeface="Arial"/>
              </a:rPr>
              <a:t>clarity</a:t>
            </a: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7170430"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19 A Modern Direction Connected with SUSTech</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8335042"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historical narrative opens naturally onto varieties, deformations, and geometry.</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76815" y="6506528"/>
            <a:ext cx="157020"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19</a:t>
            </a:r>
          </a:p>
        </p:txBody>
      </p:sp>
      <p:pic>
        <p:nvPicPr>
          <p:cNvPr id="13" name="Image 13"/>
          <p:cNvPicPr>
            <a:picLocks noChangeAspect="1"/>
          </p:cNvPicPr>
          <p:nvPr/>
        </p:nvPicPr>
        <p:blipFill>
          <a:blip r:embed="rId3"/>
          <a:stretch>
            <a:fillRect/>
          </a:stretch>
        </p:blipFill>
        <p:spPr>
          <a:xfrm>
            <a:off x="6477000" y="1476375"/>
            <a:ext cx="5143500" cy="2286000"/>
          </a:xfrm>
          <a:prstGeom prst="rect">
            <a:avLst/>
          </a:prstGeom>
        </p:spPr>
      </p:pic>
      <p:sp>
        <p:nvSpPr>
          <p:cNvPr id="14" name="Rectangle 14"/>
          <p:cNvSpPr/>
          <p:nvPr/>
        </p:nvSpPr>
        <p:spPr>
          <a:xfrm>
            <a:off x="6477000" y="1476375"/>
            <a:ext cx="5143500" cy="2286000"/>
          </a:xfrm>
          <a:prstGeom prst="rect">
            <a:avLst/>
          </a:prstGeom>
          <a:solidFill>
            <a:srgbClr val="FFFFFF">
              <a:alpha val="20000"/>
            </a:srgbClr>
          </a:solidFill>
          <a:ln>
            <a:noFill/>
          </a:ln>
        </p:spPr>
        <p:txBody>
          <a:bodyPr/>
          <a:lstStyle/>
          <a:p>
            <a:endParaRPr lang="zh-CN" altLang="en-US"/>
          </a:p>
        </p:txBody>
      </p:sp>
      <p:sp>
        <p:nvSpPr>
          <p:cNvPr id="15" name="Freeform 15"/>
          <p:cNvSpPr/>
          <p:nvPr/>
        </p:nvSpPr>
        <p:spPr>
          <a:xfrm>
            <a:off x="666750" y="1666875"/>
            <a:ext cx="5334000" cy="4095750"/>
          </a:xfrm>
          <a:custGeom>
            <a:avLst/>
            <a:gdLst/>
            <a:ahLst/>
            <a:cxnLst/>
            <a:rect l="l" t="t" r="r" b="b"/>
            <a:pathLst>
              <a:path w="5334000" h="4095750">
                <a:moveTo>
                  <a:pt x="95250" y="0"/>
                </a:moveTo>
                <a:lnTo>
                  <a:pt x="5238750" y="0"/>
                </a:lnTo>
                <a:cubicBezTo>
                  <a:pt x="5291355" y="0"/>
                  <a:pt x="5334000" y="42645"/>
                  <a:pt x="5334000" y="95250"/>
                </a:cubicBezTo>
                <a:lnTo>
                  <a:pt x="5334000" y="4000500"/>
                </a:lnTo>
                <a:cubicBezTo>
                  <a:pt x="5334000" y="4053105"/>
                  <a:pt x="5291355" y="4095750"/>
                  <a:pt x="5238750" y="4095750"/>
                </a:cubicBezTo>
                <a:lnTo>
                  <a:pt x="95250" y="4095750"/>
                </a:lnTo>
                <a:cubicBezTo>
                  <a:pt x="42645" y="4095750"/>
                  <a:pt x="0" y="4053105"/>
                  <a:pt x="0" y="40005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6" name="TextBox 16"/>
          <p:cNvSpPr txBox="1"/>
          <p:nvPr/>
        </p:nvSpPr>
        <p:spPr>
          <a:xfrm>
            <a:off x="2365472" y="1948815"/>
            <a:ext cx="1936556" cy="365760"/>
          </a:xfrm>
          <a:prstGeom prst="rect">
            <a:avLst/>
          </a:prstGeom>
          <a:noFill/>
          <a:ln>
            <a:noFill/>
          </a:ln>
        </p:spPr>
        <p:txBody>
          <a:bodyPr wrap="none" lIns="0" tIns="0" rIns="0" bIns="0" anchor="t" anchorCtr="0">
            <a:spAutoFit/>
          </a:bodyPr>
          <a:lstStyle/>
          <a:p>
            <a:pPr algn="ctr"/>
            <a:r>
              <a:rPr lang="zh-CN" sz="1800" b="1" dirty="0">
                <a:solidFill>
                  <a:srgbClr val="003366"/>
                </a:solidFill>
                <a:latin typeface="Arial"/>
                <a:ea typeface="Microsoft YaHei"/>
                <a:cs typeface="Arial"/>
              </a:rPr>
              <a:t>Modern bridge</a:t>
            </a:r>
          </a:p>
        </p:txBody>
      </p:sp>
      <p:sp>
        <p:nvSpPr>
          <p:cNvPr id="17" name="Ellipse 17"/>
          <p:cNvSpPr/>
          <p:nvPr/>
        </p:nvSpPr>
        <p:spPr>
          <a:xfrm>
            <a:off x="862012" y="2576512"/>
            <a:ext cx="85725" cy="85725"/>
          </a:xfrm>
          <a:prstGeom prst="ellipse">
            <a:avLst/>
          </a:prstGeom>
          <a:solidFill>
            <a:srgbClr val="0066CC"/>
          </a:solidFill>
          <a:ln>
            <a:noFill/>
          </a:ln>
        </p:spPr>
        <p:txBody>
          <a:bodyPr/>
          <a:lstStyle/>
          <a:p>
            <a:endParaRPr lang="zh-CN" altLang="en-US"/>
          </a:p>
        </p:txBody>
      </p:sp>
      <p:sp>
        <p:nvSpPr>
          <p:cNvPr id="18" name="TextBox 18"/>
          <p:cNvSpPr txBox="1"/>
          <p:nvPr/>
        </p:nvSpPr>
        <p:spPr>
          <a:xfrm>
            <a:off x="1040130" y="2521268"/>
            <a:ext cx="302137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Iryna Kashuba (SICM-SUSTech):</a:t>
            </a:r>
          </a:p>
        </p:txBody>
      </p:sp>
      <p:sp>
        <p:nvSpPr>
          <p:cNvPr id="19" name="TextBox 19"/>
          <p:cNvSpPr txBox="1"/>
          <p:nvPr/>
        </p:nvSpPr>
        <p:spPr>
          <a:xfrm>
            <a:off x="1040130" y="2768918"/>
            <a:ext cx="277491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varieties of Jordan algebras</a:t>
            </a:r>
          </a:p>
        </p:txBody>
      </p:sp>
      <p:sp>
        <p:nvSpPr>
          <p:cNvPr id="20" name="Ellipse 20"/>
          <p:cNvSpPr/>
          <p:nvPr/>
        </p:nvSpPr>
        <p:spPr>
          <a:xfrm>
            <a:off x="862012" y="3186112"/>
            <a:ext cx="85725" cy="85725"/>
          </a:xfrm>
          <a:prstGeom prst="ellipse">
            <a:avLst/>
          </a:prstGeom>
          <a:solidFill>
            <a:srgbClr val="0066CC"/>
          </a:solidFill>
          <a:ln>
            <a:noFill/>
          </a:ln>
        </p:spPr>
        <p:txBody>
          <a:bodyPr/>
          <a:lstStyle/>
          <a:p>
            <a:endParaRPr lang="zh-CN" altLang="en-US"/>
          </a:p>
        </p:txBody>
      </p:sp>
      <p:sp>
        <p:nvSpPr>
          <p:cNvPr id="21" name="TextBox 21"/>
          <p:cNvSpPr txBox="1"/>
          <p:nvPr/>
        </p:nvSpPr>
        <p:spPr>
          <a:xfrm>
            <a:off x="1040130" y="3130868"/>
            <a:ext cx="277491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Jor_n: the affine variety of</a:t>
            </a:r>
          </a:p>
        </p:txBody>
      </p:sp>
      <p:sp>
        <p:nvSpPr>
          <p:cNvPr id="22" name="TextBox 22"/>
          <p:cNvSpPr txBox="1"/>
          <p:nvPr/>
        </p:nvSpPr>
        <p:spPr>
          <a:xfrm>
            <a:off x="1040130" y="3378518"/>
            <a:ext cx="285378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n-dimensional complex Jordan</a:t>
            </a:r>
          </a:p>
        </p:txBody>
      </p:sp>
      <p:sp>
        <p:nvSpPr>
          <p:cNvPr id="23" name="TextBox 23"/>
          <p:cNvSpPr txBox="1"/>
          <p:nvPr/>
        </p:nvSpPr>
        <p:spPr>
          <a:xfrm>
            <a:off x="1040130" y="3626168"/>
            <a:ext cx="85253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algebras</a:t>
            </a:r>
          </a:p>
        </p:txBody>
      </p:sp>
      <p:sp>
        <p:nvSpPr>
          <p:cNvPr id="24" name="Ellipse 24"/>
          <p:cNvSpPr/>
          <p:nvPr/>
        </p:nvSpPr>
        <p:spPr>
          <a:xfrm>
            <a:off x="862012" y="4043362"/>
            <a:ext cx="85725" cy="85725"/>
          </a:xfrm>
          <a:prstGeom prst="ellipse">
            <a:avLst/>
          </a:prstGeom>
          <a:solidFill>
            <a:srgbClr val="0066CC"/>
          </a:solidFill>
          <a:ln>
            <a:noFill/>
          </a:ln>
        </p:spPr>
        <p:txBody>
          <a:bodyPr/>
          <a:lstStyle/>
          <a:p>
            <a:endParaRPr lang="zh-CN" altLang="en-US"/>
          </a:p>
        </p:txBody>
      </p:sp>
      <p:sp>
        <p:nvSpPr>
          <p:cNvPr id="25" name="TextBox 25"/>
          <p:cNvSpPr txBox="1"/>
          <p:nvPr/>
        </p:nvSpPr>
        <p:spPr>
          <a:xfrm>
            <a:off x="1040130" y="3988118"/>
            <a:ext cx="296222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GL(n, C)-orbits = isomorphism</a:t>
            </a:r>
          </a:p>
        </p:txBody>
      </p:sp>
      <p:sp>
        <p:nvSpPr>
          <p:cNvPr id="26" name="TextBox 26"/>
          <p:cNvSpPr txBox="1"/>
          <p:nvPr/>
        </p:nvSpPr>
        <p:spPr>
          <a:xfrm>
            <a:off x="1040130" y="4235768"/>
            <a:ext cx="74409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classes</a:t>
            </a:r>
          </a:p>
        </p:txBody>
      </p:sp>
      <p:sp>
        <p:nvSpPr>
          <p:cNvPr id="27" name="Ellipse 27"/>
          <p:cNvSpPr/>
          <p:nvPr/>
        </p:nvSpPr>
        <p:spPr>
          <a:xfrm>
            <a:off x="862012" y="4652962"/>
            <a:ext cx="85725" cy="85725"/>
          </a:xfrm>
          <a:prstGeom prst="ellipse">
            <a:avLst/>
          </a:prstGeom>
          <a:solidFill>
            <a:srgbClr val="0066CC"/>
          </a:solidFill>
          <a:ln>
            <a:noFill/>
          </a:ln>
        </p:spPr>
        <p:txBody>
          <a:bodyPr/>
          <a:lstStyle/>
          <a:p>
            <a:endParaRPr lang="zh-CN" altLang="en-US"/>
          </a:p>
        </p:txBody>
      </p:sp>
      <p:sp>
        <p:nvSpPr>
          <p:cNvPr id="28" name="TextBox 28"/>
          <p:cNvSpPr txBox="1"/>
          <p:nvPr/>
        </p:nvSpPr>
        <p:spPr>
          <a:xfrm>
            <a:off x="1040130" y="4597718"/>
            <a:ext cx="311010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Deformations, rigidity, moment</a:t>
            </a:r>
          </a:p>
        </p:txBody>
      </p:sp>
      <p:sp>
        <p:nvSpPr>
          <p:cNvPr id="29" name="TextBox 29"/>
          <p:cNvSpPr txBox="1"/>
          <p:nvPr/>
        </p:nvSpPr>
        <p:spPr>
          <a:xfrm>
            <a:off x="1040130" y="4845368"/>
            <a:ext cx="144403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maps, solitons</a:t>
            </a:r>
          </a:p>
        </p:txBody>
      </p:sp>
      <p:sp>
        <p:nvSpPr>
          <p:cNvPr id="30" name="Freeform 30"/>
          <p:cNvSpPr/>
          <p:nvPr/>
        </p:nvSpPr>
        <p:spPr>
          <a:xfrm>
            <a:off x="8142532" y="3838575"/>
            <a:ext cx="1752600" cy="495300"/>
          </a:xfrm>
          <a:custGeom>
            <a:avLst/>
            <a:gdLst/>
            <a:ahLst/>
            <a:cxnLst/>
            <a:rect l="l" t="t" r="r" b="b"/>
            <a:pathLst>
              <a:path w="1752600" h="495300">
                <a:moveTo>
                  <a:pt x="95250" y="0"/>
                </a:moveTo>
                <a:lnTo>
                  <a:pt x="1657350" y="0"/>
                </a:lnTo>
                <a:cubicBezTo>
                  <a:pt x="1709955" y="0"/>
                  <a:pt x="1752600" y="42645"/>
                  <a:pt x="1752600" y="95250"/>
                </a:cubicBezTo>
                <a:lnTo>
                  <a:pt x="1752600" y="400050"/>
                </a:lnTo>
                <a:cubicBezTo>
                  <a:pt x="1752600" y="452655"/>
                  <a:pt x="1709955" y="495300"/>
                  <a:pt x="1657350" y="495300"/>
                </a:cubicBezTo>
                <a:lnTo>
                  <a:pt x="95250" y="495300"/>
                </a:lnTo>
                <a:cubicBezTo>
                  <a:pt x="42645" y="495300"/>
                  <a:pt x="0" y="452655"/>
                  <a:pt x="0" y="400050"/>
                </a:cubicBezTo>
                <a:lnTo>
                  <a:pt x="0" y="95250"/>
                </a:lnTo>
                <a:cubicBezTo>
                  <a:pt x="0" y="42645"/>
                  <a:pt x="42645" y="0"/>
                  <a:pt x="95250" y="0"/>
                </a:cubicBezTo>
                <a:close/>
              </a:path>
            </a:pathLst>
          </a:custGeom>
          <a:solidFill>
            <a:srgbClr val="FFFFFF"/>
          </a:solidFill>
          <a:ln w="9525">
            <a:solidFill>
              <a:srgbClr val="003366"/>
            </a:solidFill>
          </a:ln>
        </p:spPr>
        <p:txBody>
          <a:bodyPr/>
          <a:lstStyle/>
          <a:p>
            <a:endParaRPr lang="zh-CN" altLang="en-US"/>
          </a:p>
        </p:txBody>
      </p:sp>
      <p:sp>
        <p:nvSpPr>
          <p:cNvPr id="31" name="TextBox 31"/>
          <p:cNvSpPr txBox="1"/>
          <p:nvPr/>
        </p:nvSpPr>
        <p:spPr>
          <a:xfrm>
            <a:off x="8391716" y="4013835"/>
            <a:ext cx="1254233" cy="243840"/>
          </a:xfrm>
          <a:prstGeom prst="rect">
            <a:avLst/>
          </a:prstGeom>
          <a:noFill/>
          <a:ln>
            <a:noFill/>
          </a:ln>
        </p:spPr>
        <p:txBody>
          <a:bodyPr wrap="none" lIns="0" tIns="0" rIns="0" bIns="0" anchor="t" anchorCtr="0">
            <a:spAutoFit/>
          </a:bodyPr>
          <a:lstStyle/>
          <a:p>
            <a:pPr algn="ctr"/>
            <a:r>
              <a:rPr lang="zh-CN" sz="1200" b="1" dirty="0">
                <a:solidFill>
                  <a:srgbClr val="003366"/>
                </a:solidFill>
                <a:latin typeface="Arial"/>
                <a:ea typeface="Microsoft YaHei"/>
                <a:cs typeface="Arial"/>
              </a:rPr>
              <a:t>Variety Jor_n</a:t>
            </a:r>
          </a:p>
        </p:txBody>
      </p:sp>
      <p:sp>
        <p:nvSpPr>
          <p:cNvPr id="32" name="Freeform 32"/>
          <p:cNvSpPr/>
          <p:nvPr/>
        </p:nvSpPr>
        <p:spPr>
          <a:xfrm>
            <a:off x="6713782" y="4838700"/>
            <a:ext cx="1752600" cy="495300"/>
          </a:xfrm>
          <a:custGeom>
            <a:avLst/>
            <a:gdLst/>
            <a:ahLst/>
            <a:cxnLst/>
            <a:rect l="l" t="t" r="r" b="b"/>
            <a:pathLst>
              <a:path w="1752600" h="495300">
                <a:moveTo>
                  <a:pt x="95250" y="0"/>
                </a:moveTo>
                <a:lnTo>
                  <a:pt x="1657350" y="0"/>
                </a:lnTo>
                <a:cubicBezTo>
                  <a:pt x="1709955" y="0"/>
                  <a:pt x="1752600" y="42645"/>
                  <a:pt x="1752600" y="95250"/>
                </a:cubicBezTo>
                <a:lnTo>
                  <a:pt x="1752600" y="400050"/>
                </a:lnTo>
                <a:cubicBezTo>
                  <a:pt x="1752600" y="452655"/>
                  <a:pt x="1709955" y="495300"/>
                  <a:pt x="1657350" y="495300"/>
                </a:cubicBezTo>
                <a:lnTo>
                  <a:pt x="95250" y="495300"/>
                </a:lnTo>
                <a:cubicBezTo>
                  <a:pt x="42645" y="495300"/>
                  <a:pt x="0" y="452655"/>
                  <a:pt x="0" y="400050"/>
                </a:cubicBezTo>
                <a:lnTo>
                  <a:pt x="0" y="95250"/>
                </a:lnTo>
                <a:cubicBezTo>
                  <a:pt x="0" y="42645"/>
                  <a:pt x="42645" y="0"/>
                  <a:pt x="95250" y="0"/>
                </a:cubicBezTo>
                <a:close/>
              </a:path>
            </a:pathLst>
          </a:custGeom>
          <a:solidFill>
            <a:srgbClr val="FFFFFF"/>
          </a:solidFill>
          <a:ln w="9525">
            <a:solidFill>
              <a:srgbClr val="0066CC"/>
            </a:solidFill>
          </a:ln>
        </p:spPr>
        <p:txBody>
          <a:bodyPr/>
          <a:lstStyle/>
          <a:p>
            <a:endParaRPr lang="zh-CN" altLang="en-US"/>
          </a:p>
        </p:txBody>
      </p:sp>
      <p:sp>
        <p:nvSpPr>
          <p:cNvPr id="33" name="TextBox 33"/>
          <p:cNvSpPr txBox="1"/>
          <p:nvPr/>
        </p:nvSpPr>
        <p:spPr>
          <a:xfrm>
            <a:off x="6691532" y="5013960"/>
            <a:ext cx="1797101" cy="243840"/>
          </a:xfrm>
          <a:prstGeom prst="rect">
            <a:avLst/>
          </a:prstGeom>
          <a:noFill/>
          <a:ln>
            <a:noFill/>
          </a:ln>
        </p:spPr>
        <p:txBody>
          <a:bodyPr wrap="none" lIns="0" tIns="0" rIns="0" bIns="0" anchor="t" anchorCtr="0">
            <a:spAutoFit/>
          </a:bodyPr>
          <a:lstStyle/>
          <a:p>
            <a:pPr algn="ctr"/>
            <a:r>
              <a:rPr lang="zh-CN" sz="1200" b="1" dirty="0">
                <a:solidFill>
                  <a:srgbClr val="0066CC"/>
                </a:solidFill>
                <a:latin typeface="Arial"/>
                <a:ea typeface="Microsoft YaHei"/>
                <a:cs typeface="Arial"/>
              </a:rPr>
              <a:t>Deformation theory</a:t>
            </a:r>
          </a:p>
        </p:txBody>
      </p:sp>
      <p:sp>
        <p:nvSpPr>
          <p:cNvPr id="34" name="Freeform 34"/>
          <p:cNvSpPr/>
          <p:nvPr/>
        </p:nvSpPr>
        <p:spPr>
          <a:xfrm>
            <a:off x="9571282" y="4838700"/>
            <a:ext cx="1752600" cy="495300"/>
          </a:xfrm>
          <a:custGeom>
            <a:avLst/>
            <a:gdLst/>
            <a:ahLst/>
            <a:cxnLst/>
            <a:rect l="l" t="t" r="r" b="b"/>
            <a:pathLst>
              <a:path w="1752600" h="495300">
                <a:moveTo>
                  <a:pt x="95250" y="0"/>
                </a:moveTo>
                <a:lnTo>
                  <a:pt x="1657350" y="0"/>
                </a:lnTo>
                <a:cubicBezTo>
                  <a:pt x="1709955" y="0"/>
                  <a:pt x="1752600" y="42645"/>
                  <a:pt x="1752600" y="95250"/>
                </a:cubicBezTo>
                <a:lnTo>
                  <a:pt x="1752600" y="400050"/>
                </a:lnTo>
                <a:cubicBezTo>
                  <a:pt x="1752600" y="452655"/>
                  <a:pt x="1709955" y="495300"/>
                  <a:pt x="1657350" y="495300"/>
                </a:cubicBezTo>
                <a:lnTo>
                  <a:pt x="95250" y="495300"/>
                </a:lnTo>
                <a:cubicBezTo>
                  <a:pt x="42645" y="495300"/>
                  <a:pt x="0" y="452655"/>
                  <a:pt x="0" y="400050"/>
                </a:cubicBezTo>
                <a:lnTo>
                  <a:pt x="0" y="95250"/>
                </a:lnTo>
                <a:cubicBezTo>
                  <a:pt x="0" y="42645"/>
                  <a:pt x="42645" y="0"/>
                  <a:pt x="95250" y="0"/>
                </a:cubicBezTo>
                <a:close/>
              </a:path>
            </a:pathLst>
          </a:custGeom>
          <a:solidFill>
            <a:srgbClr val="FFFFFF"/>
          </a:solidFill>
          <a:ln w="9525">
            <a:solidFill>
              <a:srgbClr val="28A745"/>
            </a:solidFill>
          </a:ln>
        </p:spPr>
        <p:txBody>
          <a:bodyPr/>
          <a:lstStyle/>
          <a:p>
            <a:endParaRPr lang="zh-CN" altLang="en-US"/>
          </a:p>
        </p:txBody>
      </p:sp>
      <p:sp>
        <p:nvSpPr>
          <p:cNvPr id="35" name="TextBox 35"/>
          <p:cNvSpPr txBox="1"/>
          <p:nvPr/>
        </p:nvSpPr>
        <p:spPr>
          <a:xfrm>
            <a:off x="10096500" y="5013960"/>
            <a:ext cx="702164" cy="243840"/>
          </a:xfrm>
          <a:prstGeom prst="rect">
            <a:avLst/>
          </a:prstGeom>
          <a:noFill/>
          <a:ln>
            <a:noFill/>
          </a:ln>
        </p:spPr>
        <p:txBody>
          <a:bodyPr wrap="none" lIns="0" tIns="0" rIns="0" bIns="0" anchor="t" anchorCtr="0">
            <a:spAutoFit/>
          </a:bodyPr>
          <a:lstStyle/>
          <a:p>
            <a:pPr algn="ctr"/>
            <a:r>
              <a:rPr lang="zh-CN" sz="1200" b="1" dirty="0">
                <a:solidFill>
                  <a:srgbClr val="28A745"/>
                </a:solidFill>
                <a:latin typeface="Arial"/>
                <a:ea typeface="Microsoft YaHei"/>
                <a:cs typeface="Arial"/>
              </a:rPr>
              <a:t>Rigidity</a:t>
            </a:r>
          </a:p>
        </p:txBody>
      </p:sp>
      <p:sp>
        <p:nvSpPr>
          <p:cNvPr id="36" name="Freeform 36"/>
          <p:cNvSpPr/>
          <p:nvPr/>
        </p:nvSpPr>
        <p:spPr>
          <a:xfrm>
            <a:off x="6999532" y="5553075"/>
            <a:ext cx="1752600" cy="495300"/>
          </a:xfrm>
          <a:custGeom>
            <a:avLst/>
            <a:gdLst/>
            <a:ahLst/>
            <a:cxnLst/>
            <a:rect l="l" t="t" r="r" b="b"/>
            <a:pathLst>
              <a:path w="1752600" h="495300">
                <a:moveTo>
                  <a:pt x="95250" y="0"/>
                </a:moveTo>
                <a:lnTo>
                  <a:pt x="1657350" y="0"/>
                </a:lnTo>
                <a:cubicBezTo>
                  <a:pt x="1709955" y="0"/>
                  <a:pt x="1752600" y="42645"/>
                  <a:pt x="1752600" y="95250"/>
                </a:cubicBezTo>
                <a:lnTo>
                  <a:pt x="1752600" y="400050"/>
                </a:lnTo>
                <a:cubicBezTo>
                  <a:pt x="1752600" y="452655"/>
                  <a:pt x="1709955" y="495300"/>
                  <a:pt x="1657350" y="495300"/>
                </a:cubicBezTo>
                <a:lnTo>
                  <a:pt x="95250" y="495300"/>
                </a:lnTo>
                <a:cubicBezTo>
                  <a:pt x="42645" y="495300"/>
                  <a:pt x="0" y="452655"/>
                  <a:pt x="0" y="400050"/>
                </a:cubicBezTo>
                <a:lnTo>
                  <a:pt x="0" y="95250"/>
                </a:lnTo>
                <a:cubicBezTo>
                  <a:pt x="0" y="42645"/>
                  <a:pt x="42645" y="0"/>
                  <a:pt x="95250" y="0"/>
                </a:cubicBezTo>
                <a:close/>
              </a:path>
            </a:pathLst>
          </a:custGeom>
          <a:solidFill>
            <a:srgbClr val="FFFFFF"/>
          </a:solidFill>
          <a:ln w="9525">
            <a:solidFill>
              <a:srgbClr val="B8860B"/>
            </a:solidFill>
          </a:ln>
        </p:spPr>
        <p:txBody>
          <a:bodyPr/>
          <a:lstStyle/>
          <a:p>
            <a:endParaRPr lang="zh-CN" altLang="en-US"/>
          </a:p>
        </p:txBody>
      </p:sp>
      <p:sp>
        <p:nvSpPr>
          <p:cNvPr id="37" name="TextBox 37"/>
          <p:cNvSpPr txBox="1"/>
          <p:nvPr/>
        </p:nvSpPr>
        <p:spPr>
          <a:xfrm>
            <a:off x="7271718" y="5728335"/>
            <a:ext cx="1208227" cy="243840"/>
          </a:xfrm>
          <a:prstGeom prst="rect">
            <a:avLst/>
          </a:prstGeom>
          <a:noFill/>
          <a:ln>
            <a:noFill/>
          </a:ln>
        </p:spPr>
        <p:txBody>
          <a:bodyPr wrap="none" lIns="0" tIns="0" rIns="0" bIns="0" anchor="t" anchorCtr="0">
            <a:spAutoFit/>
          </a:bodyPr>
          <a:lstStyle/>
          <a:p>
            <a:pPr algn="ctr"/>
            <a:r>
              <a:rPr lang="zh-CN" sz="1200" b="1" dirty="0">
                <a:solidFill>
                  <a:srgbClr val="B8860B"/>
                </a:solidFill>
                <a:latin typeface="Arial"/>
                <a:ea typeface="Microsoft YaHei"/>
                <a:cs typeface="Arial"/>
              </a:rPr>
              <a:t>Moment maps</a:t>
            </a:r>
          </a:p>
        </p:txBody>
      </p:sp>
      <p:sp>
        <p:nvSpPr>
          <p:cNvPr id="38" name="Freeform 38"/>
          <p:cNvSpPr/>
          <p:nvPr/>
        </p:nvSpPr>
        <p:spPr>
          <a:xfrm>
            <a:off x="9285532" y="5553075"/>
            <a:ext cx="1752600" cy="495300"/>
          </a:xfrm>
          <a:custGeom>
            <a:avLst/>
            <a:gdLst/>
            <a:ahLst/>
            <a:cxnLst/>
            <a:rect l="l" t="t" r="r" b="b"/>
            <a:pathLst>
              <a:path w="1752600" h="495300">
                <a:moveTo>
                  <a:pt x="95250" y="0"/>
                </a:moveTo>
                <a:lnTo>
                  <a:pt x="1657350" y="0"/>
                </a:lnTo>
                <a:cubicBezTo>
                  <a:pt x="1709955" y="0"/>
                  <a:pt x="1752600" y="42645"/>
                  <a:pt x="1752600" y="95250"/>
                </a:cubicBezTo>
                <a:lnTo>
                  <a:pt x="1752600" y="400050"/>
                </a:lnTo>
                <a:cubicBezTo>
                  <a:pt x="1752600" y="452655"/>
                  <a:pt x="1709955" y="495300"/>
                  <a:pt x="1657350" y="495300"/>
                </a:cubicBezTo>
                <a:lnTo>
                  <a:pt x="95250" y="495300"/>
                </a:lnTo>
                <a:cubicBezTo>
                  <a:pt x="42645" y="495300"/>
                  <a:pt x="0" y="452655"/>
                  <a:pt x="0" y="400050"/>
                </a:cubicBezTo>
                <a:lnTo>
                  <a:pt x="0" y="95250"/>
                </a:lnTo>
                <a:cubicBezTo>
                  <a:pt x="0" y="42645"/>
                  <a:pt x="42645" y="0"/>
                  <a:pt x="95250" y="0"/>
                </a:cubicBezTo>
                <a:close/>
              </a:path>
            </a:pathLst>
          </a:custGeom>
          <a:solidFill>
            <a:srgbClr val="FFFFFF"/>
          </a:solidFill>
          <a:ln w="9525">
            <a:solidFill>
              <a:srgbClr val="CC0000"/>
            </a:solidFill>
          </a:ln>
        </p:spPr>
        <p:txBody>
          <a:bodyPr/>
          <a:lstStyle/>
          <a:p>
            <a:endParaRPr lang="zh-CN" altLang="en-US"/>
          </a:p>
        </p:txBody>
      </p:sp>
      <p:sp>
        <p:nvSpPr>
          <p:cNvPr id="39" name="TextBox 39"/>
          <p:cNvSpPr txBox="1"/>
          <p:nvPr/>
        </p:nvSpPr>
        <p:spPr>
          <a:xfrm>
            <a:off x="9456506" y="5728335"/>
            <a:ext cx="1410652" cy="243840"/>
          </a:xfrm>
          <a:prstGeom prst="rect">
            <a:avLst/>
          </a:prstGeom>
          <a:noFill/>
          <a:ln>
            <a:noFill/>
          </a:ln>
        </p:spPr>
        <p:txBody>
          <a:bodyPr wrap="none" lIns="0" tIns="0" rIns="0" bIns="0" anchor="t" anchorCtr="0">
            <a:spAutoFit/>
          </a:bodyPr>
          <a:lstStyle/>
          <a:p>
            <a:pPr algn="ctr"/>
            <a:r>
              <a:rPr lang="zh-CN" sz="1200" b="1" dirty="0">
                <a:solidFill>
                  <a:srgbClr val="CC0000"/>
                </a:solidFill>
                <a:latin typeface="Arial"/>
                <a:ea typeface="Microsoft YaHei"/>
                <a:cs typeface="Arial"/>
              </a:rPr>
              <a:t>Jordan solitons</a:t>
            </a:r>
          </a:p>
        </p:txBody>
      </p:sp>
      <p:sp>
        <p:nvSpPr>
          <p:cNvPr id="40" name="Line 40"/>
          <p:cNvSpPr/>
          <p:nvPr/>
        </p:nvSpPr>
        <p:spPr>
          <a:xfrm>
            <a:off x="7875832" y="4333875"/>
            <a:ext cx="1143000" cy="504825"/>
          </a:xfrm>
          <a:custGeom>
            <a:avLst/>
            <a:gdLst/>
            <a:ahLst/>
            <a:cxnLst/>
            <a:rect l="l" t="t" r="r" b="b"/>
            <a:pathLst>
              <a:path w="1143000" h="504825">
                <a:moveTo>
                  <a:pt x="1143000" y="0"/>
                </a:moveTo>
                <a:lnTo>
                  <a:pt x="0" y="504825"/>
                </a:lnTo>
              </a:path>
            </a:pathLst>
          </a:custGeom>
          <a:noFill/>
          <a:ln w="19050">
            <a:solidFill>
              <a:srgbClr val="003366">
                <a:alpha val="25000"/>
              </a:srgbClr>
            </a:solidFill>
          </a:ln>
        </p:spPr>
        <p:txBody>
          <a:bodyPr/>
          <a:lstStyle/>
          <a:p>
            <a:endParaRPr lang="zh-CN" altLang="en-US"/>
          </a:p>
        </p:txBody>
      </p:sp>
      <p:sp>
        <p:nvSpPr>
          <p:cNvPr id="41" name="Line 41"/>
          <p:cNvSpPr/>
          <p:nvPr/>
        </p:nvSpPr>
        <p:spPr>
          <a:xfrm>
            <a:off x="9018832" y="4333875"/>
            <a:ext cx="1143000" cy="504825"/>
          </a:xfrm>
          <a:custGeom>
            <a:avLst/>
            <a:gdLst/>
            <a:ahLst/>
            <a:cxnLst/>
            <a:rect l="l" t="t" r="r" b="b"/>
            <a:pathLst>
              <a:path w="1143000" h="504825">
                <a:moveTo>
                  <a:pt x="0" y="0"/>
                </a:moveTo>
                <a:lnTo>
                  <a:pt x="1143000" y="504825"/>
                </a:lnTo>
              </a:path>
            </a:pathLst>
          </a:custGeom>
          <a:noFill/>
          <a:ln w="19050">
            <a:solidFill>
              <a:srgbClr val="003366">
                <a:alpha val="25000"/>
              </a:srgbClr>
            </a:solidFill>
          </a:ln>
        </p:spPr>
        <p:txBody>
          <a:bodyPr/>
          <a:lstStyle/>
          <a:p>
            <a:endParaRPr lang="zh-CN" altLang="en-US"/>
          </a:p>
        </p:txBody>
      </p:sp>
      <p:sp>
        <p:nvSpPr>
          <p:cNvPr id="42" name="Line 42"/>
          <p:cNvSpPr/>
          <p:nvPr/>
        </p:nvSpPr>
        <p:spPr>
          <a:xfrm>
            <a:off x="8161582" y="4333875"/>
            <a:ext cx="857250" cy="1219200"/>
          </a:xfrm>
          <a:custGeom>
            <a:avLst/>
            <a:gdLst/>
            <a:ahLst/>
            <a:cxnLst/>
            <a:rect l="l" t="t" r="r" b="b"/>
            <a:pathLst>
              <a:path w="857250" h="1219200">
                <a:moveTo>
                  <a:pt x="857250" y="0"/>
                </a:moveTo>
                <a:lnTo>
                  <a:pt x="0" y="1219200"/>
                </a:lnTo>
              </a:path>
            </a:pathLst>
          </a:custGeom>
          <a:noFill/>
          <a:ln w="19050">
            <a:solidFill>
              <a:srgbClr val="003366">
                <a:alpha val="25000"/>
              </a:srgbClr>
            </a:solidFill>
          </a:ln>
        </p:spPr>
        <p:txBody>
          <a:bodyPr/>
          <a:lstStyle/>
          <a:p>
            <a:endParaRPr lang="zh-CN" altLang="en-US"/>
          </a:p>
        </p:txBody>
      </p:sp>
      <p:sp>
        <p:nvSpPr>
          <p:cNvPr id="43" name="Line 43"/>
          <p:cNvSpPr/>
          <p:nvPr/>
        </p:nvSpPr>
        <p:spPr>
          <a:xfrm>
            <a:off x="9018832" y="4333875"/>
            <a:ext cx="857250" cy="1219200"/>
          </a:xfrm>
          <a:custGeom>
            <a:avLst/>
            <a:gdLst/>
            <a:ahLst/>
            <a:cxnLst/>
            <a:rect l="l" t="t" r="r" b="b"/>
            <a:pathLst>
              <a:path w="857250" h="1219200">
                <a:moveTo>
                  <a:pt x="0" y="0"/>
                </a:moveTo>
                <a:lnTo>
                  <a:pt x="857250" y="1219200"/>
                </a:lnTo>
              </a:path>
            </a:pathLst>
          </a:custGeom>
          <a:noFill/>
          <a:ln w="19050">
            <a:solidFill>
              <a:srgbClr val="003366">
                <a:alpha val="25000"/>
              </a:srgbClr>
            </a:solidFill>
          </a:ln>
        </p:spPr>
        <p:txBody>
          <a:bodyPr/>
          <a:lstStyle/>
          <a:p>
            <a:endParaRPr lang="zh-CN" altLang="en-US"/>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66750"/>
          </a:xfrm>
          <a:prstGeom prst="rect">
            <a:avLst/>
          </a:prstGeom>
          <a:solidFill>
            <a:srgbClr val="003366"/>
          </a:solidFill>
          <a:ln>
            <a:noFill/>
          </a:ln>
        </p:spPr>
        <p:txBody>
          <a:bodyPr/>
          <a:lstStyle/>
          <a:p>
            <a:endParaRPr lang="zh-CN" altLang="en-US"/>
          </a:p>
        </p:txBody>
      </p:sp>
      <p:sp>
        <p:nvSpPr>
          <p:cNvPr id="3" name="Rectangle 3"/>
          <p:cNvSpPr/>
          <p:nvPr/>
        </p:nvSpPr>
        <p:spPr>
          <a:xfrm>
            <a:off x="0" y="0"/>
            <a:ext cx="57150" cy="666750"/>
          </a:xfrm>
          <a:prstGeom prst="rect">
            <a:avLst/>
          </a:prstGeom>
          <a:solidFill>
            <a:srgbClr val="CC0000"/>
          </a:solidFill>
          <a:ln>
            <a:noFill/>
          </a:ln>
        </p:spPr>
        <p:txBody>
          <a:bodyPr/>
          <a:lstStyle/>
          <a:p>
            <a:endParaRPr lang="zh-CN" altLang="en-US"/>
          </a:p>
        </p:txBody>
      </p:sp>
      <p:sp>
        <p:nvSpPr>
          <p:cNvPr id="4" name="TextBox 4"/>
          <p:cNvSpPr txBox="1"/>
          <p:nvPr/>
        </p:nvSpPr>
        <p:spPr>
          <a:xfrm>
            <a:off x="354330" y="211455"/>
            <a:ext cx="6043289" cy="426720"/>
          </a:xfrm>
          <a:prstGeom prst="rect">
            <a:avLst/>
          </a:prstGeom>
          <a:noFill/>
          <a:ln>
            <a:noFill/>
          </a:ln>
        </p:spPr>
        <p:txBody>
          <a:bodyPr wrap="none" lIns="0" tIns="0" rIns="0" bIns="0" anchor="t" anchorCtr="0">
            <a:spAutoFit/>
          </a:bodyPr>
          <a:lstStyle/>
          <a:p>
            <a:pPr algn="l"/>
            <a:r>
              <a:rPr lang="zh-CN" sz="2100" b="1" dirty="0">
                <a:solidFill>
                  <a:srgbClr val="FFFFFF"/>
                </a:solidFill>
                <a:latin typeface="Arial"/>
                <a:ea typeface="Microsoft YaHei"/>
                <a:cs typeface="Arial"/>
              </a:rPr>
              <a:t>20 Conclusion and Selected References</a:t>
            </a:r>
          </a:p>
        </p:txBody>
      </p:sp>
      <p:sp>
        <p:nvSpPr>
          <p:cNvPr id="5" name="TextBox 5"/>
          <p:cNvSpPr txBox="1"/>
          <p:nvPr/>
        </p:nvSpPr>
        <p:spPr>
          <a:xfrm>
            <a:off x="10247336" y="292418"/>
            <a:ext cx="1390309" cy="274320"/>
          </a:xfrm>
          <a:prstGeom prst="rect">
            <a:avLst/>
          </a:prstGeom>
          <a:noFill/>
          <a:ln>
            <a:noFill/>
          </a:ln>
        </p:spPr>
        <p:txBody>
          <a:bodyPr wrap="none" lIns="0" tIns="0" rIns="0" bIns="0" anchor="t" anchorCtr="0">
            <a:spAutoFit/>
          </a:bodyPr>
          <a:lstStyle/>
          <a:p>
            <a:pPr algn="r"/>
            <a:r>
              <a:rPr lang="zh-CN" sz="1350" b="1" dirty="0">
                <a:solidFill>
                  <a:srgbClr val="FFFFFF"/>
                </a:solidFill>
                <a:latin typeface="Arial"/>
                <a:ea typeface="Microsoft YaHei"/>
                <a:cs typeface="Arial"/>
              </a:rPr>
              <a:t>SUSTech Math</a:t>
            </a:r>
          </a:p>
        </p:txBody>
      </p:sp>
      <p:sp>
        <p:nvSpPr>
          <p:cNvPr id="6" name="Rectangle 6"/>
          <p:cNvSpPr/>
          <p:nvPr/>
        </p:nvSpPr>
        <p:spPr>
          <a:xfrm>
            <a:off x="0" y="666750"/>
            <a:ext cx="12192000" cy="476250"/>
          </a:xfrm>
          <a:prstGeom prst="rect">
            <a:avLst/>
          </a:prstGeom>
          <a:solidFill>
            <a:srgbClr val="E8F4FC"/>
          </a:solidFill>
          <a:ln>
            <a:noFill/>
          </a:ln>
        </p:spPr>
        <p:txBody>
          <a:bodyPr/>
          <a:lstStyle/>
          <a:p>
            <a:endParaRPr lang="zh-CN" altLang="en-US"/>
          </a:p>
        </p:txBody>
      </p:sp>
      <p:sp>
        <p:nvSpPr>
          <p:cNvPr id="7" name="Rectangle 7"/>
          <p:cNvSpPr/>
          <p:nvPr/>
        </p:nvSpPr>
        <p:spPr>
          <a:xfrm>
            <a:off x="0" y="666750"/>
            <a:ext cx="57150" cy="476250"/>
          </a:xfrm>
          <a:prstGeom prst="rect">
            <a:avLst/>
          </a:prstGeom>
          <a:solidFill>
            <a:srgbClr val="0066CC"/>
          </a:solidFill>
          <a:ln>
            <a:noFill/>
          </a:ln>
        </p:spPr>
        <p:txBody>
          <a:bodyPr/>
          <a:lstStyle/>
          <a:p>
            <a:endParaRPr lang="zh-CN" altLang="en-US"/>
          </a:p>
        </p:txBody>
      </p:sp>
      <p:sp>
        <p:nvSpPr>
          <p:cNvPr id="8" name="TextBox 8"/>
          <p:cNvSpPr txBox="1"/>
          <p:nvPr/>
        </p:nvSpPr>
        <p:spPr>
          <a:xfrm>
            <a:off x="363855" y="825818"/>
            <a:ext cx="843362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algebras link quantum origins, structural classification, and modern geometry.</a:t>
            </a:r>
          </a:p>
        </p:txBody>
      </p:sp>
      <p:sp>
        <p:nvSpPr>
          <p:cNvPr id="9" name="Line 9"/>
          <p:cNvSpPr/>
          <p:nvPr/>
        </p:nvSpPr>
        <p:spPr>
          <a:xfrm>
            <a:off x="381000" y="6334125"/>
            <a:ext cx="11430000" cy="9525"/>
          </a:xfrm>
          <a:custGeom>
            <a:avLst/>
            <a:gdLst/>
            <a:ahLst/>
            <a:cxnLst/>
            <a:rect l="l" t="t" r="r" b="b"/>
            <a:pathLst>
              <a:path w="11430000" h="9525">
                <a:moveTo>
                  <a:pt x="0" y="0"/>
                </a:moveTo>
                <a:lnTo>
                  <a:pt x="11430000" y="0"/>
                </a:lnTo>
              </a:path>
            </a:pathLst>
          </a:custGeom>
          <a:noFill/>
          <a:ln w="9525">
            <a:solidFill>
              <a:srgbClr val="D0D7E0"/>
            </a:solidFill>
          </a:ln>
        </p:spPr>
        <p:txBody>
          <a:bodyPr/>
          <a:lstStyle/>
          <a:p>
            <a:endParaRPr lang="zh-CN" altLang="en-US"/>
          </a:p>
        </p:txBody>
      </p:sp>
      <p:sp>
        <p:nvSpPr>
          <p:cNvPr id="10" name="TextBox 10"/>
          <p:cNvSpPr txBox="1"/>
          <p:nvPr/>
        </p:nvSpPr>
        <p:spPr>
          <a:xfrm>
            <a:off x="369570" y="6522720"/>
            <a:ext cx="3440430" cy="182880"/>
          </a:xfrm>
          <a:prstGeom prst="rect">
            <a:avLst/>
          </a:prstGeom>
          <a:noFill/>
          <a:ln>
            <a:noFill/>
          </a:ln>
        </p:spPr>
        <p:txBody>
          <a:bodyPr wrap="none" lIns="0" tIns="0" rIns="0" bIns="0" anchor="t" anchorCtr="0">
            <a:spAutoFit/>
          </a:bodyPr>
          <a:lstStyle/>
          <a:p>
            <a:pPr algn="l"/>
            <a:r>
              <a:rPr lang="zh-CN" sz="900" dirty="0">
                <a:solidFill>
                  <a:srgbClr val="999999"/>
                </a:solidFill>
                <a:latin typeface="Arial"/>
                <a:ea typeface="Microsoft YaHei"/>
                <a:cs typeface="Arial"/>
              </a:rPr>
              <a:t>Sources: Jordan, JvNW, Albert, McCrimmon, Kashuba</a:t>
            </a:r>
          </a:p>
        </p:txBody>
      </p:sp>
      <p:sp>
        <p:nvSpPr>
          <p:cNvPr id="11" name="TextBox 11"/>
          <p:cNvSpPr txBox="1"/>
          <p:nvPr/>
        </p:nvSpPr>
        <p:spPr>
          <a:xfrm>
            <a:off x="5138166" y="6522720"/>
            <a:ext cx="1915668" cy="182880"/>
          </a:xfrm>
          <a:prstGeom prst="rect">
            <a:avLst/>
          </a:prstGeom>
          <a:noFill/>
          <a:ln>
            <a:noFill/>
          </a:ln>
        </p:spPr>
        <p:txBody>
          <a:bodyPr wrap="none" lIns="0" tIns="0" rIns="0" bIns="0" anchor="t" anchorCtr="0">
            <a:spAutoFit/>
          </a:bodyPr>
          <a:lstStyle/>
          <a:p>
            <a:pPr algn="ctr"/>
            <a:r>
              <a:rPr lang="zh-CN" sz="900" dirty="0">
                <a:solidFill>
                  <a:srgbClr val="999999"/>
                </a:solidFill>
                <a:latin typeface="Arial"/>
                <a:ea typeface="Microsoft YaHei"/>
                <a:cs typeface="Arial"/>
              </a:rPr>
              <a:t>Jordan algebras presentation</a:t>
            </a:r>
          </a:p>
        </p:txBody>
      </p:sp>
      <p:sp>
        <p:nvSpPr>
          <p:cNvPr id="12" name="TextBox 12"/>
          <p:cNvSpPr txBox="1"/>
          <p:nvPr/>
        </p:nvSpPr>
        <p:spPr>
          <a:xfrm>
            <a:off x="11438477" y="6506528"/>
            <a:ext cx="195358" cy="213360"/>
          </a:xfrm>
          <a:prstGeom prst="rect">
            <a:avLst/>
          </a:prstGeom>
          <a:noFill/>
          <a:ln>
            <a:noFill/>
          </a:ln>
        </p:spPr>
        <p:txBody>
          <a:bodyPr wrap="none" lIns="0" tIns="0" rIns="0" bIns="0" anchor="t" anchorCtr="0">
            <a:spAutoFit/>
          </a:bodyPr>
          <a:lstStyle/>
          <a:p>
            <a:pPr algn="r"/>
            <a:r>
              <a:rPr lang="zh-CN" sz="1050" dirty="0">
                <a:solidFill>
                  <a:srgbClr val="666666"/>
                </a:solidFill>
                <a:latin typeface="Arial"/>
                <a:ea typeface="Microsoft YaHei"/>
                <a:cs typeface="Arial"/>
              </a:rPr>
              <a:t>20</a:t>
            </a:r>
          </a:p>
        </p:txBody>
      </p:sp>
      <p:sp>
        <p:nvSpPr>
          <p:cNvPr id="13" name="Freeform 13"/>
          <p:cNvSpPr/>
          <p:nvPr/>
        </p:nvSpPr>
        <p:spPr>
          <a:xfrm>
            <a:off x="666750" y="1666875"/>
            <a:ext cx="5334000" cy="3714750"/>
          </a:xfrm>
          <a:custGeom>
            <a:avLst/>
            <a:gdLst/>
            <a:ahLst/>
            <a:cxnLst/>
            <a:rect l="l" t="t" r="r" b="b"/>
            <a:pathLst>
              <a:path w="5334000" h="3714750">
                <a:moveTo>
                  <a:pt x="95250" y="0"/>
                </a:moveTo>
                <a:lnTo>
                  <a:pt x="5238750" y="0"/>
                </a:lnTo>
                <a:cubicBezTo>
                  <a:pt x="5291355" y="0"/>
                  <a:pt x="5334000" y="42645"/>
                  <a:pt x="5334000" y="95250"/>
                </a:cubicBezTo>
                <a:lnTo>
                  <a:pt x="5334000" y="3619500"/>
                </a:lnTo>
                <a:cubicBezTo>
                  <a:pt x="5334000" y="3672105"/>
                  <a:pt x="5291355" y="3714750"/>
                  <a:pt x="5238750" y="3714750"/>
                </a:cubicBezTo>
                <a:lnTo>
                  <a:pt x="95250" y="3714750"/>
                </a:lnTo>
                <a:cubicBezTo>
                  <a:pt x="42645" y="3714750"/>
                  <a:pt x="0" y="3672105"/>
                  <a:pt x="0" y="36195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14" name="TextBox 14"/>
          <p:cNvSpPr txBox="1"/>
          <p:nvPr/>
        </p:nvSpPr>
        <p:spPr>
          <a:xfrm>
            <a:off x="2600101" y="1901190"/>
            <a:ext cx="1467298" cy="365760"/>
          </a:xfrm>
          <a:prstGeom prst="rect">
            <a:avLst/>
          </a:prstGeom>
          <a:noFill/>
          <a:ln>
            <a:noFill/>
          </a:ln>
        </p:spPr>
        <p:txBody>
          <a:bodyPr wrap="none" lIns="0" tIns="0" rIns="0" bIns="0" anchor="t" anchorCtr="0">
            <a:spAutoFit/>
          </a:bodyPr>
          <a:lstStyle/>
          <a:p>
            <a:pPr algn="ctr"/>
            <a:r>
              <a:rPr lang="zh-CN" sz="1800" b="1" dirty="0">
                <a:solidFill>
                  <a:srgbClr val="003366"/>
                </a:solidFill>
                <a:latin typeface="Arial"/>
                <a:ea typeface="Microsoft YaHei"/>
                <a:cs typeface="Arial"/>
              </a:rPr>
              <a:t>Takeaways</a:t>
            </a:r>
          </a:p>
        </p:txBody>
      </p:sp>
      <p:sp>
        <p:nvSpPr>
          <p:cNvPr id="15" name="Ellipse 15"/>
          <p:cNvSpPr/>
          <p:nvPr/>
        </p:nvSpPr>
        <p:spPr>
          <a:xfrm>
            <a:off x="862012" y="2528888"/>
            <a:ext cx="85725" cy="85725"/>
          </a:xfrm>
          <a:prstGeom prst="ellipse">
            <a:avLst/>
          </a:prstGeom>
          <a:solidFill>
            <a:srgbClr val="0066CC"/>
          </a:solidFill>
          <a:ln>
            <a:noFill/>
          </a:ln>
        </p:spPr>
        <p:txBody>
          <a:bodyPr/>
          <a:lstStyle/>
          <a:p>
            <a:endParaRPr lang="zh-CN" altLang="en-US"/>
          </a:p>
        </p:txBody>
      </p:sp>
      <p:sp>
        <p:nvSpPr>
          <p:cNvPr id="16" name="TextBox 16"/>
          <p:cNvSpPr txBox="1"/>
          <p:nvPr/>
        </p:nvSpPr>
        <p:spPr>
          <a:xfrm>
            <a:off x="1040130" y="2473642"/>
            <a:ext cx="3248120"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 algebras began in quantum</a:t>
            </a:r>
          </a:p>
        </p:txBody>
      </p:sp>
      <p:sp>
        <p:nvSpPr>
          <p:cNvPr id="17" name="TextBox 17"/>
          <p:cNvSpPr txBox="1"/>
          <p:nvPr/>
        </p:nvSpPr>
        <p:spPr>
          <a:xfrm>
            <a:off x="1040130" y="2721292"/>
            <a:ext cx="1000411"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mechanics</a:t>
            </a:r>
          </a:p>
        </p:txBody>
      </p:sp>
      <p:sp>
        <p:nvSpPr>
          <p:cNvPr id="18" name="Ellipse 18"/>
          <p:cNvSpPr/>
          <p:nvPr/>
        </p:nvSpPr>
        <p:spPr>
          <a:xfrm>
            <a:off x="862012" y="3138488"/>
            <a:ext cx="85725" cy="85725"/>
          </a:xfrm>
          <a:prstGeom prst="ellipse">
            <a:avLst/>
          </a:prstGeom>
          <a:solidFill>
            <a:srgbClr val="0066CC"/>
          </a:solidFill>
          <a:ln>
            <a:noFill/>
          </a:ln>
        </p:spPr>
        <p:txBody>
          <a:bodyPr/>
          <a:lstStyle/>
          <a:p>
            <a:endParaRPr lang="zh-CN" altLang="en-US"/>
          </a:p>
        </p:txBody>
      </p:sp>
      <p:sp>
        <p:nvSpPr>
          <p:cNvPr id="19" name="TextBox 19"/>
          <p:cNvSpPr txBox="1"/>
          <p:nvPr/>
        </p:nvSpPr>
        <p:spPr>
          <a:xfrm>
            <a:off x="1040130" y="3083242"/>
            <a:ext cx="322840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They evolved into a rich theory in</a:t>
            </a:r>
          </a:p>
        </p:txBody>
      </p:sp>
      <p:sp>
        <p:nvSpPr>
          <p:cNvPr id="20" name="TextBox 20"/>
          <p:cNvSpPr txBox="1"/>
          <p:nvPr/>
        </p:nvSpPr>
        <p:spPr>
          <a:xfrm>
            <a:off x="1040130" y="3330892"/>
            <a:ext cx="313967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algebra, geometry, and analysis</a:t>
            </a:r>
          </a:p>
        </p:txBody>
      </p:sp>
      <p:sp>
        <p:nvSpPr>
          <p:cNvPr id="21" name="Ellipse 21"/>
          <p:cNvSpPr/>
          <p:nvPr/>
        </p:nvSpPr>
        <p:spPr>
          <a:xfrm>
            <a:off x="862012" y="3748088"/>
            <a:ext cx="85725" cy="85725"/>
          </a:xfrm>
          <a:prstGeom prst="ellipse">
            <a:avLst/>
          </a:prstGeom>
          <a:solidFill>
            <a:srgbClr val="0066CC"/>
          </a:solidFill>
          <a:ln>
            <a:noFill/>
          </a:ln>
        </p:spPr>
        <p:txBody>
          <a:bodyPr/>
          <a:lstStyle/>
          <a:p>
            <a:endParaRPr lang="zh-CN" altLang="en-US"/>
          </a:p>
        </p:txBody>
      </p:sp>
      <p:sp>
        <p:nvSpPr>
          <p:cNvPr id="22" name="TextBox 22"/>
          <p:cNvSpPr txBox="1"/>
          <p:nvPr/>
        </p:nvSpPr>
        <p:spPr>
          <a:xfrm>
            <a:off x="1040130" y="3692842"/>
            <a:ext cx="292279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The Albert algebra became the</a:t>
            </a:r>
          </a:p>
        </p:txBody>
      </p:sp>
      <p:sp>
        <p:nvSpPr>
          <p:cNvPr id="23" name="TextBox 23"/>
          <p:cNvSpPr txBox="1"/>
          <p:nvPr/>
        </p:nvSpPr>
        <p:spPr>
          <a:xfrm>
            <a:off x="1040130" y="3940492"/>
            <a:ext cx="3257979"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exceptional symbol of the subject</a:t>
            </a:r>
          </a:p>
        </p:txBody>
      </p:sp>
      <p:sp>
        <p:nvSpPr>
          <p:cNvPr id="24" name="Ellipse 24"/>
          <p:cNvSpPr/>
          <p:nvPr/>
        </p:nvSpPr>
        <p:spPr>
          <a:xfrm>
            <a:off x="862012" y="4357688"/>
            <a:ext cx="85725" cy="85725"/>
          </a:xfrm>
          <a:prstGeom prst="ellipse">
            <a:avLst/>
          </a:prstGeom>
          <a:solidFill>
            <a:srgbClr val="0066CC"/>
          </a:solidFill>
          <a:ln>
            <a:noFill/>
          </a:ln>
        </p:spPr>
        <p:txBody>
          <a:bodyPr/>
          <a:lstStyle/>
          <a:p>
            <a:endParaRPr lang="zh-CN" altLang="en-US"/>
          </a:p>
        </p:txBody>
      </p:sp>
      <p:sp>
        <p:nvSpPr>
          <p:cNvPr id="25" name="TextBox 25"/>
          <p:cNvSpPr txBox="1"/>
          <p:nvPr/>
        </p:nvSpPr>
        <p:spPr>
          <a:xfrm>
            <a:off x="1040130" y="4302442"/>
            <a:ext cx="3041094"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Zelmanov delivered the decisive</a:t>
            </a:r>
          </a:p>
        </p:txBody>
      </p:sp>
      <p:sp>
        <p:nvSpPr>
          <p:cNvPr id="26" name="TextBox 26"/>
          <p:cNvSpPr txBox="1"/>
          <p:nvPr/>
        </p:nvSpPr>
        <p:spPr>
          <a:xfrm>
            <a:off x="1040130" y="4550092"/>
            <a:ext cx="2015823"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classification result</a:t>
            </a:r>
          </a:p>
        </p:txBody>
      </p:sp>
      <p:sp>
        <p:nvSpPr>
          <p:cNvPr id="27" name="Freeform 27"/>
          <p:cNvSpPr/>
          <p:nvPr/>
        </p:nvSpPr>
        <p:spPr>
          <a:xfrm>
            <a:off x="6477000" y="1666875"/>
            <a:ext cx="5143500" cy="3714750"/>
          </a:xfrm>
          <a:custGeom>
            <a:avLst/>
            <a:gdLst/>
            <a:ahLst/>
            <a:cxnLst/>
            <a:rect l="l" t="t" r="r" b="b"/>
            <a:pathLst>
              <a:path w="5143500" h="3714750">
                <a:moveTo>
                  <a:pt x="95250" y="0"/>
                </a:moveTo>
                <a:lnTo>
                  <a:pt x="5048250" y="0"/>
                </a:lnTo>
                <a:cubicBezTo>
                  <a:pt x="5100855" y="0"/>
                  <a:pt x="5143500" y="42645"/>
                  <a:pt x="5143500" y="95250"/>
                </a:cubicBezTo>
                <a:lnTo>
                  <a:pt x="5143500" y="3619500"/>
                </a:lnTo>
                <a:cubicBezTo>
                  <a:pt x="5143500" y="3672105"/>
                  <a:pt x="5100855" y="3714750"/>
                  <a:pt x="5048250" y="3714750"/>
                </a:cubicBezTo>
                <a:lnTo>
                  <a:pt x="95250" y="3714750"/>
                </a:lnTo>
                <a:cubicBezTo>
                  <a:pt x="42645" y="3714750"/>
                  <a:pt x="0" y="3672105"/>
                  <a:pt x="0" y="3619500"/>
                </a:cubicBezTo>
                <a:lnTo>
                  <a:pt x="0" y="95250"/>
                </a:lnTo>
                <a:cubicBezTo>
                  <a:pt x="0" y="42645"/>
                  <a:pt x="42645" y="0"/>
                  <a:pt x="95250" y="0"/>
                </a:cubicBezTo>
                <a:close/>
              </a:path>
            </a:pathLst>
          </a:custGeom>
          <a:solidFill>
            <a:srgbClr val="FFFFFF"/>
          </a:solidFill>
          <a:ln w="9525">
            <a:solidFill>
              <a:srgbClr val="D0D7E0"/>
            </a:solidFill>
          </a:ln>
        </p:spPr>
        <p:txBody>
          <a:bodyPr/>
          <a:lstStyle/>
          <a:p>
            <a:endParaRPr lang="zh-CN" altLang="en-US"/>
          </a:p>
        </p:txBody>
      </p:sp>
      <p:sp>
        <p:nvSpPr>
          <p:cNvPr id="28" name="TextBox 28"/>
          <p:cNvSpPr txBox="1"/>
          <p:nvPr/>
        </p:nvSpPr>
        <p:spPr>
          <a:xfrm>
            <a:off x="7652618" y="1901190"/>
            <a:ext cx="2792263" cy="365760"/>
          </a:xfrm>
          <a:prstGeom prst="rect">
            <a:avLst/>
          </a:prstGeom>
          <a:noFill/>
          <a:ln>
            <a:noFill/>
          </a:ln>
        </p:spPr>
        <p:txBody>
          <a:bodyPr wrap="none" lIns="0" tIns="0" rIns="0" bIns="0" anchor="t" anchorCtr="0">
            <a:spAutoFit/>
          </a:bodyPr>
          <a:lstStyle/>
          <a:p>
            <a:pPr algn="ctr"/>
            <a:r>
              <a:rPr lang="zh-CN" sz="1800" b="1" dirty="0">
                <a:solidFill>
                  <a:srgbClr val="003366"/>
                </a:solidFill>
                <a:latin typeface="Arial"/>
                <a:ea typeface="Microsoft YaHei"/>
                <a:cs typeface="Arial"/>
              </a:rPr>
              <a:t>Selected references</a:t>
            </a:r>
          </a:p>
        </p:txBody>
      </p:sp>
      <p:sp>
        <p:nvSpPr>
          <p:cNvPr id="29" name="Line 29"/>
          <p:cNvSpPr/>
          <p:nvPr/>
        </p:nvSpPr>
        <p:spPr>
          <a:xfrm>
            <a:off x="6953250" y="2657475"/>
            <a:ext cx="209550" cy="9525"/>
          </a:xfrm>
          <a:custGeom>
            <a:avLst/>
            <a:gdLst/>
            <a:ahLst/>
            <a:cxnLst/>
            <a:rect l="l" t="t" r="r" b="b"/>
            <a:pathLst>
              <a:path w="209550" h="9525">
                <a:moveTo>
                  <a:pt x="0" y="0"/>
                </a:moveTo>
                <a:lnTo>
                  <a:pt x="209550" y="0"/>
                </a:lnTo>
              </a:path>
            </a:pathLst>
          </a:custGeom>
          <a:noFill/>
          <a:ln w="19050">
            <a:solidFill>
              <a:srgbClr val="0066CC"/>
            </a:solidFill>
          </a:ln>
        </p:spPr>
        <p:txBody>
          <a:bodyPr/>
          <a:lstStyle/>
          <a:p>
            <a:endParaRPr lang="zh-CN" altLang="en-US"/>
          </a:p>
        </p:txBody>
      </p:sp>
      <p:sp>
        <p:nvSpPr>
          <p:cNvPr id="30" name="TextBox 30"/>
          <p:cNvSpPr txBox="1"/>
          <p:nvPr/>
        </p:nvSpPr>
        <p:spPr>
          <a:xfrm>
            <a:off x="7317105" y="2568892"/>
            <a:ext cx="1621488"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P. Jordan (1933)</a:t>
            </a:r>
          </a:p>
        </p:txBody>
      </p:sp>
      <p:sp>
        <p:nvSpPr>
          <p:cNvPr id="31" name="Line 31"/>
          <p:cNvSpPr/>
          <p:nvPr/>
        </p:nvSpPr>
        <p:spPr>
          <a:xfrm>
            <a:off x="6953250" y="3209925"/>
            <a:ext cx="209550" cy="9525"/>
          </a:xfrm>
          <a:custGeom>
            <a:avLst/>
            <a:gdLst/>
            <a:ahLst/>
            <a:cxnLst/>
            <a:rect l="l" t="t" r="r" b="b"/>
            <a:pathLst>
              <a:path w="209550" h="9525">
                <a:moveTo>
                  <a:pt x="0" y="0"/>
                </a:moveTo>
                <a:lnTo>
                  <a:pt x="209550" y="0"/>
                </a:lnTo>
              </a:path>
            </a:pathLst>
          </a:custGeom>
          <a:noFill/>
          <a:ln w="19050">
            <a:solidFill>
              <a:srgbClr val="0066CC"/>
            </a:solidFill>
          </a:ln>
        </p:spPr>
        <p:txBody>
          <a:bodyPr/>
          <a:lstStyle/>
          <a:p>
            <a:endParaRPr lang="zh-CN" altLang="en-US"/>
          </a:p>
        </p:txBody>
      </p:sp>
      <p:sp>
        <p:nvSpPr>
          <p:cNvPr id="32" name="TextBox 32"/>
          <p:cNvSpPr txBox="1"/>
          <p:nvPr/>
        </p:nvSpPr>
        <p:spPr>
          <a:xfrm>
            <a:off x="7317105" y="3121342"/>
            <a:ext cx="3386137"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Jordan-von Neumann-Wigner (1934)</a:t>
            </a:r>
          </a:p>
        </p:txBody>
      </p:sp>
      <p:sp>
        <p:nvSpPr>
          <p:cNvPr id="33" name="Line 33"/>
          <p:cNvSpPr/>
          <p:nvPr/>
        </p:nvSpPr>
        <p:spPr>
          <a:xfrm>
            <a:off x="6953250" y="3762375"/>
            <a:ext cx="209550" cy="9525"/>
          </a:xfrm>
          <a:custGeom>
            <a:avLst/>
            <a:gdLst/>
            <a:ahLst/>
            <a:cxnLst/>
            <a:rect l="l" t="t" r="r" b="b"/>
            <a:pathLst>
              <a:path w="209550" h="9525">
                <a:moveTo>
                  <a:pt x="0" y="0"/>
                </a:moveTo>
                <a:lnTo>
                  <a:pt x="209550" y="0"/>
                </a:lnTo>
              </a:path>
            </a:pathLst>
          </a:custGeom>
          <a:noFill/>
          <a:ln w="19050">
            <a:solidFill>
              <a:srgbClr val="0066CC"/>
            </a:solidFill>
          </a:ln>
        </p:spPr>
        <p:txBody>
          <a:bodyPr/>
          <a:lstStyle/>
          <a:p>
            <a:endParaRPr lang="zh-CN" altLang="en-US"/>
          </a:p>
        </p:txBody>
      </p:sp>
      <p:sp>
        <p:nvSpPr>
          <p:cNvPr id="34" name="TextBox 34"/>
          <p:cNvSpPr txBox="1"/>
          <p:nvPr/>
        </p:nvSpPr>
        <p:spPr>
          <a:xfrm>
            <a:off x="7317105" y="3673792"/>
            <a:ext cx="1187720"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 A. Albert</a:t>
            </a:r>
          </a:p>
        </p:txBody>
      </p:sp>
      <p:sp>
        <p:nvSpPr>
          <p:cNvPr id="35" name="Line 35"/>
          <p:cNvSpPr/>
          <p:nvPr/>
        </p:nvSpPr>
        <p:spPr>
          <a:xfrm>
            <a:off x="6953250" y="4314825"/>
            <a:ext cx="209550" cy="9525"/>
          </a:xfrm>
          <a:custGeom>
            <a:avLst/>
            <a:gdLst/>
            <a:ahLst/>
            <a:cxnLst/>
            <a:rect l="l" t="t" r="r" b="b"/>
            <a:pathLst>
              <a:path w="209550" h="9525">
                <a:moveTo>
                  <a:pt x="0" y="0"/>
                </a:moveTo>
                <a:lnTo>
                  <a:pt x="209550" y="0"/>
                </a:lnTo>
              </a:path>
            </a:pathLst>
          </a:custGeom>
          <a:noFill/>
          <a:ln w="19050">
            <a:solidFill>
              <a:srgbClr val="0066CC"/>
            </a:solidFill>
          </a:ln>
        </p:spPr>
        <p:txBody>
          <a:bodyPr/>
          <a:lstStyle/>
          <a:p>
            <a:endParaRPr lang="zh-CN" altLang="en-US"/>
          </a:p>
        </p:txBody>
      </p:sp>
      <p:sp>
        <p:nvSpPr>
          <p:cNvPr id="36" name="TextBox 36"/>
          <p:cNvSpPr txBox="1"/>
          <p:nvPr/>
        </p:nvSpPr>
        <p:spPr>
          <a:xfrm>
            <a:off x="7317105" y="4226242"/>
            <a:ext cx="321854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K. McCrimmon, A Taste of Jordan</a:t>
            </a:r>
          </a:p>
        </p:txBody>
      </p:sp>
      <p:sp>
        <p:nvSpPr>
          <p:cNvPr id="37" name="TextBox 37"/>
          <p:cNvSpPr txBox="1"/>
          <p:nvPr/>
        </p:nvSpPr>
        <p:spPr>
          <a:xfrm>
            <a:off x="7317105" y="4473892"/>
            <a:ext cx="852535"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Algebras</a:t>
            </a:r>
          </a:p>
        </p:txBody>
      </p:sp>
      <p:sp>
        <p:nvSpPr>
          <p:cNvPr id="38" name="Line 38"/>
          <p:cNvSpPr/>
          <p:nvPr/>
        </p:nvSpPr>
        <p:spPr>
          <a:xfrm>
            <a:off x="6953250" y="4867275"/>
            <a:ext cx="209550" cy="9525"/>
          </a:xfrm>
          <a:custGeom>
            <a:avLst/>
            <a:gdLst/>
            <a:ahLst/>
            <a:cxnLst/>
            <a:rect l="l" t="t" r="r" b="b"/>
            <a:pathLst>
              <a:path w="209550" h="9525">
                <a:moveTo>
                  <a:pt x="0" y="0"/>
                </a:moveTo>
                <a:lnTo>
                  <a:pt x="209550" y="0"/>
                </a:lnTo>
              </a:path>
            </a:pathLst>
          </a:custGeom>
          <a:noFill/>
          <a:ln w="19050">
            <a:solidFill>
              <a:srgbClr val="0066CC"/>
            </a:solidFill>
          </a:ln>
        </p:spPr>
        <p:txBody>
          <a:bodyPr/>
          <a:lstStyle/>
          <a:p>
            <a:endParaRPr lang="zh-CN" altLang="en-US"/>
          </a:p>
        </p:txBody>
      </p:sp>
      <p:sp>
        <p:nvSpPr>
          <p:cNvPr id="39" name="TextBox 39"/>
          <p:cNvSpPr txBox="1"/>
          <p:nvPr/>
        </p:nvSpPr>
        <p:spPr>
          <a:xfrm>
            <a:off x="7317105" y="4778692"/>
            <a:ext cx="2883360"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I. Kashuba, Variety of Jordan</a:t>
            </a:r>
          </a:p>
        </p:txBody>
      </p:sp>
      <p:sp>
        <p:nvSpPr>
          <p:cNvPr id="40" name="TextBox 40"/>
          <p:cNvSpPr txBox="1"/>
          <p:nvPr/>
        </p:nvSpPr>
        <p:spPr>
          <a:xfrm>
            <a:off x="7317105" y="5026342"/>
            <a:ext cx="2449592" cy="274320"/>
          </a:xfrm>
          <a:prstGeom prst="rect">
            <a:avLst/>
          </a:prstGeom>
          <a:noFill/>
          <a:ln>
            <a:noFill/>
          </a:ln>
        </p:spPr>
        <p:txBody>
          <a:bodyPr wrap="none" lIns="0" tIns="0" rIns="0" bIns="0" anchor="t" anchorCtr="0">
            <a:spAutoFit/>
          </a:bodyPr>
          <a:lstStyle/>
          <a:p>
            <a:pPr algn="l"/>
            <a:r>
              <a:rPr lang="zh-CN" sz="1350" dirty="0">
                <a:solidFill>
                  <a:srgbClr val="333333"/>
                </a:solidFill>
                <a:latin typeface="Arial"/>
                <a:ea typeface="Microsoft YaHei"/>
                <a:cs typeface="Arial"/>
              </a:rPr>
              <a:t>algebras and moment map</a:t>
            </a:r>
          </a:p>
        </p:txBody>
      </p:sp>
      <p:sp>
        <p:nvSpPr>
          <p:cNvPr id="41" name="TextBox 41"/>
          <p:cNvSpPr txBox="1"/>
          <p:nvPr/>
        </p:nvSpPr>
        <p:spPr>
          <a:xfrm>
            <a:off x="5099399" y="5694045"/>
            <a:ext cx="1993201" cy="487680"/>
          </a:xfrm>
          <a:prstGeom prst="rect">
            <a:avLst/>
          </a:prstGeom>
          <a:noFill/>
          <a:ln>
            <a:noFill/>
          </a:ln>
        </p:spPr>
        <p:txBody>
          <a:bodyPr wrap="none" lIns="0" tIns="0" rIns="0" bIns="0" anchor="t" anchorCtr="0">
            <a:spAutoFit/>
          </a:bodyPr>
          <a:lstStyle/>
          <a:p>
            <a:pPr algn="ctr"/>
            <a:r>
              <a:rPr lang="zh-CN" sz="2400" b="1" dirty="0">
                <a:solidFill>
                  <a:srgbClr val="003366"/>
                </a:solidFill>
                <a:latin typeface="Arial"/>
                <a:ea typeface="Microsoft YaHei"/>
                <a:cs typeface="Arial"/>
              </a:rPr>
              <a:t>Thank you.</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3897</Words>
  <Application>Microsoft Office PowerPoint</Application>
  <PresentationFormat>宽屏</PresentationFormat>
  <Paragraphs>422</Paragraphs>
  <Slides>20</Slides>
  <Notes>20</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20</vt:i4>
      </vt:variant>
    </vt:vector>
  </HeadingPairs>
  <TitlesOfParts>
    <vt:vector size="23"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a66673</cp:lastModifiedBy>
  <cp:revision>2</cp:revision>
  <dcterms:created xsi:type="dcterms:W3CDTF">2013-01-27T09:14:16Z</dcterms:created>
  <dcterms:modified xsi:type="dcterms:W3CDTF">2026-04-12T09:25:22Z</dcterms:modified>
  <cp:category/>
</cp:coreProperties>
</file>